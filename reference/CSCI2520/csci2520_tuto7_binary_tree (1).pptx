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sldIdLst>
    <p:sldId id="256" r:id="rId2"/>
    <p:sldId id="259" r:id="rId3"/>
    <p:sldId id="263" r:id="rId4"/>
    <p:sldId id="260" r:id="rId5"/>
    <p:sldId id="261" r:id="rId6"/>
    <p:sldId id="262" r:id="rId7"/>
    <p:sldId id="269" r:id="rId8"/>
    <p:sldId id="265" r:id="rId9"/>
    <p:sldId id="266" r:id="rId10"/>
    <p:sldId id="267" r:id="rId11"/>
    <p:sldId id="270" r:id="rId12"/>
    <p:sldId id="264" r:id="rId13"/>
    <p:sldId id="272" r:id="rId14"/>
    <p:sldId id="273" r:id="rId15"/>
    <p:sldId id="275" r:id="rId16"/>
    <p:sldId id="274"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205" autoAdjust="0"/>
  </p:normalViewPr>
  <p:slideViewPr>
    <p:cSldViewPr>
      <p:cViewPr varScale="1">
        <p:scale>
          <a:sx n="101" d="100"/>
          <a:sy n="101" d="100"/>
        </p:scale>
        <p:origin x="84" y="8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Hui" userId="2acf357a-d887-4e08-95d2-f44b1823070d" providerId="ADAL" clId="{5E757BC0-6263-4648-BEFF-166CDE573420}"/>
    <pc:docChg chg="modSld">
      <pc:chgData name="LI, Hui" userId="2acf357a-d887-4e08-95d2-f44b1823070d" providerId="ADAL" clId="{5E757BC0-6263-4648-BEFF-166CDE573420}" dt="2025-03-20T08:09:47.719" v="14" actId="20577"/>
      <pc:docMkLst>
        <pc:docMk/>
      </pc:docMkLst>
      <pc:sldChg chg="modSp mod">
        <pc:chgData name="LI, Hui" userId="2acf357a-d887-4e08-95d2-f44b1823070d" providerId="ADAL" clId="{5E757BC0-6263-4648-BEFF-166CDE573420}" dt="2025-03-20T08:09:47.719" v="14" actId="20577"/>
        <pc:sldMkLst>
          <pc:docMk/>
          <pc:sldMk cId="1346080441" sldId="256"/>
        </pc:sldMkLst>
        <pc:spChg chg="mod">
          <ac:chgData name="LI, Hui" userId="2acf357a-d887-4e08-95d2-f44b1823070d" providerId="ADAL" clId="{5E757BC0-6263-4648-BEFF-166CDE573420}" dt="2025-03-20T08:09:47.719" v="14" actId="20577"/>
          <ac:spMkLst>
            <pc:docMk/>
            <pc:sldMk cId="1346080441" sldId="25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624543-D117-4FAE-B2D8-BA38168DA83B}" type="datetimeFigureOut">
              <a:rPr lang="en-US" smtClean="0"/>
              <a:t>3/17/2026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D16CBC-8DC5-4156-9E82-CF8406BBCF0B}" type="slidenum">
              <a:rPr lang="en-US" smtClean="0"/>
              <a:t>‹#›</a:t>
            </a:fld>
            <a:endParaRPr lang="en-US"/>
          </a:p>
        </p:txBody>
      </p:sp>
    </p:spTree>
    <p:extLst>
      <p:ext uri="{BB962C8B-B14F-4D97-AF65-F5344CB8AC3E}">
        <p14:creationId xmlns:p14="http://schemas.microsoft.com/office/powerpoint/2010/main" val="1144644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D16CBC-8DC5-4156-9E82-CF8406BBCF0B}" type="slidenum">
              <a:rPr lang="en-US" smtClean="0"/>
              <a:t>29</a:t>
            </a:fld>
            <a:endParaRPr lang="en-US"/>
          </a:p>
        </p:txBody>
      </p:sp>
    </p:spTree>
    <p:extLst>
      <p:ext uri="{BB962C8B-B14F-4D97-AF65-F5344CB8AC3E}">
        <p14:creationId xmlns:p14="http://schemas.microsoft.com/office/powerpoint/2010/main" val="3988909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628EED1-2F5F-44E7-BC59-FA6962A01982}" type="datetime1">
              <a:rPr lang="zh-CN" altLang="en-US" smtClean="0"/>
              <a:t>2026/3/17</a:t>
            </a:fld>
            <a:endParaRPr lang="zh-CN" altLang="en-US"/>
          </a:p>
        </p:txBody>
      </p:sp>
      <p:sp>
        <p:nvSpPr>
          <p:cNvPr id="5" name="页脚占位符 4"/>
          <p:cNvSpPr>
            <a:spLocks noGrp="1"/>
          </p:cNvSpPr>
          <p:nvPr>
            <p:ph type="ftr" sz="quarter" idx="11"/>
          </p:nvPr>
        </p:nvSpPr>
        <p:spPr/>
        <p:txBody>
          <a:bodyPr/>
          <a:lstStyle/>
          <a:p>
            <a:r>
              <a:rPr lang="en-US" altLang="zh-CN"/>
              <a:t>CSCI2520 Tutorial 7</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4F31660-27AC-48CC-96C3-759FD2FD66AD}" type="datetime1">
              <a:rPr lang="zh-CN" altLang="en-US" smtClean="0"/>
              <a:t>2026/3/17</a:t>
            </a:fld>
            <a:endParaRPr lang="zh-CN" altLang="en-US"/>
          </a:p>
        </p:txBody>
      </p:sp>
      <p:sp>
        <p:nvSpPr>
          <p:cNvPr id="5" name="页脚占位符 4"/>
          <p:cNvSpPr>
            <a:spLocks noGrp="1"/>
          </p:cNvSpPr>
          <p:nvPr>
            <p:ph type="ftr" sz="quarter" idx="11"/>
          </p:nvPr>
        </p:nvSpPr>
        <p:spPr/>
        <p:txBody>
          <a:bodyPr/>
          <a:lstStyle/>
          <a:p>
            <a:r>
              <a:rPr lang="en-US" altLang="zh-CN"/>
              <a:t>CSCI2520 Tutorial 7</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F5693D5-405A-4DFE-A8AD-B030E2034797}" type="datetime1">
              <a:rPr lang="zh-CN" altLang="en-US" smtClean="0"/>
              <a:t>2026/3/17</a:t>
            </a:fld>
            <a:endParaRPr lang="zh-CN" altLang="en-US"/>
          </a:p>
        </p:txBody>
      </p:sp>
      <p:sp>
        <p:nvSpPr>
          <p:cNvPr id="5" name="页脚占位符 4"/>
          <p:cNvSpPr>
            <a:spLocks noGrp="1"/>
          </p:cNvSpPr>
          <p:nvPr>
            <p:ph type="ftr" sz="quarter" idx="11"/>
          </p:nvPr>
        </p:nvSpPr>
        <p:spPr/>
        <p:txBody>
          <a:bodyPr/>
          <a:lstStyle/>
          <a:p>
            <a:r>
              <a:rPr lang="en-US" altLang="zh-CN"/>
              <a:t>CSCI2520 Tutorial 7</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D18FF04-FA49-4B93-B670-AFC1E2890DCB}" type="datetime1">
              <a:rPr lang="zh-CN" altLang="en-US" smtClean="0"/>
              <a:t>2026/3/17</a:t>
            </a:fld>
            <a:endParaRPr lang="zh-CN" altLang="en-US"/>
          </a:p>
        </p:txBody>
      </p:sp>
      <p:sp>
        <p:nvSpPr>
          <p:cNvPr id="6" name="页脚占位符 5"/>
          <p:cNvSpPr>
            <a:spLocks noGrp="1"/>
          </p:cNvSpPr>
          <p:nvPr>
            <p:ph type="ftr" sz="quarter" idx="11"/>
          </p:nvPr>
        </p:nvSpPr>
        <p:spPr/>
        <p:txBody>
          <a:bodyPr/>
          <a:lstStyle/>
          <a:p>
            <a:r>
              <a:rPr lang="en-US" altLang="zh-CN"/>
              <a:t>CSCI2520 Tutorial 7</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55317A0-C225-4FE1-B086-79CB9079FA73}" type="datetime1">
              <a:rPr lang="zh-CN" altLang="en-US" smtClean="0"/>
              <a:t>2026/3/17</a:t>
            </a:fld>
            <a:endParaRPr lang="zh-CN" altLang="en-US"/>
          </a:p>
        </p:txBody>
      </p:sp>
      <p:sp>
        <p:nvSpPr>
          <p:cNvPr id="8" name="页脚占位符 7"/>
          <p:cNvSpPr>
            <a:spLocks noGrp="1"/>
          </p:cNvSpPr>
          <p:nvPr>
            <p:ph type="ftr" sz="quarter" idx="11"/>
          </p:nvPr>
        </p:nvSpPr>
        <p:spPr/>
        <p:txBody>
          <a:bodyPr/>
          <a:lstStyle/>
          <a:p>
            <a:r>
              <a:rPr lang="en-US" altLang="zh-CN"/>
              <a:t>CSCI2520 Tutorial 7</a:t>
            </a:r>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6BCD018-5E4E-409B-B6E1-8EF7F853398C}" type="datetime1">
              <a:rPr lang="zh-CN" altLang="en-US" smtClean="0"/>
              <a:t>2026/3/17</a:t>
            </a:fld>
            <a:endParaRPr lang="zh-CN" altLang="en-US"/>
          </a:p>
        </p:txBody>
      </p:sp>
      <p:sp>
        <p:nvSpPr>
          <p:cNvPr id="4" name="页脚占位符 3"/>
          <p:cNvSpPr>
            <a:spLocks noGrp="1"/>
          </p:cNvSpPr>
          <p:nvPr>
            <p:ph type="ftr" sz="quarter" idx="11"/>
          </p:nvPr>
        </p:nvSpPr>
        <p:spPr/>
        <p:txBody>
          <a:bodyPr/>
          <a:lstStyle/>
          <a:p>
            <a:r>
              <a:rPr lang="en-US" altLang="zh-CN"/>
              <a:t>CSCI2520 Tutorial 7</a:t>
            </a:r>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4F954CB-A648-43B5-A44F-F5BB21E94159}" type="datetime1">
              <a:rPr lang="zh-CN" altLang="en-US" smtClean="0"/>
              <a:t>2026/3/17</a:t>
            </a:fld>
            <a:endParaRPr lang="zh-CN" altLang="en-US"/>
          </a:p>
        </p:txBody>
      </p:sp>
      <p:sp>
        <p:nvSpPr>
          <p:cNvPr id="3" name="页脚占位符 2"/>
          <p:cNvSpPr>
            <a:spLocks noGrp="1"/>
          </p:cNvSpPr>
          <p:nvPr>
            <p:ph type="ftr" sz="quarter" idx="11"/>
          </p:nvPr>
        </p:nvSpPr>
        <p:spPr/>
        <p:txBody>
          <a:bodyPr/>
          <a:lstStyle/>
          <a:p>
            <a:r>
              <a:rPr lang="en-US" altLang="zh-CN"/>
              <a:t>CSCI2520 Tutorial 7</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3F04CD-1BA0-4351-8326-3DEF65303303}" type="datetime1">
              <a:rPr lang="zh-CN" altLang="en-US" smtClean="0"/>
              <a:t>2026/3/17</a:t>
            </a:fld>
            <a:endParaRPr lang="zh-CN" altLang="en-US"/>
          </a:p>
        </p:txBody>
      </p:sp>
      <p:sp>
        <p:nvSpPr>
          <p:cNvPr id="6" name="页脚占位符 5"/>
          <p:cNvSpPr>
            <a:spLocks noGrp="1"/>
          </p:cNvSpPr>
          <p:nvPr>
            <p:ph type="ftr" sz="quarter" idx="11"/>
          </p:nvPr>
        </p:nvSpPr>
        <p:spPr/>
        <p:txBody>
          <a:bodyPr/>
          <a:lstStyle/>
          <a:p>
            <a:r>
              <a:rPr lang="en-US" altLang="zh-CN"/>
              <a:t>CSCI2520 Tutorial 7</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D7DB08F-2BA0-4A89-9516-55579F06A5F4}" type="datetime1">
              <a:rPr lang="zh-CN" altLang="en-US" smtClean="0"/>
              <a:t>2026/3/17</a:t>
            </a:fld>
            <a:endParaRPr lang="zh-CN" altLang="en-US"/>
          </a:p>
        </p:txBody>
      </p:sp>
      <p:sp>
        <p:nvSpPr>
          <p:cNvPr id="6" name="页脚占位符 5"/>
          <p:cNvSpPr>
            <a:spLocks noGrp="1"/>
          </p:cNvSpPr>
          <p:nvPr>
            <p:ph type="ftr" sz="quarter" idx="11"/>
          </p:nvPr>
        </p:nvSpPr>
        <p:spPr/>
        <p:txBody>
          <a:bodyPr/>
          <a:lstStyle/>
          <a:p>
            <a:r>
              <a:rPr lang="en-US" altLang="zh-CN"/>
              <a:t>CSCI2520 Tutorial 7</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12CABE4-F4D1-48D2-827B-E76AB1614ACF}" type="datetime1">
              <a:rPr lang="zh-CN" altLang="en-US" smtClean="0"/>
              <a:t>2026/3/17</a:t>
            </a:fld>
            <a:endParaRPr lang="zh-CN" altLang="en-US"/>
          </a:p>
        </p:txBody>
      </p:sp>
      <p:sp>
        <p:nvSpPr>
          <p:cNvPr id="5" name="页脚占位符 4"/>
          <p:cNvSpPr>
            <a:spLocks noGrp="1"/>
          </p:cNvSpPr>
          <p:nvPr>
            <p:ph type="ftr" sz="quarter" idx="11"/>
          </p:nvPr>
        </p:nvSpPr>
        <p:spPr/>
        <p:txBody>
          <a:bodyPr/>
          <a:lstStyle/>
          <a:p>
            <a:r>
              <a:rPr lang="en-US" altLang="zh-CN"/>
              <a:t>CSCI2520 Tutorial 7</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E17412F-94FD-441F-87A9-12140E370969}" type="datetime1">
              <a:rPr lang="zh-CN" altLang="en-US" smtClean="0"/>
              <a:t>2026/3/17</a:t>
            </a:fld>
            <a:endParaRPr lang="zh-CN" altLang="en-US"/>
          </a:p>
        </p:txBody>
      </p:sp>
      <p:sp>
        <p:nvSpPr>
          <p:cNvPr id="5" name="页脚占位符 4"/>
          <p:cNvSpPr>
            <a:spLocks noGrp="1"/>
          </p:cNvSpPr>
          <p:nvPr>
            <p:ph type="ftr" sz="quarter" idx="11"/>
          </p:nvPr>
        </p:nvSpPr>
        <p:spPr/>
        <p:txBody>
          <a:bodyPr/>
          <a:lstStyle/>
          <a:p>
            <a:r>
              <a:rPr lang="en-US" altLang="zh-CN"/>
              <a:t>CSCI2520 Tutorial 7</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776319-167A-4F80-8C9A-FDBBCCEA0477}" type="datetime1">
              <a:rPr lang="zh-CN" altLang="en-US" smtClean="0"/>
              <a:t>2026/3/17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CSCI2520 Tutorial 7</a:t>
            </a: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zypan24@cse.cuhk.edu.h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leetcode.com/problems/binary-tree-inorder-traversal/#/description" TargetMode="External"/><Relationship Id="rId2" Type="http://schemas.openxmlformats.org/officeDocument/2006/relationships/hyperlink" Target="https://leetcode.com/tag/tree/" TargetMode="External"/><Relationship Id="rId1" Type="http://schemas.openxmlformats.org/officeDocument/2006/relationships/slideLayout" Target="../slideLayouts/slideLayout2.xml"/><Relationship Id="rId4" Type="http://schemas.openxmlformats.org/officeDocument/2006/relationships/hyperlink" Target="https://leetcode.com/problems/construct-binary-tree-from-preorder-and-inorder-traversal/#/descripti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CSCI2520 Tutorial 7:</a:t>
            </a:r>
            <a:br>
              <a:rPr lang="en-US" dirty="0"/>
            </a:br>
            <a:r>
              <a:rPr lang="en-US" dirty="0"/>
              <a:t>Binary Tree &amp; </a:t>
            </a:r>
            <a:r>
              <a:rPr lang="en-US" altLang="zh-CN" dirty="0"/>
              <a:t>Mid 2 Review</a:t>
            </a:r>
            <a:endParaRPr lang="en-US" dirty="0"/>
          </a:p>
        </p:txBody>
      </p:sp>
      <p:sp>
        <p:nvSpPr>
          <p:cNvPr id="6" name="Subtitle 2">
            <a:extLst>
              <a:ext uri="{FF2B5EF4-FFF2-40B4-BE49-F238E27FC236}">
                <a16:creationId xmlns:a16="http://schemas.microsoft.com/office/drawing/2014/main" id="{AD64C47F-C331-7E38-6F32-4DEB8DE540D5}"/>
              </a:ext>
            </a:extLst>
          </p:cNvPr>
          <p:cNvSpPr>
            <a:spLocks noGrp="1"/>
          </p:cNvSpPr>
          <p:nvPr>
            <p:ph type="subTitle" idx="1"/>
          </p:nvPr>
        </p:nvSpPr>
        <p:spPr>
          <a:xfrm>
            <a:off x="1371600" y="3886200"/>
            <a:ext cx="6400800" cy="1752600"/>
          </a:xfrm>
        </p:spPr>
        <p:txBody>
          <a:bodyPr>
            <a:normAutofit fontScale="92500" lnSpcReduction="20000"/>
          </a:bodyPr>
          <a:lstStyle/>
          <a:p>
            <a:r>
              <a:rPr lang="en-US" altLang="zh-CN" dirty="0"/>
              <a:t>Pan Zhenyu</a:t>
            </a:r>
          </a:p>
          <a:p>
            <a:r>
              <a:rPr lang="en-US" altLang="zh-CN" dirty="0">
                <a:hlinkClick r:id="rId2"/>
              </a:rPr>
              <a:t>zypan24@cse.cuhk.edu.hk</a:t>
            </a:r>
            <a:endParaRPr lang="en-US" altLang="zh-CN" dirty="0"/>
          </a:p>
          <a:p>
            <a:r>
              <a:rPr lang="en-US" altLang="zh-CN" dirty="0"/>
              <a:t>Slide Ack: modified based on the slides from Li Hui</a:t>
            </a:r>
          </a:p>
        </p:txBody>
      </p:sp>
    </p:spTree>
    <p:extLst>
      <p:ext uri="{BB962C8B-B14F-4D97-AF65-F5344CB8AC3E}">
        <p14:creationId xmlns:p14="http://schemas.microsoft.com/office/powerpoint/2010/main" val="1346080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Binary Tree Traversal</a:t>
            </a:r>
          </a:p>
          <a:p>
            <a:r>
              <a:rPr lang="en-US" dirty="0"/>
              <a:t>Find Successor in BST</a:t>
            </a:r>
          </a:p>
          <a:p>
            <a:r>
              <a:rPr lang="en-US" dirty="0"/>
              <a:t>Mid 2 review</a:t>
            </a:r>
          </a:p>
        </p:txBody>
      </p:sp>
      <p:sp>
        <p:nvSpPr>
          <p:cNvPr id="4" name="Footer Placeholder 3"/>
          <p:cNvSpPr>
            <a:spLocks noGrp="1"/>
          </p:cNvSpPr>
          <p:nvPr>
            <p:ph type="ftr" sz="quarter" idx="11"/>
          </p:nvPr>
        </p:nvSpPr>
        <p:spPr/>
        <p:txBody>
          <a:bodyPr/>
          <a:lstStyle/>
          <a:p>
            <a:r>
              <a:rPr lang="en-US" altLang="zh-CN" dirty="0"/>
              <a:t>CSCI2520 Tutorial 7</a:t>
            </a:r>
            <a:endParaRPr lang="zh-CN" altLang="en-US" dirty="0"/>
          </a:p>
        </p:txBody>
      </p:sp>
    </p:spTree>
    <p:extLst>
      <p:ext uri="{BB962C8B-B14F-4D97-AF65-F5344CB8AC3E}">
        <p14:creationId xmlns:p14="http://schemas.microsoft.com/office/powerpoint/2010/main" val="3585833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Tree Traversal</a:t>
            </a:r>
          </a:p>
        </p:txBody>
      </p:sp>
      <p:sp>
        <p:nvSpPr>
          <p:cNvPr id="3" name="Content Placeholder 2"/>
          <p:cNvSpPr>
            <a:spLocks noGrp="1"/>
          </p:cNvSpPr>
          <p:nvPr>
            <p:ph idx="1"/>
          </p:nvPr>
        </p:nvSpPr>
        <p:spPr/>
        <p:txBody>
          <a:bodyPr/>
          <a:lstStyle/>
          <a:p>
            <a:r>
              <a:rPr lang="en-US" dirty="0"/>
              <a:t>Traversal</a:t>
            </a:r>
          </a:p>
          <a:p>
            <a:pPr lvl="1"/>
            <a:r>
              <a:rPr lang="en-US" dirty="0"/>
              <a:t>Pre-order</a:t>
            </a:r>
          </a:p>
          <a:p>
            <a:pPr lvl="1"/>
            <a:r>
              <a:rPr lang="en-US" dirty="0"/>
              <a:t>In-order</a:t>
            </a:r>
          </a:p>
          <a:p>
            <a:pPr lvl="1"/>
            <a:r>
              <a:rPr lang="en-US" dirty="0"/>
              <a:t>Post-order</a:t>
            </a:r>
          </a:p>
          <a:p>
            <a:endParaRPr lang="en-US" dirty="0"/>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sp>
        <p:nvSpPr>
          <p:cNvPr id="6" name="Rectangle 5"/>
          <p:cNvSpPr/>
          <p:nvPr/>
        </p:nvSpPr>
        <p:spPr>
          <a:xfrm>
            <a:off x="5943600" y="1676400"/>
            <a:ext cx="2514600" cy="2530475"/>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a:spAutoFit/>
          </a:bodyPr>
          <a:lstStyle>
            <a:defPPr>
              <a:defRPr lang="zh-TW"/>
            </a:defPPr>
            <a:lvl1pPr algn="l" rtl="0" fontAlgn="base">
              <a:spcBef>
                <a:spcPct val="0"/>
              </a:spcBef>
              <a:spcAft>
                <a:spcPct val="0"/>
              </a:spcAft>
              <a:defRPr kumimoji="1" sz="2800" kern="1200">
                <a:solidFill>
                  <a:schemeClr val="dk1"/>
                </a:solidFill>
                <a:latin typeface="+mn-lt"/>
                <a:ea typeface="+mn-ea"/>
                <a:cs typeface="+mn-cs"/>
                <a:sym typeface="Marker Felt"/>
              </a:defRPr>
            </a:lvl1pPr>
            <a:lvl2pPr marL="457200" algn="l" rtl="0" fontAlgn="base">
              <a:spcBef>
                <a:spcPct val="0"/>
              </a:spcBef>
              <a:spcAft>
                <a:spcPct val="0"/>
              </a:spcAft>
              <a:defRPr kumimoji="1" sz="2800" kern="1200">
                <a:solidFill>
                  <a:schemeClr val="dk1"/>
                </a:solidFill>
                <a:latin typeface="+mn-lt"/>
                <a:ea typeface="+mn-ea"/>
                <a:cs typeface="+mn-cs"/>
                <a:sym typeface="Marker Felt"/>
              </a:defRPr>
            </a:lvl2pPr>
            <a:lvl3pPr marL="914400" algn="l" rtl="0" fontAlgn="base">
              <a:spcBef>
                <a:spcPct val="0"/>
              </a:spcBef>
              <a:spcAft>
                <a:spcPct val="0"/>
              </a:spcAft>
              <a:defRPr kumimoji="1" sz="2800" kern="1200">
                <a:solidFill>
                  <a:schemeClr val="dk1"/>
                </a:solidFill>
                <a:latin typeface="+mn-lt"/>
                <a:ea typeface="+mn-ea"/>
                <a:cs typeface="+mn-cs"/>
                <a:sym typeface="Marker Felt"/>
              </a:defRPr>
            </a:lvl3pPr>
            <a:lvl4pPr marL="1371600" algn="l" rtl="0" fontAlgn="base">
              <a:spcBef>
                <a:spcPct val="0"/>
              </a:spcBef>
              <a:spcAft>
                <a:spcPct val="0"/>
              </a:spcAft>
              <a:defRPr kumimoji="1" sz="2800" kern="1200">
                <a:solidFill>
                  <a:schemeClr val="dk1"/>
                </a:solidFill>
                <a:latin typeface="+mn-lt"/>
                <a:ea typeface="+mn-ea"/>
                <a:cs typeface="+mn-cs"/>
                <a:sym typeface="Marker Felt"/>
              </a:defRPr>
            </a:lvl4pPr>
            <a:lvl5pPr marL="1828800" algn="l" rtl="0" fontAlgn="base">
              <a:spcBef>
                <a:spcPct val="0"/>
              </a:spcBef>
              <a:spcAft>
                <a:spcPct val="0"/>
              </a:spcAft>
              <a:defRPr kumimoji="1" sz="2800" kern="1200">
                <a:solidFill>
                  <a:schemeClr val="dk1"/>
                </a:solidFill>
                <a:latin typeface="+mn-lt"/>
                <a:ea typeface="+mn-ea"/>
                <a:cs typeface="+mn-cs"/>
                <a:sym typeface="Marker Felt"/>
              </a:defRPr>
            </a:lvl5pPr>
            <a:lvl6pPr marL="2286000" algn="l" defTabSz="914400" rtl="0" eaLnBrk="1" latinLnBrk="0" hangingPunct="1">
              <a:defRPr kumimoji="1" sz="2800" kern="1200">
                <a:solidFill>
                  <a:schemeClr val="dk1"/>
                </a:solidFill>
                <a:latin typeface="+mn-lt"/>
                <a:ea typeface="+mn-ea"/>
                <a:cs typeface="+mn-cs"/>
                <a:sym typeface="Marker Felt"/>
              </a:defRPr>
            </a:lvl6pPr>
            <a:lvl7pPr marL="2743200" algn="l" defTabSz="914400" rtl="0" eaLnBrk="1" latinLnBrk="0" hangingPunct="1">
              <a:defRPr kumimoji="1" sz="2800" kern="1200">
                <a:solidFill>
                  <a:schemeClr val="dk1"/>
                </a:solidFill>
                <a:latin typeface="+mn-lt"/>
                <a:ea typeface="+mn-ea"/>
                <a:cs typeface="+mn-cs"/>
                <a:sym typeface="Marker Felt"/>
              </a:defRPr>
            </a:lvl7pPr>
            <a:lvl8pPr marL="3200400" algn="l" defTabSz="914400" rtl="0" eaLnBrk="1" latinLnBrk="0" hangingPunct="1">
              <a:defRPr kumimoji="1" sz="2800" kern="1200">
                <a:solidFill>
                  <a:schemeClr val="dk1"/>
                </a:solidFill>
                <a:latin typeface="+mn-lt"/>
                <a:ea typeface="+mn-ea"/>
                <a:cs typeface="+mn-cs"/>
                <a:sym typeface="Marker Felt"/>
              </a:defRPr>
            </a:lvl8pPr>
            <a:lvl9pPr marL="3657600" algn="l" defTabSz="914400" rtl="0" eaLnBrk="1" latinLnBrk="0" hangingPunct="1">
              <a:defRPr kumimoji="1" sz="2800" kern="1200">
                <a:solidFill>
                  <a:schemeClr val="dk1"/>
                </a:solidFill>
                <a:latin typeface="+mn-lt"/>
                <a:ea typeface="+mn-ea"/>
                <a:cs typeface="+mn-cs"/>
                <a:sym typeface="Marker Felt"/>
              </a:defRPr>
            </a:lvl9pPr>
          </a:lstStyle>
          <a:p>
            <a:pPr>
              <a:lnSpc>
                <a:spcPct val="85000"/>
              </a:lnSpc>
              <a:spcBef>
                <a:spcPct val="30000"/>
              </a:spcBef>
              <a:defRPr/>
            </a:pPr>
            <a:r>
              <a:rPr kumimoji="0" lang="en-US" altLang="zh-TW" sz="2400" dirty="0">
                <a:solidFill>
                  <a:srgbClr val="727272"/>
                </a:solidFill>
                <a:ea typeface="新細明體" charset="-120"/>
              </a:rPr>
              <a:t>Preorder:</a:t>
            </a:r>
          </a:p>
          <a:p>
            <a:pPr>
              <a:lnSpc>
                <a:spcPct val="85000"/>
              </a:lnSpc>
              <a:spcBef>
                <a:spcPct val="30000"/>
              </a:spcBef>
              <a:defRPr/>
            </a:pPr>
            <a:r>
              <a:rPr kumimoji="0" lang="en-US" altLang="zh-TW" sz="2400" i="1" dirty="0">
                <a:solidFill>
                  <a:srgbClr val="727272"/>
                </a:solidFill>
                <a:ea typeface="新細明體" charset="-120"/>
              </a:rPr>
              <a:t>A </a:t>
            </a:r>
            <a:r>
              <a:rPr kumimoji="0" lang="en-US" altLang="zh-TW" sz="2400" i="1" dirty="0">
                <a:solidFill>
                  <a:srgbClr val="FF0000"/>
                </a:solidFill>
                <a:ea typeface="新細明體" charset="-120"/>
              </a:rPr>
              <a:t>B D</a:t>
            </a:r>
            <a:r>
              <a:rPr kumimoji="0" lang="en-US" altLang="zh-TW" sz="2400" i="1" dirty="0">
                <a:solidFill>
                  <a:srgbClr val="727272"/>
                </a:solidFill>
                <a:ea typeface="新細明體" charset="-120"/>
              </a:rPr>
              <a:t> </a:t>
            </a:r>
            <a:r>
              <a:rPr kumimoji="0" lang="en-US" altLang="zh-TW" sz="2400" i="1" dirty="0">
                <a:solidFill>
                  <a:schemeClr val="hlink"/>
                </a:solidFill>
                <a:ea typeface="新細明體" charset="-120"/>
              </a:rPr>
              <a:t>C E G F H J</a:t>
            </a:r>
          </a:p>
          <a:p>
            <a:pPr>
              <a:lnSpc>
                <a:spcPct val="85000"/>
              </a:lnSpc>
              <a:spcBef>
                <a:spcPct val="30000"/>
              </a:spcBef>
              <a:defRPr/>
            </a:pPr>
            <a:r>
              <a:rPr kumimoji="0" lang="en-US" altLang="zh-TW" sz="2400" dirty="0" err="1">
                <a:solidFill>
                  <a:srgbClr val="727272"/>
                </a:solidFill>
                <a:ea typeface="新細明體" charset="-120"/>
              </a:rPr>
              <a:t>Inorder</a:t>
            </a:r>
            <a:r>
              <a:rPr kumimoji="0" lang="en-US" altLang="zh-TW" sz="2400" dirty="0">
                <a:solidFill>
                  <a:srgbClr val="727272"/>
                </a:solidFill>
                <a:ea typeface="新細明體" charset="-120"/>
              </a:rPr>
              <a:t>:</a:t>
            </a:r>
          </a:p>
          <a:p>
            <a:pPr>
              <a:lnSpc>
                <a:spcPct val="85000"/>
              </a:lnSpc>
              <a:spcBef>
                <a:spcPct val="30000"/>
              </a:spcBef>
              <a:defRPr/>
            </a:pPr>
            <a:r>
              <a:rPr kumimoji="0" lang="en-US" altLang="zh-TW" sz="2400" i="1" dirty="0">
                <a:solidFill>
                  <a:srgbClr val="FF0000"/>
                </a:solidFill>
                <a:ea typeface="新細明體" charset="-120"/>
              </a:rPr>
              <a:t>D B</a:t>
            </a:r>
            <a:r>
              <a:rPr kumimoji="0" lang="en-US" altLang="zh-TW" sz="2400" i="1" dirty="0">
                <a:solidFill>
                  <a:srgbClr val="727272"/>
                </a:solidFill>
                <a:ea typeface="新細明體" charset="-120"/>
              </a:rPr>
              <a:t> A </a:t>
            </a:r>
            <a:r>
              <a:rPr kumimoji="0" lang="en-US" altLang="zh-TW" sz="2400" i="1" dirty="0">
                <a:solidFill>
                  <a:schemeClr val="hlink"/>
                </a:solidFill>
                <a:ea typeface="新細明體" charset="-120"/>
              </a:rPr>
              <a:t>E G C H F J</a:t>
            </a:r>
          </a:p>
          <a:p>
            <a:pPr>
              <a:lnSpc>
                <a:spcPct val="85000"/>
              </a:lnSpc>
              <a:spcBef>
                <a:spcPct val="30000"/>
              </a:spcBef>
              <a:defRPr/>
            </a:pPr>
            <a:r>
              <a:rPr kumimoji="0" lang="en-US" altLang="zh-TW" sz="2400" dirty="0" err="1">
                <a:solidFill>
                  <a:srgbClr val="727272"/>
                </a:solidFill>
                <a:ea typeface="新細明體" charset="-120"/>
              </a:rPr>
              <a:t>Postorder</a:t>
            </a:r>
            <a:r>
              <a:rPr kumimoji="0" lang="en-US" altLang="zh-TW" sz="2400" dirty="0">
                <a:solidFill>
                  <a:srgbClr val="727272"/>
                </a:solidFill>
                <a:ea typeface="新細明體" charset="-120"/>
              </a:rPr>
              <a:t>:</a:t>
            </a:r>
          </a:p>
          <a:p>
            <a:pPr>
              <a:lnSpc>
                <a:spcPct val="85000"/>
              </a:lnSpc>
              <a:spcBef>
                <a:spcPct val="30000"/>
              </a:spcBef>
              <a:defRPr/>
            </a:pPr>
            <a:r>
              <a:rPr kumimoji="0" lang="en-US" altLang="zh-TW" sz="2400" i="1" dirty="0">
                <a:solidFill>
                  <a:srgbClr val="FF0000"/>
                </a:solidFill>
                <a:ea typeface="新細明體" charset="-120"/>
              </a:rPr>
              <a:t>D B</a:t>
            </a:r>
            <a:r>
              <a:rPr kumimoji="0" lang="en-US" altLang="zh-TW" sz="2400" i="1" dirty="0">
                <a:solidFill>
                  <a:srgbClr val="727272"/>
                </a:solidFill>
                <a:ea typeface="新細明體" charset="-120"/>
              </a:rPr>
              <a:t> </a:t>
            </a:r>
            <a:r>
              <a:rPr kumimoji="0" lang="en-US" altLang="zh-TW" sz="2400" i="1" dirty="0">
                <a:solidFill>
                  <a:schemeClr val="hlink"/>
                </a:solidFill>
                <a:ea typeface="新細明體" charset="-120"/>
              </a:rPr>
              <a:t>G E H J F C</a:t>
            </a:r>
            <a:r>
              <a:rPr kumimoji="0" lang="en-US" altLang="zh-TW" sz="2400" i="1" dirty="0">
                <a:solidFill>
                  <a:srgbClr val="727272"/>
                </a:solidFill>
                <a:ea typeface="新細明體" charset="-120"/>
              </a:rPr>
              <a:t> A</a:t>
            </a:r>
          </a:p>
        </p:txBody>
      </p:sp>
      <p:sp>
        <p:nvSpPr>
          <p:cNvPr id="7" name="Oval 6"/>
          <p:cNvSpPr>
            <a:spLocks noChangeArrowheads="1"/>
          </p:cNvSpPr>
          <p:nvPr/>
        </p:nvSpPr>
        <p:spPr bwMode="auto">
          <a:xfrm>
            <a:off x="3997325" y="2209800"/>
            <a:ext cx="457200" cy="457200"/>
          </a:xfrm>
          <a:prstGeom prst="ellipse">
            <a:avLst/>
          </a:prstGeom>
          <a:solidFill>
            <a:schemeClr val="bg1">
              <a:lumMod val="85000"/>
            </a:schemeClr>
          </a:solidFill>
          <a:ln w="25400" algn="ctr">
            <a:solidFill>
              <a:schemeClr val="tx1"/>
            </a:solidFill>
            <a:round/>
            <a:headEnd/>
            <a:tailEnd/>
          </a:ln>
        </p:spPr>
        <p:txBody>
          <a:bodyPr anchor="ct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gn="ctr">
              <a:lnSpc>
                <a:spcPct val="85000"/>
              </a:lnSpc>
              <a:spcBef>
                <a:spcPct val="30000"/>
              </a:spcBef>
              <a:defRPr/>
            </a:pPr>
            <a:r>
              <a:rPr kumimoji="0" lang="en-US" altLang="zh-TW" i="1" dirty="0"/>
              <a:t>A</a:t>
            </a:r>
          </a:p>
        </p:txBody>
      </p:sp>
      <p:cxnSp>
        <p:nvCxnSpPr>
          <p:cNvPr id="8" name="Straight Connector 25"/>
          <p:cNvCxnSpPr>
            <a:cxnSpLocks noChangeShapeType="1"/>
            <a:stCxn id="7" idx="3"/>
            <a:endCxn id="13" idx="0"/>
          </p:cNvCxnSpPr>
          <p:nvPr/>
        </p:nvCxnSpPr>
        <p:spPr bwMode="auto">
          <a:xfrm flipH="1">
            <a:off x="3552825" y="2600325"/>
            <a:ext cx="511175" cy="598488"/>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9" name="Straight Connector 26"/>
          <p:cNvCxnSpPr>
            <a:cxnSpLocks noChangeShapeType="1"/>
            <a:stCxn id="7" idx="5"/>
            <a:endCxn id="14" idx="0"/>
          </p:cNvCxnSpPr>
          <p:nvPr/>
        </p:nvCxnSpPr>
        <p:spPr bwMode="auto">
          <a:xfrm>
            <a:off x="4387850" y="2600325"/>
            <a:ext cx="688975" cy="598488"/>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10" name="Straight Connector 27"/>
          <p:cNvCxnSpPr>
            <a:cxnSpLocks noChangeShapeType="1"/>
            <a:stCxn id="14" idx="3"/>
            <a:endCxn id="15" idx="0"/>
          </p:cNvCxnSpPr>
          <p:nvPr/>
        </p:nvCxnSpPr>
        <p:spPr bwMode="auto">
          <a:xfrm flipH="1">
            <a:off x="4467225" y="3589058"/>
            <a:ext cx="447955" cy="848054"/>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11" name="Straight Connector 28"/>
          <p:cNvCxnSpPr>
            <a:cxnSpLocks noChangeShapeType="1"/>
            <a:stCxn id="15" idx="5"/>
            <a:endCxn id="17" idx="0"/>
          </p:cNvCxnSpPr>
          <p:nvPr/>
        </p:nvCxnSpPr>
        <p:spPr bwMode="auto">
          <a:xfrm>
            <a:off x="4628870" y="4827357"/>
            <a:ext cx="371755" cy="811443"/>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12" name="Straight Connector 29"/>
          <p:cNvCxnSpPr>
            <a:cxnSpLocks noChangeShapeType="1"/>
            <a:stCxn id="14" idx="5"/>
            <a:endCxn id="16" idx="0"/>
          </p:cNvCxnSpPr>
          <p:nvPr/>
        </p:nvCxnSpPr>
        <p:spPr bwMode="auto">
          <a:xfrm rot="16200000" flipH="1">
            <a:off x="5162550" y="3665538"/>
            <a:ext cx="828675" cy="6762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13" name="Oval 12"/>
          <p:cNvSpPr>
            <a:spLocks noChangeArrowheads="1"/>
          </p:cNvSpPr>
          <p:nvPr/>
        </p:nvSpPr>
        <p:spPr bwMode="auto">
          <a:xfrm>
            <a:off x="3324225" y="3198813"/>
            <a:ext cx="457200" cy="457200"/>
          </a:xfrm>
          <a:prstGeom prst="ellipse">
            <a:avLst/>
          </a:prstGeom>
          <a:solidFill>
            <a:schemeClr val="bg1">
              <a:lumMod val="85000"/>
            </a:schemeClr>
          </a:solidFill>
          <a:ln w="25400" algn="ctr">
            <a:solidFill>
              <a:schemeClr val="tx1"/>
            </a:solidFill>
            <a:round/>
            <a:headEnd/>
            <a:tailEnd/>
          </a:ln>
        </p:spPr>
        <p:txBody>
          <a:bodyPr anchor="ct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gn="ctr">
              <a:lnSpc>
                <a:spcPct val="85000"/>
              </a:lnSpc>
              <a:spcBef>
                <a:spcPct val="30000"/>
              </a:spcBef>
              <a:defRPr/>
            </a:pPr>
            <a:r>
              <a:rPr kumimoji="0" lang="en-US" altLang="zh-TW" i="1"/>
              <a:t>B</a:t>
            </a:r>
          </a:p>
        </p:txBody>
      </p:sp>
      <p:sp>
        <p:nvSpPr>
          <p:cNvPr id="14" name="Oval 13"/>
          <p:cNvSpPr>
            <a:spLocks noChangeArrowheads="1"/>
          </p:cNvSpPr>
          <p:nvPr/>
        </p:nvSpPr>
        <p:spPr bwMode="auto">
          <a:xfrm>
            <a:off x="4848225" y="3198813"/>
            <a:ext cx="457200" cy="457200"/>
          </a:xfrm>
          <a:prstGeom prst="ellipse">
            <a:avLst/>
          </a:prstGeom>
          <a:solidFill>
            <a:schemeClr val="bg1">
              <a:lumMod val="85000"/>
            </a:schemeClr>
          </a:solidFill>
          <a:ln w="25400" algn="ctr">
            <a:solidFill>
              <a:schemeClr val="tx1"/>
            </a:solidFill>
            <a:round/>
            <a:headEnd/>
            <a:tailEnd/>
          </a:ln>
        </p:spPr>
        <p:txBody>
          <a:bodyPr anchor="ct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gn="ctr">
              <a:lnSpc>
                <a:spcPct val="85000"/>
              </a:lnSpc>
              <a:spcBef>
                <a:spcPct val="30000"/>
              </a:spcBef>
              <a:defRPr/>
            </a:pPr>
            <a:r>
              <a:rPr kumimoji="0" lang="en-US" altLang="zh-TW" i="1"/>
              <a:t>C</a:t>
            </a:r>
          </a:p>
        </p:txBody>
      </p:sp>
      <p:sp>
        <p:nvSpPr>
          <p:cNvPr id="15" name="Oval 14"/>
          <p:cNvSpPr>
            <a:spLocks noChangeArrowheads="1"/>
          </p:cNvSpPr>
          <p:nvPr/>
        </p:nvSpPr>
        <p:spPr bwMode="auto">
          <a:xfrm>
            <a:off x="4238625" y="4437112"/>
            <a:ext cx="457200" cy="457200"/>
          </a:xfrm>
          <a:prstGeom prst="ellipse">
            <a:avLst/>
          </a:prstGeom>
          <a:solidFill>
            <a:schemeClr val="bg1">
              <a:lumMod val="85000"/>
            </a:schemeClr>
          </a:solidFill>
          <a:ln w="25400" algn="ctr">
            <a:solidFill>
              <a:schemeClr val="tx1"/>
            </a:solidFill>
            <a:round/>
            <a:headEnd/>
            <a:tailEnd/>
          </a:ln>
        </p:spPr>
        <p:txBody>
          <a:bodyPr anchor="ct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gn="ctr">
              <a:lnSpc>
                <a:spcPct val="85000"/>
              </a:lnSpc>
              <a:spcBef>
                <a:spcPct val="30000"/>
              </a:spcBef>
              <a:defRPr/>
            </a:pPr>
            <a:r>
              <a:rPr kumimoji="0" lang="en-US" altLang="zh-TW" i="1" dirty="0"/>
              <a:t>E</a:t>
            </a:r>
          </a:p>
        </p:txBody>
      </p:sp>
      <p:sp>
        <p:nvSpPr>
          <p:cNvPr id="16" name="Oval 15"/>
          <p:cNvSpPr>
            <a:spLocks noChangeArrowheads="1"/>
          </p:cNvSpPr>
          <p:nvPr/>
        </p:nvSpPr>
        <p:spPr bwMode="auto">
          <a:xfrm>
            <a:off x="5686425" y="4418013"/>
            <a:ext cx="457200" cy="457200"/>
          </a:xfrm>
          <a:prstGeom prst="ellipse">
            <a:avLst/>
          </a:prstGeom>
          <a:solidFill>
            <a:schemeClr val="bg1">
              <a:lumMod val="85000"/>
            </a:schemeClr>
          </a:solidFill>
          <a:ln w="25400" algn="ctr">
            <a:solidFill>
              <a:schemeClr val="tx1"/>
            </a:solidFill>
            <a:round/>
            <a:headEnd/>
            <a:tailEnd/>
          </a:ln>
        </p:spPr>
        <p:txBody>
          <a:bodyPr anchor="ct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gn="ctr">
              <a:lnSpc>
                <a:spcPct val="85000"/>
              </a:lnSpc>
              <a:spcBef>
                <a:spcPct val="30000"/>
              </a:spcBef>
              <a:defRPr/>
            </a:pPr>
            <a:r>
              <a:rPr kumimoji="0" lang="en-US" altLang="zh-TW" i="1"/>
              <a:t>F</a:t>
            </a:r>
          </a:p>
        </p:txBody>
      </p:sp>
      <p:sp>
        <p:nvSpPr>
          <p:cNvPr id="17" name="Oval 16"/>
          <p:cNvSpPr>
            <a:spLocks noChangeArrowheads="1"/>
          </p:cNvSpPr>
          <p:nvPr/>
        </p:nvSpPr>
        <p:spPr bwMode="auto">
          <a:xfrm>
            <a:off x="4772025" y="5638800"/>
            <a:ext cx="457200" cy="457200"/>
          </a:xfrm>
          <a:prstGeom prst="ellipse">
            <a:avLst/>
          </a:prstGeom>
          <a:solidFill>
            <a:schemeClr val="bg1">
              <a:lumMod val="85000"/>
            </a:schemeClr>
          </a:solidFill>
          <a:ln w="25400" algn="ctr">
            <a:solidFill>
              <a:schemeClr val="tx1"/>
            </a:solidFill>
            <a:round/>
            <a:headEnd/>
            <a:tailEnd/>
          </a:ln>
        </p:spPr>
        <p:txBody>
          <a:bodyPr anchor="ct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gn="ctr">
              <a:lnSpc>
                <a:spcPct val="85000"/>
              </a:lnSpc>
              <a:spcBef>
                <a:spcPct val="30000"/>
              </a:spcBef>
              <a:defRPr/>
            </a:pPr>
            <a:r>
              <a:rPr kumimoji="0" lang="en-US" altLang="zh-TW" i="1"/>
              <a:t>G</a:t>
            </a:r>
          </a:p>
        </p:txBody>
      </p:sp>
      <p:cxnSp>
        <p:nvCxnSpPr>
          <p:cNvPr id="18" name="Straight Connector 36"/>
          <p:cNvCxnSpPr>
            <a:cxnSpLocks noChangeShapeType="1"/>
            <a:stCxn id="13" idx="3"/>
            <a:endCxn id="19" idx="0"/>
          </p:cNvCxnSpPr>
          <p:nvPr/>
        </p:nvCxnSpPr>
        <p:spPr bwMode="auto">
          <a:xfrm flipH="1">
            <a:off x="3060700" y="3589338"/>
            <a:ext cx="330200" cy="8032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19" name="Oval 18"/>
          <p:cNvSpPr>
            <a:spLocks noChangeArrowheads="1"/>
          </p:cNvSpPr>
          <p:nvPr/>
        </p:nvSpPr>
        <p:spPr bwMode="auto">
          <a:xfrm>
            <a:off x="2832100" y="4392613"/>
            <a:ext cx="457200" cy="457200"/>
          </a:xfrm>
          <a:prstGeom prst="ellipse">
            <a:avLst/>
          </a:prstGeom>
          <a:solidFill>
            <a:schemeClr val="bg1">
              <a:lumMod val="85000"/>
            </a:schemeClr>
          </a:solidFill>
          <a:ln w="25400" algn="ctr">
            <a:solidFill>
              <a:schemeClr val="tx1"/>
            </a:solidFill>
            <a:round/>
            <a:headEnd/>
            <a:tailEnd/>
          </a:ln>
        </p:spPr>
        <p:txBody>
          <a:bodyPr anchor="ct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gn="ctr">
              <a:lnSpc>
                <a:spcPct val="85000"/>
              </a:lnSpc>
              <a:spcBef>
                <a:spcPct val="30000"/>
              </a:spcBef>
              <a:defRPr/>
            </a:pPr>
            <a:r>
              <a:rPr kumimoji="0" lang="en-US" altLang="zh-TW" i="1"/>
              <a:t>D</a:t>
            </a:r>
          </a:p>
        </p:txBody>
      </p:sp>
      <p:cxnSp>
        <p:nvCxnSpPr>
          <p:cNvPr id="20" name="Straight Connector 38"/>
          <p:cNvCxnSpPr>
            <a:cxnSpLocks noChangeShapeType="1"/>
            <a:stCxn id="16" idx="3"/>
            <a:endCxn id="22" idx="0"/>
          </p:cNvCxnSpPr>
          <p:nvPr/>
        </p:nvCxnSpPr>
        <p:spPr bwMode="auto">
          <a:xfrm rot="5400000">
            <a:off x="5266532" y="5152231"/>
            <a:ext cx="830262" cy="1428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1" name="Straight Connector 39"/>
          <p:cNvCxnSpPr>
            <a:cxnSpLocks noChangeShapeType="1"/>
            <a:stCxn id="16" idx="5"/>
            <a:endCxn id="23" idx="0"/>
          </p:cNvCxnSpPr>
          <p:nvPr/>
        </p:nvCxnSpPr>
        <p:spPr bwMode="auto">
          <a:xfrm rot="16200000" flipH="1">
            <a:off x="5771357" y="5114131"/>
            <a:ext cx="830262" cy="2190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22" name="Oval 21"/>
          <p:cNvSpPr>
            <a:spLocks noChangeArrowheads="1"/>
          </p:cNvSpPr>
          <p:nvPr/>
        </p:nvSpPr>
        <p:spPr bwMode="auto">
          <a:xfrm>
            <a:off x="5381625" y="5638800"/>
            <a:ext cx="457200" cy="457200"/>
          </a:xfrm>
          <a:prstGeom prst="ellipse">
            <a:avLst/>
          </a:prstGeom>
          <a:solidFill>
            <a:schemeClr val="bg1">
              <a:lumMod val="85000"/>
            </a:schemeClr>
          </a:solidFill>
          <a:ln w="25400" algn="ctr">
            <a:solidFill>
              <a:schemeClr val="tx1"/>
            </a:solidFill>
            <a:round/>
            <a:headEnd/>
            <a:tailEnd/>
          </a:ln>
        </p:spPr>
        <p:txBody>
          <a:bodyPr anchor="ct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gn="ctr">
              <a:lnSpc>
                <a:spcPct val="85000"/>
              </a:lnSpc>
              <a:spcBef>
                <a:spcPct val="30000"/>
              </a:spcBef>
              <a:defRPr/>
            </a:pPr>
            <a:r>
              <a:rPr kumimoji="0" lang="en-US" altLang="zh-TW" i="1"/>
              <a:t>H</a:t>
            </a:r>
          </a:p>
        </p:txBody>
      </p:sp>
      <p:sp>
        <p:nvSpPr>
          <p:cNvPr id="23" name="Oval 22"/>
          <p:cNvSpPr>
            <a:spLocks noChangeArrowheads="1"/>
          </p:cNvSpPr>
          <p:nvPr/>
        </p:nvSpPr>
        <p:spPr bwMode="auto">
          <a:xfrm>
            <a:off x="6067425" y="5638800"/>
            <a:ext cx="457200" cy="457200"/>
          </a:xfrm>
          <a:prstGeom prst="ellipse">
            <a:avLst/>
          </a:prstGeom>
          <a:solidFill>
            <a:schemeClr val="bg1">
              <a:lumMod val="85000"/>
            </a:schemeClr>
          </a:solidFill>
          <a:ln w="25400" algn="ctr">
            <a:solidFill>
              <a:schemeClr val="tx1"/>
            </a:solidFill>
            <a:round/>
            <a:headEnd/>
            <a:tailEnd/>
          </a:ln>
        </p:spPr>
        <p:txBody>
          <a:bodyPr anchor="ct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gn="ctr">
              <a:lnSpc>
                <a:spcPct val="85000"/>
              </a:lnSpc>
              <a:spcBef>
                <a:spcPct val="30000"/>
              </a:spcBef>
              <a:defRPr/>
            </a:pPr>
            <a:r>
              <a:rPr kumimoji="0" lang="en-US" altLang="zh-TW" i="1"/>
              <a:t>J</a:t>
            </a:r>
          </a:p>
        </p:txBody>
      </p:sp>
    </p:spTree>
    <p:extLst>
      <p:ext uri="{BB962C8B-B14F-4D97-AF65-F5344CB8AC3E}">
        <p14:creationId xmlns:p14="http://schemas.microsoft.com/office/powerpoint/2010/main" val="3578094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Binary Tree Reconstruction</a:t>
            </a:r>
          </a:p>
        </p:txBody>
      </p:sp>
      <p:sp>
        <p:nvSpPr>
          <p:cNvPr id="3" name="Content Placeholder 2"/>
          <p:cNvSpPr>
            <a:spLocks noGrp="1"/>
          </p:cNvSpPr>
          <p:nvPr>
            <p:ph idx="1"/>
          </p:nvPr>
        </p:nvSpPr>
        <p:spPr/>
        <p:txBody>
          <a:bodyPr/>
          <a:lstStyle/>
          <a:p>
            <a:r>
              <a:rPr lang="en-US" dirty="0"/>
              <a:t>Question: can you reconstruct the binary tree from its </a:t>
            </a:r>
            <a:r>
              <a:rPr lang="en-US" dirty="0" err="1"/>
              <a:t>inorder</a:t>
            </a:r>
            <a:r>
              <a:rPr lang="en-US" dirty="0"/>
              <a:t>/preorder/</a:t>
            </a:r>
            <a:r>
              <a:rPr lang="en-US" dirty="0" err="1"/>
              <a:t>postorder</a:t>
            </a:r>
            <a:r>
              <a:rPr lang="en-US" dirty="0"/>
              <a:t> traversal?</a:t>
            </a:r>
          </a:p>
          <a:p>
            <a:r>
              <a:rPr lang="en-US" dirty="0"/>
              <a:t>Or, if the </a:t>
            </a:r>
            <a:r>
              <a:rPr lang="en-US" dirty="0" err="1"/>
              <a:t>inorder</a:t>
            </a:r>
            <a:r>
              <a:rPr lang="en-US" dirty="0"/>
              <a:t> traversal of a binary tree is (B, A, C), what will it be?</a:t>
            </a:r>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spTree>
    <p:extLst>
      <p:ext uri="{BB962C8B-B14F-4D97-AF65-F5344CB8AC3E}">
        <p14:creationId xmlns:p14="http://schemas.microsoft.com/office/powerpoint/2010/main" val="11691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Tree Reconstruction</a:t>
            </a:r>
          </a:p>
        </p:txBody>
      </p:sp>
      <p:sp>
        <p:nvSpPr>
          <p:cNvPr id="3" name="Content Placeholder 2"/>
          <p:cNvSpPr>
            <a:spLocks noGrp="1"/>
          </p:cNvSpPr>
          <p:nvPr>
            <p:ph idx="1"/>
          </p:nvPr>
        </p:nvSpPr>
        <p:spPr/>
        <p:txBody>
          <a:bodyPr/>
          <a:lstStyle/>
          <a:p>
            <a:r>
              <a:rPr lang="en-US" dirty="0"/>
              <a:t>Both have </a:t>
            </a:r>
            <a:r>
              <a:rPr lang="en-US" dirty="0" err="1"/>
              <a:t>inorder</a:t>
            </a:r>
            <a:r>
              <a:rPr lang="en-US" dirty="0"/>
              <a:t> traversal (B, A, C)!</a:t>
            </a:r>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sp>
        <p:nvSpPr>
          <p:cNvPr id="5" name="Oval 3"/>
          <p:cNvSpPr>
            <a:spLocks noChangeAspect="1" noChangeArrowheads="1"/>
          </p:cNvSpPr>
          <p:nvPr/>
        </p:nvSpPr>
        <p:spPr bwMode="auto">
          <a:xfrm>
            <a:off x="2556097" y="2420888"/>
            <a:ext cx="360363" cy="360363"/>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800" i="1" dirty="0"/>
              <a:t>A</a:t>
            </a:r>
          </a:p>
        </p:txBody>
      </p:sp>
      <p:sp>
        <p:nvSpPr>
          <p:cNvPr id="6" name="Oval 4"/>
          <p:cNvSpPr>
            <a:spLocks noChangeAspect="1" noChangeArrowheads="1"/>
          </p:cNvSpPr>
          <p:nvPr/>
        </p:nvSpPr>
        <p:spPr bwMode="auto">
          <a:xfrm>
            <a:off x="3385144" y="3500388"/>
            <a:ext cx="360362" cy="360363"/>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800" i="1" dirty="0"/>
              <a:t>C</a:t>
            </a:r>
          </a:p>
        </p:txBody>
      </p:sp>
      <p:sp>
        <p:nvSpPr>
          <p:cNvPr id="7" name="Oval 5"/>
          <p:cNvSpPr>
            <a:spLocks noChangeAspect="1" noChangeArrowheads="1"/>
          </p:cNvSpPr>
          <p:nvPr/>
        </p:nvSpPr>
        <p:spPr bwMode="auto">
          <a:xfrm>
            <a:off x="1728638" y="3500388"/>
            <a:ext cx="360362" cy="360363"/>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800" i="1" dirty="0"/>
              <a:t>B</a:t>
            </a:r>
          </a:p>
        </p:txBody>
      </p:sp>
      <p:cxnSp>
        <p:nvCxnSpPr>
          <p:cNvPr id="8" name="AutoShape 14"/>
          <p:cNvCxnSpPr>
            <a:cxnSpLocks noChangeShapeType="1"/>
            <a:stCxn id="5" idx="4"/>
            <a:endCxn id="7" idx="0"/>
          </p:cNvCxnSpPr>
          <p:nvPr/>
        </p:nvCxnSpPr>
        <p:spPr bwMode="auto">
          <a:xfrm flipH="1">
            <a:off x="1908819" y="2781251"/>
            <a:ext cx="827460" cy="71913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9" name="AutoShape 15"/>
          <p:cNvCxnSpPr>
            <a:cxnSpLocks noChangeShapeType="1"/>
            <a:stCxn id="5" idx="4"/>
            <a:endCxn id="6" idx="0"/>
          </p:cNvCxnSpPr>
          <p:nvPr/>
        </p:nvCxnSpPr>
        <p:spPr bwMode="auto">
          <a:xfrm>
            <a:off x="2736279" y="2781251"/>
            <a:ext cx="829046" cy="71913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6" name="Oval 3"/>
          <p:cNvSpPr>
            <a:spLocks noChangeAspect="1" noChangeArrowheads="1"/>
          </p:cNvSpPr>
          <p:nvPr/>
        </p:nvSpPr>
        <p:spPr bwMode="auto">
          <a:xfrm>
            <a:off x="5830863" y="2420888"/>
            <a:ext cx="360363" cy="360363"/>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800" i="1" dirty="0"/>
              <a:t>B</a:t>
            </a:r>
          </a:p>
        </p:txBody>
      </p:sp>
      <p:sp>
        <p:nvSpPr>
          <p:cNvPr id="17" name="Oval 4"/>
          <p:cNvSpPr>
            <a:spLocks noChangeAspect="1" noChangeArrowheads="1"/>
          </p:cNvSpPr>
          <p:nvPr/>
        </p:nvSpPr>
        <p:spPr bwMode="auto">
          <a:xfrm>
            <a:off x="7543117" y="4614775"/>
            <a:ext cx="360362" cy="360363"/>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800" i="1" dirty="0"/>
              <a:t>C</a:t>
            </a:r>
          </a:p>
        </p:txBody>
      </p:sp>
      <p:sp>
        <p:nvSpPr>
          <p:cNvPr id="18" name="Oval 5"/>
          <p:cNvSpPr>
            <a:spLocks noChangeAspect="1" noChangeArrowheads="1"/>
          </p:cNvSpPr>
          <p:nvPr/>
        </p:nvSpPr>
        <p:spPr bwMode="auto">
          <a:xfrm>
            <a:off x="6660232" y="3501008"/>
            <a:ext cx="360362" cy="360363"/>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800" i="1" dirty="0"/>
              <a:t>A</a:t>
            </a:r>
          </a:p>
        </p:txBody>
      </p:sp>
      <p:cxnSp>
        <p:nvCxnSpPr>
          <p:cNvPr id="19" name="AutoShape 14"/>
          <p:cNvCxnSpPr>
            <a:cxnSpLocks noChangeShapeType="1"/>
            <a:stCxn id="16" idx="4"/>
            <a:endCxn id="18" idx="0"/>
          </p:cNvCxnSpPr>
          <p:nvPr/>
        </p:nvCxnSpPr>
        <p:spPr bwMode="auto">
          <a:xfrm>
            <a:off x="6011045" y="2781251"/>
            <a:ext cx="829368" cy="71975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0" name="AutoShape 15"/>
          <p:cNvCxnSpPr>
            <a:cxnSpLocks noChangeShapeType="1"/>
            <a:stCxn id="18" idx="4"/>
            <a:endCxn id="17" idx="0"/>
          </p:cNvCxnSpPr>
          <p:nvPr/>
        </p:nvCxnSpPr>
        <p:spPr bwMode="auto">
          <a:xfrm>
            <a:off x="6840413" y="3861371"/>
            <a:ext cx="882885" cy="75340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243871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3" name="Content Placeholder 2"/>
          <p:cNvSpPr>
            <a:spLocks noGrp="1"/>
          </p:cNvSpPr>
          <p:nvPr>
            <p:ph idx="1"/>
          </p:nvPr>
        </p:nvSpPr>
        <p:spPr/>
        <p:txBody>
          <a:bodyPr>
            <a:normAutofit/>
          </a:bodyPr>
          <a:lstStyle/>
          <a:p>
            <a:r>
              <a:rPr lang="en-US" dirty="0"/>
              <a:t>Given the following information, try to reconstruct the original binary tree.</a:t>
            </a:r>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sp>
        <p:nvSpPr>
          <p:cNvPr id="5" name="Rectangle 4"/>
          <p:cNvSpPr/>
          <p:nvPr/>
        </p:nvSpPr>
        <p:spPr>
          <a:xfrm>
            <a:off x="2411413" y="3356992"/>
            <a:ext cx="3889375" cy="1681163"/>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a:spAutoFit/>
          </a:bodyPr>
          <a:lstStyle>
            <a:defPPr>
              <a:defRPr lang="zh-TW"/>
            </a:defPPr>
            <a:lvl1pPr algn="l" rtl="0" fontAlgn="base">
              <a:spcBef>
                <a:spcPct val="0"/>
              </a:spcBef>
              <a:spcAft>
                <a:spcPct val="0"/>
              </a:spcAft>
              <a:defRPr kumimoji="1" sz="2800" kern="1200">
                <a:solidFill>
                  <a:schemeClr val="dk1"/>
                </a:solidFill>
                <a:latin typeface="+mn-lt"/>
                <a:ea typeface="+mn-ea"/>
                <a:cs typeface="+mn-cs"/>
                <a:sym typeface="Marker Felt"/>
              </a:defRPr>
            </a:lvl1pPr>
            <a:lvl2pPr marL="457200" algn="l" rtl="0" fontAlgn="base">
              <a:spcBef>
                <a:spcPct val="0"/>
              </a:spcBef>
              <a:spcAft>
                <a:spcPct val="0"/>
              </a:spcAft>
              <a:defRPr kumimoji="1" sz="2800" kern="1200">
                <a:solidFill>
                  <a:schemeClr val="dk1"/>
                </a:solidFill>
                <a:latin typeface="+mn-lt"/>
                <a:ea typeface="+mn-ea"/>
                <a:cs typeface="+mn-cs"/>
                <a:sym typeface="Marker Felt"/>
              </a:defRPr>
            </a:lvl2pPr>
            <a:lvl3pPr marL="914400" algn="l" rtl="0" fontAlgn="base">
              <a:spcBef>
                <a:spcPct val="0"/>
              </a:spcBef>
              <a:spcAft>
                <a:spcPct val="0"/>
              </a:spcAft>
              <a:defRPr kumimoji="1" sz="2800" kern="1200">
                <a:solidFill>
                  <a:schemeClr val="dk1"/>
                </a:solidFill>
                <a:latin typeface="+mn-lt"/>
                <a:ea typeface="+mn-ea"/>
                <a:cs typeface="+mn-cs"/>
                <a:sym typeface="Marker Felt"/>
              </a:defRPr>
            </a:lvl3pPr>
            <a:lvl4pPr marL="1371600" algn="l" rtl="0" fontAlgn="base">
              <a:spcBef>
                <a:spcPct val="0"/>
              </a:spcBef>
              <a:spcAft>
                <a:spcPct val="0"/>
              </a:spcAft>
              <a:defRPr kumimoji="1" sz="2800" kern="1200">
                <a:solidFill>
                  <a:schemeClr val="dk1"/>
                </a:solidFill>
                <a:latin typeface="+mn-lt"/>
                <a:ea typeface="+mn-ea"/>
                <a:cs typeface="+mn-cs"/>
                <a:sym typeface="Marker Felt"/>
              </a:defRPr>
            </a:lvl4pPr>
            <a:lvl5pPr marL="1828800" algn="l" rtl="0" fontAlgn="base">
              <a:spcBef>
                <a:spcPct val="0"/>
              </a:spcBef>
              <a:spcAft>
                <a:spcPct val="0"/>
              </a:spcAft>
              <a:defRPr kumimoji="1" sz="2800" kern="1200">
                <a:solidFill>
                  <a:schemeClr val="dk1"/>
                </a:solidFill>
                <a:latin typeface="+mn-lt"/>
                <a:ea typeface="+mn-ea"/>
                <a:cs typeface="+mn-cs"/>
                <a:sym typeface="Marker Felt"/>
              </a:defRPr>
            </a:lvl5pPr>
            <a:lvl6pPr marL="2286000" algn="l" defTabSz="914400" rtl="0" eaLnBrk="1" latinLnBrk="0" hangingPunct="1">
              <a:defRPr kumimoji="1" sz="2800" kern="1200">
                <a:solidFill>
                  <a:schemeClr val="dk1"/>
                </a:solidFill>
                <a:latin typeface="+mn-lt"/>
                <a:ea typeface="+mn-ea"/>
                <a:cs typeface="+mn-cs"/>
                <a:sym typeface="Marker Felt"/>
              </a:defRPr>
            </a:lvl6pPr>
            <a:lvl7pPr marL="2743200" algn="l" defTabSz="914400" rtl="0" eaLnBrk="1" latinLnBrk="0" hangingPunct="1">
              <a:defRPr kumimoji="1" sz="2800" kern="1200">
                <a:solidFill>
                  <a:schemeClr val="dk1"/>
                </a:solidFill>
                <a:latin typeface="+mn-lt"/>
                <a:ea typeface="+mn-ea"/>
                <a:cs typeface="+mn-cs"/>
                <a:sym typeface="Marker Felt"/>
              </a:defRPr>
            </a:lvl7pPr>
            <a:lvl8pPr marL="3200400" algn="l" defTabSz="914400" rtl="0" eaLnBrk="1" latinLnBrk="0" hangingPunct="1">
              <a:defRPr kumimoji="1" sz="2800" kern="1200">
                <a:solidFill>
                  <a:schemeClr val="dk1"/>
                </a:solidFill>
                <a:latin typeface="+mn-lt"/>
                <a:ea typeface="+mn-ea"/>
                <a:cs typeface="+mn-cs"/>
                <a:sym typeface="Marker Felt"/>
              </a:defRPr>
            </a:lvl8pPr>
            <a:lvl9pPr marL="3657600" algn="l" defTabSz="914400" rtl="0" eaLnBrk="1" latinLnBrk="0" hangingPunct="1">
              <a:defRPr kumimoji="1" sz="2800" kern="1200">
                <a:solidFill>
                  <a:schemeClr val="dk1"/>
                </a:solidFill>
                <a:latin typeface="+mn-lt"/>
                <a:ea typeface="+mn-ea"/>
                <a:cs typeface="+mn-cs"/>
                <a:sym typeface="Marker Felt"/>
              </a:defRPr>
            </a:lvl9pPr>
          </a:lstStyle>
          <a:p>
            <a:pPr>
              <a:lnSpc>
                <a:spcPct val="85000"/>
              </a:lnSpc>
              <a:spcBef>
                <a:spcPct val="30000"/>
              </a:spcBef>
              <a:defRPr/>
            </a:pPr>
            <a:r>
              <a:rPr kumimoji="0" lang="en-US" altLang="zh-CN" sz="2400" dirty="0">
                <a:solidFill>
                  <a:srgbClr val="727272"/>
                </a:solidFill>
                <a:ea typeface="新細明體" charset="-120"/>
              </a:rPr>
              <a:t>In-</a:t>
            </a:r>
            <a:r>
              <a:rPr kumimoji="0" lang="en-US" altLang="zh-TW" sz="2400" dirty="0">
                <a:solidFill>
                  <a:srgbClr val="727272"/>
                </a:solidFill>
                <a:ea typeface="新細明體" charset="-120"/>
              </a:rPr>
              <a:t>order:</a:t>
            </a:r>
          </a:p>
          <a:p>
            <a:pPr>
              <a:lnSpc>
                <a:spcPct val="85000"/>
              </a:lnSpc>
              <a:spcBef>
                <a:spcPct val="30000"/>
              </a:spcBef>
              <a:defRPr/>
            </a:pPr>
            <a:r>
              <a:rPr kumimoji="0" lang="en-US" altLang="zh-TW" sz="2400" i="1" dirty="0">
                <a:solidFill>
                  <a:srgbClr val="727272"/>
                </a:solidFill>
                <a:ea typeface="新細明體" charset="-120"/>
              </a:rPr>
              <a:t>K N C D I L H B J E M G K A F </a:t>
            </a:r>
            <a:endParaRPr kumimoji="0" lang="en-US" altLang="zh-TW" sz="2400" i="1" dirty="0">
              <a:solidFill>
                <a:srgbClr val="FF0000"/>
              </a:solidFill>
              <a:ea typeface="新細明體" charset="-120"/>
            </a:endParaRPr>
          </a:p>
          <a:p>
            <a:pPr>
              <a:lnSpc>
                <a:spcPct val="85000"/>
              </a:lnSpc>
              <a:spcBef>
                <a:spcPct val="30000"/>
              </a:spcBef>
              <a:defRPr/>
            </a:pPr>
            <a:r>
              <a:rPr kumimoji="0" lang="en-US" altLang="zh-CN" sz="2400" dirty="0">
                <a:solidFill>
                  <a:srgbClr val="727272"/>
                </a:solidFill>
                <a:ea typeface="新細明體" charset="-120"/>
              </a:rPr>
              <a:t>pre</a:t>
            </a:r>
            <a:r>
              <a:rPr kumimoji="0" lang="en-US" altLang="zh-TW" sz="2400" dirty="0">
                <a:solidFill>
                  <a:srgbClr val="727272"/>
                </a:solidFill>
                <a:ea typeface="新細明體" charset="-120"/>
              </a:rPr>
              <a:t>-order:</a:t>
            </a:r>
          </a:p>
          <a:p>
            <a:pPr>
              <a:lnSpc>
                <a:spcPct val="85000"/>
              </a:lnSpc>
              <a:spcBef>
                <a:spcPct val="30000"/>
              </a:spcBef>
              <a:defRPr/>
            </a:pPr>
            <a:r>
              <a:rPr kumimoji="0" lang="en-US" altLang="zh-TW" sz="2400" i="1" dirty="0">
                <a:solidFill>
                  <a:srgbClr val="FF0000"/>
                </a:solidFill>
                <a:ea typeface="新細明體" charset="-120"/>
              </a:rPr>
              <a:t>H D N K C I L G E B J M F K A</a:t>
            </a:r>
            <a:endParaRPr kumimoji="0" lang="en-US" altLang="zh-TW" sz="2400" i="1" dirty="0">
              <a:solidFill>
                <a:schemeClr val="hlink"/>
              </a:solidFill>
              <a:ea typeface="新細明體" charset="-120"/>
            </a:endParaRPr>
          </a:p>
        </p:txBody>
      </p:sp>
    </p:spTree>
    <p:extLst>
      <p:ext uri="{BB962C8B-B14F-4D97-AF65-F5344CB8AC3E}">
        <p14:creationId xmlns:p14="http://schemas.microsoft.com/office/powerpoint/2010/main" val="1484451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Tree Reconstruction</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00200"/>
            <a:ext cx="8601075" cy="3419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8440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Tree Reconstruction</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63" y="1524000"/>
            <a:ext cx="8362950" cy="404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0633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Tree Reconstruction</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825" y="1524000"/>
            <a:ext cx="8134350" cy="4514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8440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Tree Reconstruction</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238" y="1524000"/>
            <a:ext cx="8172450" cy="456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8440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Tree Reconstruction</a:t>
            </a:r>
          </a:p>
        </p:txBody>
      </p:sp>
      <p:sp>
        <p:nvSpPr>
          <p:cNvPr id="3" name="Content Placeholder 2"/>
          <p:cNvSpPr>
            <a:spLocks noGrp="1"/>
          </p:cNvSpPr>
          <p:nvPr>
            <p:ph idx="1"/>
          </p:nvPr>
        </p:nvSpPr>
        <p:spPr/>
        <p:txBody>
          <a:bodyPr/>
          <a:lstStyle/>
          <a:p>
            <a:r>
              <a:rPr lang="en-US" dirty="0"/>
              <a:t>Key steps:</a:t>
            </a:r>
          </a:p>
          <a:p>
            <a:pPr lvl="1"/>
            <a:r>
              <a:rPr lang="en-US" dirty="0"/>
              <a:t>Find the root</a:t>
            </a:r>
          </a:p>
          <a:p>
            <a:pPr lvl="1"/>
            <a:r>
              <a:rPr lang="en-US" dirty="0"/>
              <a:t>Find the left and right subtrees and do it recursively</a:t>
            </a:r>
          </a:p>
          <a:p>
            <a:r>
              <a:rPr lang="en-US" dirty="0"/>
              <a:t>Given both </a:t>
            </a:r>
            <a:r>
              <a:rPr lang="en-US" dirty="0" err="1"/>
              <a:t>inorder</a:t>
            </a:r>
            <a:r>
              <a:rPr lang="en-US" dirty="0"/>
              <a:t> and </a:t>
            </a:r>
            <a:r>
              <a:rPr lang="en-US" dirty="0" err="1"/>
              <a:t>postorder</a:t>
            </a:r>
            <a:r>
              <a:rPr lang="en-US" dirty="0"/>
              <a:t> traversals (or preorder and </a:t>
            </a:r>
            <a:r>
              <a:rPr lang="en-US" dirty="0" err="1"/>
              <a:t>inorder</a:t>
            </a:r>
            <a:r>
              <a:rPr lang="en-US" dirty="0"/>
              <a:t> traversals), the methods are similar.</a:t>
            </a:r>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spTree>
    <p:extLst>
      <p:ext uri="{BB962C8B-B14F-4D97-AF65-F5344CB8AC3E}">
        <p14:creationId xmlns:p14="http://schemas.microsoft.com/office/powerpoint/2010/main" val="2016622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 Tree</a:t>
            </a:r>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cxnSp>
        <p:nvCxnSpPr>
          <p:cNvPr id="5" name="Straight Connector 32"/>
          <p:cNvCxnSpPr>
            <a:cxnSpLocks noChangeShapeType="1"/>
            <a:stCxn id="6" idx="3"/>
            <a:endCxn id="7" idx="0"/>
          </p:cNvCxnSpPr>
          <p:nvPr/>
        </p:nvCxnSpPr>
        <p:spPr bwMode="auto">
          <a:xfrm rot="5400000">
            <a:off x="2230438" y="2163664"/>
            <a:ext cx="492125" cy="3333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6" name="Oval 42"/>
          <p:cNvSpPr>
            <a:spLocks noChangeArrowheads="1"/>
          </p:cNvSpPr>
          <p:nvPr/>
        </p:nvSpPr>
        <p:spPr bwMode="auto">
          <a:xfrm>
            <a:off x="2554288" y="1565176"/>
            <a:ext cx="609600" cy="608013"/>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a:solidFill>
                  <a:srgbClr val="727272"/>
                </a:solidFill>
                <a:latin typeface="Consolas" pitchFamily="49" charset="0"/>
                <a:cs typeface="Arial" pitchFamily="34" charset="0"/>
              </a:rPr>
              <a:t>6</a:t>
            </a:r>
          </a:p>
        </p:txBody>
      </p:sp>
      <p:sp>
        <p:nvSpPr>
          <p:cNvPr id="7" name="Oval 43"/>
          <p:cNvSpPr>
            <a:spLocks noChangeArrowheads="1"/>
          </p:cNvSpPr>
          <p:nvPr/>
        </p:nvSpPr>
        <p:spPr bwMode="auto">
          <a:xfrm>
            <a:off x="2005013" y="2576414"/>
            <a:ext cx="609600" cy="608012"/>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a:solidFill>
                  <a:srgbClr val="727272"/>
                </a:solidFill>
                <a:latin typeface="Consolas" pitchFamily="49" charset="0"/>
                <a:cs typeface="Arial" pitchFamily="34" charset="0"/>
              </a:rPr>
              <a:t>2</a:t>
            </a:r>
          </a:p>
        </p:txBody>
      </p:sp>
      <p:cxnSp>
        <p:nvCxnSpPr>
          <p:cNvPr id="8" name="Straight Connector 44"/>
          <p:cNvCxnSpPr>
            <a:cxnSpLocks noChangeShapeType="1"/>
            <a:stCxn id="6" idx="5"/>
            <a:endCxn id="9" idx="0"/>
          </p:cNvCxnSpPr>
          <p:nvPr/>
        </p:nvCxnSpPr>
        <p:spPr bwMode="auto">
          <a:xfrm rot="16200000" flipH="1">
            <a:off x="3025775" y="2133502"/>
            <a:ext cx="492125" cy="3937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9" name="Oval 45"/>
          <p:cNvSpPr>
            <a:spLocks noChangeArrowheads="1"/>
          </p:cNvSpPr>
          <p:nvPr/>
        </p:nvSpPr>
        <p:spPr bwMode="auto">
          <a:xfrm>
            <a:off x="3163888" y="2576414"/>
            <a:ext cx="609600" cy="608012"/>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a:solidFill>
                  <a:srgbClr val="727272"/>
                </a:solidFill>
                <a:latin typeface="Consolas" pitchFamily="49" charset="0"/>
                <a:cs typeface="Arial" pitchFamily="34" charset="0"/>
              </a:rPr>
              <a:t>8</a:t>
            </a:r>
          </a:p>
        </p:txBody>
      </p:sp>
      <p:cxnSp>
        <p:nvCxnSpPr>
          <p:cNvPr id="10" name="Straight Connector 46"/>
          <p:cNvCxnSpPr>
            <a:cxnSpLocks noChangeShapeType="1"/>
            <a:stCxn id="7" idx="5"/>
            <a:endCxn id="11" idx="0"/>
          </p:cNvCxnSpPr>
          <p:nvPr/>
        </p:nvCxnSpPr>
        <p:spPr bwMode="auto">
          <a:xfrm rot="16200000" flipH="1">
            <a:off x="2455069" y="3166170"/>
            <a:ext cx="474663" cy="3333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11" name="Oval 47"/>
          <p:cNvSpPr>
            <a:spLocks noChangeArrowheads="1"/>
          </p:cNvSpPr>
          <p:nvPr/>
        </p:nvSpPr>
        <p:spPr bwMode="auto">
          <a:xfrm>
            <a:off x="2554288" y="3570189"/>
            <a:ext cx="609600" cy="606425"/>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a:solidFill>
                  <a:srgbClr val="727272"/>
                </a:solidFill>
                <a:latin typeface="Consolas" pitchFamily="49" charset="0"/>
                <a:cs typeface="Arial" pitchFamily="34" charset="0"/>
              </a:rPr>
              <a:t>4</a:t>
            </a:r>
          </a:p>
        </p:txBody>
      </p:sp>
      <p:sp>
        <p:nvSpPr>
          <p:cNvPr id="12" name="Rounded Rectangle 11"/>
          <p:cNvSpPr/>
          <p:nvPr/>
        </p:nvSpPr>
        <p:spPr bwMode="auto">
          <a:xfrm>
            <a:off x="899592" y="1412776"/>
            <a:ext cx="3505200" cy="3962400"/>
          </a:xfrm>
          <a:prstGeom prst="roundRect">
            <a:avLst/>
          </a:prstGeom>
          <a:noFill/>
          <a:ln w="25400" cap="flat" cmpd="sng" algn="ctr">
            <a:solidFill>
              <a:schemeClr val="accent6"/>
            </a:solidFill>
            <a:prstDash val="solid"/>
            <a:round/>
            <a:headEnd type="none" w="med" len="med"/>
            <a:tailEnd type="none" w="med" len="med"/>
          </a:ln>
          <a:effectLst/>
        </p:spPr>
        <p:txBody>
          <a:bodyP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nSpc>
                <a:spcPct val="85000"/>
              </a:lnSpc>
              <a:spcBef>
                <a:spcPct val="30000"/>
              </a:spcBef>
              <a:defRPr/>
            </a:pPr>
            <a:endParaRPr kumimoji="0" lang="en-US" dirty="0">
              <a:ea typeface="新細明體" pitchFamily="18" charset="-120"/>
              <a:sym typeface="Marker Felt" charset="0"/>
            </a:endParaRPr>
          </a:p>
        </p:txBody>
      </p:sp>
      <p:sp>
        <p:nvSpPr>
          <p:cNvPr id="13" name="Oval 49"/>
          <p:cNvSpPr>
            <a:spLocks noChangeArrowheads="1"/>
          </p:cNvSpPr>
          <p:nvPr/>
        </p:nvSpPr>
        <p:spPr bwMode="auto">
          <a:xfrm>
            <a:off x="2097088" y="4538564"/>
            <a:ext cx="609600" cy="608012"/>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a:solidFill>
                  <a:srgbClr val="727272"/>
                </a:solidFill>
                <a:latin typeface="Consolas" pitchFamily="49" charset="0"/>
                <a:cs typeface="Arial" pitchFamily="34" charset="0"/>
              </a:rPr>
              <a:t>3</a:t>
            </a:r>
          </a:p>
        </p:txBody>
      </p:sp>
      <p:cxnSp>
        <p:nvCxnSpPr>
          <p:cNvPr id="14" name="Straight Connector 50"/>
          <p:cNvCxnSpPr>
            <a:cxnSpLocks noChangeShapeType="1"/>
            <a:stCxn id="11" idx="3"/>
            <a:endCxn id="13" idx="0"/>
          </p:cNvCxnSpPr>
          <p:nvPr/>
        </p:nvCxnSpPr>
        <p:spPr bwMode="auto">
          <a:xfrm rot="5400000">
            <a:off x="2297113" y="4192489"/>
            <a:ext cx="450850" cy="2413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15" name="Oval 51"/>
          <p:cNvSpPr>
            <a:spLocks noChangeArrowheads="1"/>
          </p:cNvSpPr>
          <p:nvPr/>
        </p:nvSpPr>
        <p:spPr bwMode="auto">
          <a:xfrm>
            <a:off x="1487488" y="3471764"/>
            <a:ext cx="609600" cy="608012"/>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a:solidFill>
                  <a:srgbClr val="727272"/>
                </a:solidFill>
                <a:latin typeface="Consolas" pitchFamily="49" charset="0"/>
                <a:cs typeface="Arial" pitchFamily="34" charset="0"/>
              </a:rPr>
              <a:t>1</a:t>
            </a:r>
          </a:p>
        </p:txBody>
      </p:sp>
      <p:cxnSp>
        <p:nvCxnSpPr>
          <p:cNvPr id="16" name="Straight Connector 52"/>
          <p:cNvCxnSpPr>
            <a:cxnSpLocks noChangeShapeType="1"/>
            <a:stCxn id="7" idx="3"/>
            <a:endCxn id="15" idx="0"/>
          </p:cNvCxnSpPr>
          <p:nvPr/>
        </p:nvCxnSpPr>
        <p:spPr bwMode="auto">
          <a:xfrm rot="5400000">
            <a:off x="1754982" y="3132832"/>
            <a:ext cx="376238" cy="30162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17" name="Straight Connector 53"/>
          <p:cNvCxnSpPr>
            <a:cxnSpLocks noChangeShapeType="1"/>
            <a:stCxn id="18" idx="3"/>
            <a:endCxn id="19" idx="0"/>
          </p:cNvCxnSpPr>
          <p:nvPr/>
        </p:nvCxnSpPr>
        <p:spPr bwMode="auto">
          <a:xfrm rot="5400000">
            <a:off x="5888038" y="2163664"/>
            <a:ext cx="492125" cy="3333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18" name="Oval 54"/>
          <p:cNvSpPr>
            <a:spLocks noChangeArrowheads="1"/>
          </p:cNvSpPr>
          <p:nvPr/>
        </p:nvSpPr>
        <p:spPr bwMode="auto">
          <a:xfrm>
            <a:off x="6211888" y="1565176"/>
            <a:ext cx="609600" cy="608013"/>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a:solidFill>
                  <a:srgbClr val="FF0000"/>
                </a:solidFill>
                <a:latin typeface="Consolas" pitchFamily="49" charset="0"/>
                <a:cs typeface="Arial" pitchFamily="34" charset="0"/>
              </a:rPr>
              <a:t>6</a:t>
            </a:r>
          </a:p>
        </p:txBody>
      </p:sp>
      <p:sp>
        <p:nvSpPr>
          <p:cNvPr id="19" name="Oval 55"/>
          <p:cNvSpPr>
            <a:spLocks noChangeArrowheads="1"/>
          </p:cNvSpPr>
          <p:nvPr/>
        </p:nvSpPr>
        <p:spPr bwMode="auto">
          <a:xfrm>
            <a:off x="5662613" y="2576414"/>
            <a:ext cx="609600" cy="608012"/>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dirty="0">
                <a:solidFill>
                  <a:srgbClr val="727272"/>
                </a:solidFill>
                <a:latin typeface="Consolas" pitchFamily="49" charset="0"/>
                <a:cs typeface="Arial" pitchFamily="34" charset="0"/>
              </a:rPr>
              <a:t>3</a:t>
            </a:r>
          </a:p>
        </p:txBody>
      </p:sp>
      <p:cxnSp>
        <p:nvCxnSpPr>
          <p:cNvPr id="20" name="Straight Connector 56"/>
          <p:cNvCxnSpPr>
            <a:cxnSpLocks noChangeShapeType="1"/>
            <a:stCxn id="18" idx="5"/>
            <a:endCxn id="21" idx="0"/>
          </p:cNvCxnSpPr>
          <p:nvPr/>
        </p:nvCxnSpPr>
        <p:spPr bwMode="auto">
          <a:xfrm rot="16200000" flipH="1">
            <a:off x="6683375" y="2133502"/>
            <a:ext cx="492125" cy="3937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21" name="Oval 57"/>
          <p:cNvSpPr>
            <a:spLocks noChangeArrowheads="1"/>
          </p:cNvSpPr>
          <p:nvPr/>
        </p:nvSpPr>
        <p:spPr bwMode="auto">
          <a:xfrm>
            <a:off x="6821488" y="2576414"/>
            <a:ext cx="609600" cy="608012"/>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dirty="0">
                <a:solidFill>
                  <a:srgbClr val="727272"/>
                </a:solidFill>
                <a:latin typeface="Consolas" pitchFamily="49" charset="0"/>
                <a:cs typeface="Arial" pitchFamily="34" charset="0"/>
              </a:rPr>
              <a:t>9</a:t>
            </a:r>
          </a:p>
        </p:txBody>
      </p:sp>
      <p:cxnSp>
        <p:nvCxnSpPr>
          <p:cNvPr id="22" name="Straight Connector 58"/>
          <p:cNvCxnSpPr>
            <a:cxnSpLocks noChangeShapeType="1"/>
            <a:stCxn id="19" idx="5"/>
            <a:endCxn id="23" idx="0"/>
          </p:cNvCxnSpPr>
          <p:nvPr/>
        </p:nvCxnSpPr>
        <p:spPr bwMode="auto">
          <a:xfrm rot="16200000" flipH="1">
            <a:off x="6112669" y="3166170"/>
            <a:ext cx="474663" cy="3333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23" name="Oval 59"/>
          <p:cNvSpPr>
            <a:spLocks noChangeArrowheads="1"/>
          </p:cNvSpPr>
          <p:nvPr/>
        </p:nvSpPr>
        <p:spPr bwMode="auto">
          <a:xfrm>
            <a:off x="6211888" y="3570189"/>
            <a:ext cx="609600" cy="606425"/>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a:solidFill>
                  <a:srgbClr val="727272"/>
                </a:solidFill>
                <a:latin typeface="Consolas" pitchFamily="49" charset="0"/>
                <a:cs typeface="Arial" pitchFamily="34" charset="0"/>
              </a:rPr>
              <a:t>5</a:t>
            </a:r>
          </a:p>
        </p:txBody>
      </p:sp>
      <p:sp>
        <p:nvSpPr>
          <p:cNvPr id="24" name="Rounded Rectangle 23"/>
          <p:cNvSpPr/>
          <p:nvPr/>
        </p:nvSpPr>
        <p:spPr bwMode="auto">
          <a:xfrm>
            <a:off x="4687888" y="1412776"/>
            <a:ext cx="3505200" cy="3962400"/>
          </a:xfrm>
          <a:prstGeom prst="roundRect">
            <a:avLst/>
          </a:prstGeom>
          <a:noFill/>
          <a:ln w="25400" cap="flat" cmpd="sng" algn="ctr">
            <a:solidFill>
              <a:schemeClr val="accent3"/>
            </a:solidFill>
            <a:prstDash val="solid"/>
            <a:round/>
            <a:headEnd type="none" w="med" len="med"/>
            <a:tailEnd type="none" w="med" len="med"/>
          </a:ln>
          <a:effectLst/>
        </p:spPr>
        <p:txBody>
          <a:bodyP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nSpc>
                <a:spcPct val="85000"/>
              </a:lnSpc>
              <a:spcBef>
                <a:spcPct val="30000"/>
              </a:spcBef>
              <a:defRPr/>
            </a:pPr>
            <a:endParaRPr kumimoji="0" lang="en-US" dirty="0">
              <a:ea typeface="新細明體" pitchFamily="18" charset="-120"/>
              <a:sym typeface="Marker Felt" charset="0"/>
            </a:endParaRPr>
          </a:p>
        </p:txBody>
      </p:sp>
      <p:sp>
        <p:nvSpPr>
          <p:cNvPr id="25" name="Oval 61"/>
          <p:cNvSpPr>
            <a:spLocks noChangeArrowheads="1"/>
          </p:cNvSpPr>
          <p:nvPr/>
        </p:nvSpPr>
        <p:spPr bwMode="auto">
          <a:xfrm>
            <a:off x="5754688" y="4538564"/>
            <a:ext cx="609600" cy="608012"/>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a:solidFill>
                  <a:srgbClr val="727272"/>
                </a:solidFill>
                <a:latin typeface="Consolas" pitchFamily="49" charset="0"/>
                <a:cs typeface="Arial" pitchFamily="34" charset="0"/>
              </a:rPr>
              <a:t>4</a:t>
            </a:r>
          </a:p>
        </p:txBody>
      </p:sp>
      <p:cxnSp>
        <p:nvCxnSpPr>
          <p:cNvPr id="26" name="Straight Connector 62"/>
          <p:cNvCxnSpPr>
            <a:cxnSpLocks noChangeShapeType="1"/>
            <a:stCxn id="23" idx="3"/>
            <a:endCxn id="25" idx="0"/>
          </p:cNvCxnSpPr>
          <p:nvPr/>
        </p:nvCxnSpPr>
        <p:spPr bwMode="auto">
          <a:xfrm rot="5400000">
            <a:off x="5954713" y="4192489"/>
            <a:ext cx="450850" cy="24130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27" name="Oval 63"/>
          <p:cNvSpPr>
            <a:spLocks noChangeArrowheads="1"/>
          </p:cNvSpPr>
          <p:nvPr/>
        </p:nvSpPr>
        <p:spPr bwMode="auto">
          <a:xfrm>
            <a:off x="5145088" y="3471764"/>
            <a:ext cx="609600" cy="608012"/>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a:solidFill>
                  <a:srgbClr val="727272"/>
                </a:solidFill>
                <a:latin typeface="Consolas" pitchFamily="49" charset="0"/>
                <a:cs typeface="Arial" pitchFamily="34" charset="0"/>
              </a:rPr>
              <a:t>1</a:t>
            </a:r>
          </a:p>
        </p:txBody>
      </p:sp>
      <p:cxnSp>
        <p:nvCxnSpPr>
          <p:cNvPr id="28" name="Straight Connector 64"/>
          <p:cNvCxnSpPr>
            <a:cxnSpLocks noChangeShapeType="1"/>
            <a:stCxn id="19" idx="3"/>
            <a:endCxn id="27" idx="0"/>
          </p:cNvCxnSpPr>
          <p:nvPr/>
        </p:nvCxnSpPr>
        <p:spPr bwMode="auto">
          <a:xfrm rot="5400000">
            <a:off x="5412582" y="3132832"/>
            <a:ext cx="376238" cy="30162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29" name="Straight Connector 65"/>
          <p:cNvCxnSpPr>
            <a:cxnSpLocks noChangeShapeType="1"/>
            <a:stCxn id="23" idx="5"/>
            <a:endCxn id="30" idx="0"/>
          </p:cNvCxnSpPr>
          <p:nvPr/>
        </p:nvCxnSpPr>
        <p:spPr bwMode="auto">
          <a:xfrm rot="16200000" flipH="1">
            <a:off x="6672263" y="4148039"/>
            <a:ext cx="466725" cy="346075"/>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sp>
        <p:nvSpPr>
          <p:cNvPr id="30" name="Oval 66"/>
          <p:cNvSpPr>
            <a:spLocks noChangeArrowheads="1"/>
          </p:cNvSpPr>
          <p:nvPr/>
        </p:nvSpPr>
        <p:spPr bwMode="auto">
          <a:xfrm>
            <a:off x="6773863" y="4554439"/>
            <a:ext cx="609600" cy="606425"/>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80000"/>
              </a:lnSpc>
              <a:spcBef>
                <a:spcPts val="1263"/>
              </a:spcBef>
              <a:buSzPct val="77000"/>
              <a:buFont typeface="Wingdings" pitchFamily="2" charset="2"/>
              <a:buChar char="n"/>
              <a:defRPr sz="3200">
                <a:solidFill>
                  <a:srgbClr val="737373"/>
                </a:solidFill>
                <a:latin typeface="Calibri" pitchFamily="34" charset="0"/>
                <a:sym typeface="Marker Felt"/>
              </a:defRPr>
            </a:lvl1pPr>
            <a:lvl2pPr indent="-412750">
              <a:lnSpc>
                <a:spcPct val="80000"/>
              </a:lnSpc>
              <a:spcBef>
                <a:spcPts val="1263"/>
              </a:spcBef>
              <a:buSzPct val="77000"/>
              <a:buFont typeface="Wingdings" pitchFamily="2" charset="2"/>
              <a:buChar char="l"/>
              <a:defRPr sz="3200">
                <a:solidFill>
                  <a:srgbClr val="737373"/>
                </a:solidFill>
                <a:latin typeface="Calibri" pitchFamily="34" charset="0"/>
                <a:sym typeface="Marker Felt"/>
              </a:defRPr>
            </a:lvl2pPr>
            <a:lvl3pPr indent="-412750">
              <a:lnSpc>
                <a:spcPct val="80000"/>
              </a:lnSpc>
              <a:spcBef>
                <a:spcPts val="1263"/>
              </a:spcBef>
              <a:buSzPct val="77000"/>
              <a:buChar char="•"/>
              <a:defRPr sz="2800">
                <a:solidFill>
                  <a:srgbClr val="737373"/>
                </a:solidFill>
                <a:latin typeface="Calibri" pitchFamily="34" charset="0"/>
                <a:sym typeface="Marker Felt"/>
              </a:defRPr>
            </a:lvl3pPr>
            <a:lvl4pPr indent="-412750">
              <a:lnSpc>
                <a:spcPct val="80000"/>
              </a:lnSpc>
              <a:spcBef>
                <a:spcPts val="1263"/>
              </a:spcBef>
              <a:buSzPct val="77000"/>
              <a:buChar char="•"/>
              <a:defRPr sz="2400">
                <a:solidFill>
                  <a:srgbClr val="737373"/>
                </a:solidFill>
                <a:latin typeface="Calibri" pitchFamily="34" charset="0"/>
                <a:sym typeface="Marker Felt"/>
              </a:defRPr>
            </a:lvl4pPr>
            <a:lvl5pPr indent="-412750">
              <a:lnSpc>
                <a:spcPct val="80000"/>
              </a:lnSpc>
              <a:spcBef>
                <a:spcPts val="1263"/>
              </a:spcBef>
              <a:buSzPct val="77000"/>
              <a:buChar char="•"/>
              <a:defRPr sz="2400">
                <a:solidFill>
                  <a:srgbClr val="737373"/>
                </a:solidFill>
                <a:latin typeface="Calibri" pitchFamily="34" charset="0"/>
                <a:sym typeface="Marker Felt"/>
              </a:defRPr>
            </a:lvl5pPr>
            <a:lvl6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6pPr>
            <a:lvl7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7pPr>
            <a:lvl8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8pPr>
            <a:lvl9pPr indent="-412750" eaLnBrk="0" fontAlgn="base" hangingPunct="0">
              <a:lnSpc>
                <a:spcPct val="80000"/>
              </a:lnSpc>
              <a:spcBef>
                <a:spcPts val="1263"/>
              </a:spcBef>
              <a:spcAft>
                <a:spcPct val="0"/>
              </a:spcAft>
              <a:buSzPct val="77000"/>
              <a:buChar char="•"/>
              <a:defRPr sz="2400">
                <a:solidFill>
                  <a:srgbClr val="737373"/>
                </a:solidFill>
                <a:latin typeface="Calibri" pitchFamily="34" charset="0"/>
                <a:sym typeface="Marker Felt"/>
              </a:defRPr>
            </a:lvl9pPr>
          </a:lstStyle>
          <a:p>
            <a:pPr algn="ctr">
              <a:lnSpc>
                <a:spcPct val="85000"/>
              </a:lnSpc>
              <a:spcBef>
                <a:spcPct val="30000"/>
              </a:spcBef>
              <a:buSzTx/>
              <a:buFontTx/>
              <a:buNone/>
            </a:pPr>
            <a:r>
              <a:rPr lang="en-US" altLang="zh-TW">
                <a:solidFill>
                  <a:srgbClr val="FF0000"/>
                </a:solidFill>
                <a:latin typeface="Consolas" pitchFamily="49" charset="0"/>
                <a:cs typeface="Arial" pitchFamily="34" charset="0"/>
              </a:rPr>
              <a:t>7</a:t>
            </a:r>
          </a:p>
        </p:txBody>
      </p:sp>
      <p:sp>
        <p:nvSpPr>
          <p:cNvPr id="31" name="Rectangle 30"/>
          <p:cNvSpPr/>
          <p:nvPr/>
        </p:nvSpPr>
        <p:spPr>
          <a:xfrm>
            <a:off x="1106488" y="5451376"/>
            <a:ext cx="3212482" cy="461793"/>
          </a:xfrm>
          <a:prstGeom prst="rect">
            <a:avLst/>
          </a:prstGeom>
          <a:noFill/>
        </p:spPr>
        <p:txBody>
          <a:bodyPr wrap="none">
            <a:spAutoFit/>
          </a:bodyP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nSpc>
                <a:spcPct val="85000"/>
              </a:lnSpc>
              <a:spcBef>
                <a:spcPct val="30000"/>
              </a:spcBef>
              <a:defRPr/>
            </a:pPr>
            <a:r>
              <a:rPr kumimoji="0" lang="en-US" altLang="zh-TW" b="1" dirty="0">
                <a:solidFill>
                  <a:schemeClr val="accent6"/>
                </a:solidFill>
                <a:ea typeface="新細明體" pitchFamily="18" charset="-120"/>
                <a:sym typeface="Marker Felt" charset="0"/>
              </a:rPr>
              <a:t>A binary search Tree</a:t>
            </a:r>
            <a:endParaRPr kumimoji="0" lang="zh-TW" altLang="en-US" b="1" dirty="0">
              <a:solidFill>
                <a:schemeClr val="accent6"/>
              </a:solidFill>
              <a:ea typeface="新細明體" pitchFamily="18" charset="-120"/>
              <a:sym typeface="Marker Felt" charset="0"/>
            </a:endParaRPr>
          </a:p>
        </p:txBody>
      </p:sp>
      <p:sp>
        <p:nvSpPr>
          <p:cNvPr id="32" name="Rectangle 31"/>
          <p:cNvSpPr/>
          <p:nvPr/>
        </p:nvSpPr>
        <p:spPr>
          <a:xfrm>
            <a:off x="4611688" y="5451376"/>
            <a:ext cx="3808800" cy="957313"/>
          </a:xfrm>
          <a:prstGeom prst="rect">
            <a:avLst/>
          </a:prstGeom>
          <a:noFill/>
        </p:spPr>
        <p:txBody>
          <a:bodyPr wrap="none">
            <a:spAutoFit/>
          </a:bodyPr>
          <a:lstStyle>
            <a:defPPr>
              <a:defRPr lang="zh-TW"/>
            </a:defPPr>
            <a:lvl1pPr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1pPr>
            <a:lvl2pPr marL="4572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2pPr>
            <a:lvl3pPr marL="9144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3pPr>
            <a:lvl4pPr marL="13716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4pPr>
            <a:lvl5pPr marL="1828800" algn="l" rtl="0" fontAlgn="base">
              <a:spcBef>
                <a:spcPct val="0"/>
              </a:spcBef>
              <a:spcAft>
                <a:spcPct val="0"/>
              </a:spcAft>
              <a:defRPr kumimoji="1" sz="2800" kern="1200">
                <a:solidFill>
                  <a:srgbClr val="727272"/>
                </a:solidFill>
                <a:latin typeface="Calibri" pitchFamily="34" charset="0"/>
                <a:ea typeface="新細明體" charset="-120"/>
                <a:cs typeface="+mn-cs"/>
                <a:sym typeface="Marker Felt"/>
              </a:defRPr>
            </a:lvl5pPr>
            <a:lvl6pPr marL="2286000" algn="l" defTabSz="914400" rtl="0" eaLnBrk="1" latinLnBrk="0" hangingPunct="1">
              <a:defRPr kumimoji="1" sz="2800" kern="1200">
                <a:solidFill>
                  <a:srgbClr val="727272"/>
                </a:solidFill>
                <a:latin typeface="Calibri" pitchFamily="34" charset="0"/>
                <a:ea typeface="新細明體" charset="-120"/>
                <a:cs typeface="+mn-cs"/>
                <a:sym typeface="Marker Felt"/>
              </a:defRPr>
            </a:lvl6pPr>
            <a:lvl7pPr marL="2743200" algn="l" defTabSz="914400" rtl="0" eaLnBrk="1" latinLnBrk="0" hangingPunct="1">
              <a:defRPr kumimoji="1" sz="2800" kern="1200">
                <a:solidFill>
                  <a:srgbClr val="727272"/>
                </a:solidFill>
                <a:latin typeface="Calibri" pitchFamily="34" charset="0"/>
                <a:ea typeface="新細明體" charset="-120"/>
                <a:cs typeface="+mn-cs"/>
                <a:sym typeface="Marker Felt"/>
              </a:defRPr>
            </a:lvl7pPr>
            <a:lvl8pPr marL="3200400" algn="l" defTabSz="914400" rtl="0" eaLnBrk="1" latinLnBrk="0" hangingPunct="1">
              <a:defRPr kumimoji="1" sz="2800" kern="1200">
                <a:solidFill>
                  <a:srgbClr val="727272"/>
                </a:solidFill>
                <a:latin typeface="Calibri" pitchFamily="34" charset="0"/>
                <a:ea typeface="新細明體" charset="-120"/>
                <a:cs typeface="+mn-cs"/>
                <a:sym typeface="Marker Felt"/>
              </a:defRPr>
            </a:lvl8pPr>
            <a:lvl9pPr marL="3657600" algn="l" defTabSz="914400" rtl="0" eaLnBrk="1" latinLnBrk="0" hangingPunct="1">
              <a:defRPr kumimoji="1" sz="2800" kern="1200">
                <a:solidFill>
                  <a:srgbClr val="727272"/>
                </a:solidFill>
                <a:latin typeface="Calibri" pitchFamily="34" charset="0"/>
                <a:ea typeface="新細明體" charset="-120"/>
                <a:cs typeface="+mn-cs"/>
                <a:sym typeface="Marker Felt"/>
              </a:defRPr>
            </a:lvl9pPr>
          </a:lstStyle>
          <a:p>
            <a:pPr>
              <a:lnSpc>
                <a:spcPct val="85000"/>
              </a:lnSpc>
              <a:spcBef>
                <a:spcPct val="30000"/>
              </a:spcBef>
              <a:defRPr/>
            </a:pPr>
            <a:r>
              <a:rPr kumimoji="0" lang="en-US" altLang="zh-TW" b="1" dirty="0">
                <a:solidFill>
                  <a:schemeClr val="accent3"/>
                </a:solidFill>
                <a:ea typeface="新細明體" pitchFamily="18" charset="-120"/>
                <a:sym typeface="Marker Felt" charset="0"/>
              </a:rPr>
              <a:t>Not a binary search Tree</a:t>
            </a:r>
          </a:p>
          <a:p>
            <a:pPr>
              <a:lnSpc>
                <a:spcPct val="85000"/>
              </a:lnSpc>
              <a:spcBef>
                <a:spcPct val="30000"/>
              </a:spcBef>
              <a:defRPr/>
            </a:pPr>
            <a:r>
              <a:rPr kumimoji="0" lang="en-US" altLang="zh-TW" b="1" dirty="0">
                <a:solidFill>
                  <a:schemeClr val="accent3"/>
                </a:solidFill>
                <a:ea typeface="新細明體" pitchFamily="18" charset="-120"/>
                <a:sym typeface="Marker Felt" charset="0"/>
              </a:rPr>
              <a:t>(where is the problem?)</a:t>
            </a:r>
            <a:endParaRPr kumimoji="0" lang="zh-TW" altLang="en-US" b="1" dirty="0">
              <a:solidFill>
                <a:schemeClr val="accent3"/>
              </a:solidFill>
              <a:ea typeface="新細明體" pitchFamily="18" charset="-120"/>
              <a:sym typeface="Marker Felt" charset="0"/>
            </a:endParaRPr>
          </a:p>
        </p:txBody>
      </p:sp>
    </p:spTree>
    <p:extLst>
      <p:ext uri="{BB962C8B-B14F-4D97-AF65-F5344CB8AC3E}">
        <p14:creationId xmlns:p14="http://schemas.microsoft.com/office/powerpoint/2010/main" val="2949708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Find </a:t>
            </a:r>
            <a:r>
              <a:rPr lang="en-US" dirty="0" err="1"/>
              <a:t>Inorder</a:t>
            </a:r>
            <a:r>
              <a:rPr lang="en-US" dirty="0"/>
              <a:t> Successor in BST</a:t>
            </a:r>
          </a:p>
        </p:txBody>
      </p:sp>
      <p:sp>
        <p:nvSpPr>
          <p:cNvPr id="3" name="Content Placeholder 2"/>
          <p:cNvSpPr>
            <a:spLocks noGrp="1"/>
          </p:cNvSpPr>
          <p:nvPr>
            <p:ph idx="1"/>
          </p:nvPr>
        </p:nvSpPr>
        <p:spPr/>
        <p:txBody>
          <a:bodyPr>
            <a:normAutofit lnSpcReduction="10000"/>
          </a:bodyPr>
          <a:lstStyle/>
          <a:p>
            <a:r>
              <a:rPr lang="en-US" dirty="0"/>
              <a:t>How to find the </a:t>
            </a:r>
            <a:r>
              <a:rPr lang="en-US" dirty="0" err="1"/>
              <a:t>inorder</a:t>
            </a:r>
            <a:r>
              <a:rPr lang="en-US" dirty="0"/>
              <a:t> successor of a node in BST?</a:t>
            </a:r>
          </a:p>
          <a:p>
            <a:r>
              <a:rPr lang="en-US" dirty="0"/>
              <a:t>How many cases we have?</a:t>
            </a:r>
          </a:p>
          <a:p>
            <a:pPr lvl="1"/>
            <a:r>
              <a:rPr lang="en-US" dirty="0"/>
              <a:t>2: 3</a:t>
            </a:r>
          </a:p>
          <a:p>
            <a:pPr lvl="1"/>
            <a:r>
              <a:rPr lang="en-US" dirty="0"/>
              <a:t>4: 5</a:t>
            </a:r>
          </a:p>
          <a:p>
            <a:pPr lvl="1"/>
            <a:r>
              <a:rPr lang="en-US" dirty="0"/>
              <a:t>6: 7</a:t>
            </a:r>
          </a:p>
          <a:p>
            <a:pPr lvl="1"/>
            <a:r>
              <a:rPr lang="en-US" dirty="0"/>
              <a:t>3: 4</a:t>
            </a:r>
          </a:p>
          <a:p>
            <a:pPr lvl="1"/>
            <a:r>
              <a:rPr lang="en-US" dirty="0"/>
              <a:t>5: 6</a:t>
            </a:r>
          </a:p>
          <a:p>
            <a:pPr lvl="1"/>
            <a:r>
              <a:rPr lang="en-US" dirty="0"/>
              <a:t>8: 9</a:t>
            </a:r>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grpSp>
        <p:nvGrpSpPr>
          <p:cNvPr id="5" name="Group 50"/>
          <p:cNvGrpSpPr>
            <a:grpSpLocks/>
          </p:cNvGrpSpPr>
          <p:nvPr/>
        </p:nvGrpSpPr>
        <p:grpSpPr bwMode="auto">
          <a:xfrm>
            <a:off x="4313853" y="2951153"/>
            <a:ext cx="3786539" cy="3294245"/>
            <a:chOff x="3039" y="1820"/>
            <a:chExt cx="1746" cy="1519"/>
          </a:xfrm>
        </p:grpSpPr>
        <p:sp>
          <p:nvSpPr>
            <p:cNvPr id="6" name="Oval 28"/>
            <p:cNvSpPr>
              <a:spLocks noChangeAspect="1" noChangeArrowheads="1"/>
            </p:cNvSpPr>
            <p:nvPr/>
          </p:nvSpPr>
          <p:spPr bwMode="auto">
            <a:xfrm>
              <a:off x="3951" y="1820"/>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6</a:t>
              </a:r>
            </a:p>
          </p:txBody>
        </p:sp>
        <p:sp>
          <p:nvSpPr>
            <p:cNvPr id="7" name="Oval 29"/>
            <p:cNvSpPr>
              <a:spLocks noChangeAspect="1" noChangeArrowheads="1"/>
            </p:cNvSpPr>
            <p:nvPr/>
          </p:nvSpPr>
          <p:spPr bwMode="auto">
            <a:xfrm>
              <a:off x="4405" y="2275"/>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9</a:t>
              </a:r>
            </a:p>
          </p:txBody>
        </p:sp>
        <p:sp>
          <p:nvSpPr>
            <p:cNvPr id="8" name="Oval 30"/>
            <p:cNvSpPr>
              <a:spLocks noChangeAspect="1" noChangeArrowheads="1"/>
            </p:cNvSpPr>
            <p:nvPr/>
          </p:nvSpPr>
          <p:spPr bwMode="auto">
            <a:xfrm>
              <a:off x="3494" y="2275"/>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4</a:t>
              </a:r>
            </a:p>
          </p:txBody>
        </p:sp>
        <p:sp>
          <p:nvSpPr>
            <p:cNvPr id="9" name="Oval 31"/>
            <p:cNvSpPr>
              <a:spLocks noChangeAspect="1" noChangeArrowheads="1"/>
            </p:cNvSpPr>
            <p:nvPr/>
          </p:nvSpPr>
          <p:spPr bwMode="auto">
            <a:xfrm>
              <a:off x="3798" y="2732"/>
              <a:ext cx="153"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5</a:t>
              </a:r>
            </a:p>
          </p:txBody>
        </p:sp>
        <p:sp>
          <p:nvSpPr>
            <p:cNvPr id="10" name="Oval 33"/>
            <p:cNvSpPr>
              <a:spLocks noChangeAspect="1" noChangeArrowheads="1"/>
            </p:cNvSpPr>
            <p:nvPr/>
          </p:nvSpPr>
          <p:spPr bwMode="auto">
            <a:xfrm>
              <a:off x="3191" y="2732"/>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2</a:t>
              </a:r>
            </a:p>
          </p:txBody>
        </p:sp>
        <p:sp>
          <p:nvSpPr>
            <p:cNvPr id="11" name="Oval 34"/>
            <p:cNvSpPr>
              <a:spLocks noChangeAspect="1" noChangeArrowheads="1"/>
            </p:cNvSpPr>
            <p:nvPr/>
          </p:nvSpPr>
          <p:spPr bwMode="auto">
            <a:xfrm>
              <a:off x="4633" y="2732"/>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10</a:t>
              </a:r>
            </a:p>
          </p:txBody>
        </p:sp>
        <p:sp>
          <p:nvSpPr>
            <p:cNvPr id="12" name="Oval 35"/>
            <p:cNvSpPr>
              <a:spLocks noChangeAspect="1" noChangeArrowheads="1"/>
            </p:cNvSpPr>
            <p:nvPr/>
          </p:nvSpPr>
          <p:spPr bwMode="auto">
            <a:xfrm>
              <a:off x="4178" y="2732"/>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8</a:t>
              </a:r>
            </a:p>
          </p:txBody>
        </p:sp>
        <p:sp>
          <p:nvSpPr>
            <p:cNvPr id="13" name="Oval 36"/>
            <p:cNvSpPr>
              <a:spLocks noChangeAspect="1" noChangeArrowheads="1"/>
            </p:cNvSpPr>
            <p:nvPr/>
          </p:nvSpPr>
          <p:spPr bwMode="auto">
            <a:xfrm>
              <a:off x="3039" y="3187"/>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1</a:t>
              </a:r>
            </a:p>
          </p:txBody>
        </p:sp>
        <p:sp>
          <p:nvSpPr>
            <p:cNvPr id="14" name="Oval 37"/>
            <p:cNvSpPr>
              <a:spLocks noChangeAspect="1" noChangeArrowheads="1"/>
            </p:cNvSpPr>
            <p:nvPr/>
          </p:nvSpPr>
          <p:spPr bwMode="auto">
            <a:xfrm>
              <a:off x="3342" y="3187"/>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3</a:t>
              </a:r>
            </a:p>
          </p:txBody>
        </p:sp>
        <p:sp>
          <p:nvSpPr>
            <p:cNvPr id="15" name="Oval 38"/>
            <p:cNvSpPr>
              <a:spLocks noChangeAspect="1" noChangeArrowheads="1"/>
            </p:cNvSpPr>
            <p:nvPr/>
          </p:nvSpPr>
          <p:spPr bwMode="auto">
            <a:xfrm>
              <a:off x="4063" y="3187"/>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7</a:t>
              </a:r>
            </a:p>
          </p:txBody>
        </p:sp>
        <p:cxnSp>
          <p:nvCxnSpPr>
            <p:cNvPr id="16" name="AutoShape 39"/>
            <p:cNvCxnSpPr>
              <a:cxnSpLocks noChangeAspect="1" noChangeShapeType="1"/>
              <a:stCxn id="6" idx="4"/>
              <a:endCxn id="8" idx="0"/>
            </p:cNvCxnSpPr>
            <p:nvPr/>
          </p:nvCxnSpPr>
          <p:spPr bwMode="auto">
            <a:xfrm flipH="1">
              <a:off x="3571" y="1972"/>
              <a:ext cx="456" cy="30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7" name="AutoShape 40"/>
            <p:cNvCxnSpPr>
              <a:cxnSpLocks noChangeAspect="1" noChangeShapeType="1"/>
              <a:stCxn id="6" idx="4"/>
              <a:endCxn id="7" idx="0"/>
            </p:cNvCxnSpPr>
            <p:nvPr/>
          </p:nvCxnSpPr>
          <p:spPr bwMode="auto">
            <a:xfrm>
              <a:off x="4027" y="1972"/>
              <a:ext cx="455" cy="30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 name="AutoShape 41"/>
            <p:cNvCxnSpPr>
              <a:cxnSpLocks noChangeAspect="1" noChangeShapeType="1"/>
              <a:stCxn id="7" idx="4"/>
              <a:endCxn id="12" idx="0"/>
            </p:cNvCxnSpPr>
            <p:nvPr/>
          </p:nvCxnSpPr>
          <p:spPr bwMode="auto">
            <a:xfrm flipH="1">
              <a:off x="4254" y="2427"/>
              <a:ext cx="228" cy="30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9" name="AutoShape 42"/>
            <p:cNvCxnSpPr>
              <a:cxnSpLocks noChangeAspect="1" noChangeShapeType="1"/>
              <a:stCxn id="7" idx="4"/>
              <a:endCxn id="11" idx="0"/>
            </p:cNvCxnSpPr>
            <p:nvPr/>
          </p:nvCxnSpPr>
          <p:spPr bwMode="auto">
            <a:xfrm>
              <a:off x="4482" y="2427"/>
              <a:ext cx="227" cy="30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0" name="AutoShape 43"/>
            <p:cNvCxnSpPr>
              <a:cxnSpLocks noChangeAspect="1" noChangeShapeType="1"/>
              <a:stCxn id="8" idx="4"/>
              <a:endCxn id="10" idx="0"/>
            </p:cNvCxnSpPr>
            <p:nvPr/>
          </p:nvCxnSpPr>
          <p:spPr bwMode="auto">
            <a:xfrm flipH="1">
              <a:off x="3267" y="2427"/>
              <a:ext cx="304" cy="30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 name="AutoShape 45"/>
            <p:cNvCxnSpPr>
              <a:cxnSpLocks noChangeAspect="1" noChangeShapeType="1"/>
              <a:stCxn id="8" idx="4"/>
              <a:endCxn id="9" idx="0"/>
            </p:cNvCxnSpPr>
            <p:nvPr/>
          </p:nvCxnSpPr>
          <p:spPr bwMode="auto">
            <a:xfrm>
              <a:off x="3571" y="2427"/>
              <a:ext cx="304" cy="30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 name="AutoShape 46"/>
            <p:cNvCxnSpPr>
              <a:cxnSpLocks noChangeAspect="1" noChangeShapeType="1"/>
              <a:stCxn id="10" idx="4"/>
              <a:endCxn id="13" idx="0"/>
            </p:cNvCxnSpPr>
            <p:nvPr/>
          </p:nvCxnSpPr>
          <p:spPr bwMode="auto">
            <a:xfrm flipH="1">
              <a:off x="3115" y="2884"/>
              <a:ext cx="152" cy="30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 name="AutoShape 47"/>
            <p:cNvCxnSpPr>
              <a:cxnSpLocks noChangeAspect="1" noChangeShapeType="1"/>
              <a:stCxn id="10" idx="4"/>
              <a:endCxn id="14" idx="0"/>
            </p:cNvCxnSpPr>
            <p:nvPr/>
          </p:nvCxnSpPr>
          <p:spPr bwMode="auto">
            <a:xfrm>
              <a:off x="3267" y="2884"/>
              <a:ext cx="152" cy="30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 name="AutoShape 48"/>
            <p:cNvCxnSpPr>
              <a:cxnSpLocks noChangeAspect="1" noChangeShapeType="1"/>
              <a:stCxn id="12" idx="4"/>
              <a:endCxn id="15" idx="0"/>
            </p:cNvCxnSpPr>
            <p:nvPr/>
          </p:nvCxnSpPr>
          <p:spPr bwMode="auto">
            <a:xfrm flipH="1">
              <a:off x="4139" y="2884"/>
              <a:ext cx="115" cy="30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752347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Find </a:t>
            </a:r>
            <a:r>
              <a:rPr lang="en-US" dirty="0" err="1"/>
              <a:t>Inorder</a:t>
            </a:r>
            <a:r>
              <a:rPr lang="en-US" dirty="0"/>
              <a:t> Successor in BST</a:t>
            </a:r>
          </a:p>
        </p:txBody>
      </p:sp>
      <p:sp>
        <p:nvSpPr>
          <p:cNvPr id="3" name="Content Placeholder 2"/>
          <p:cNvSpPr>
            <a:spLocks noGrp="1"/>
          </p:cNvSpPr>
          <p:nvPr>
            <p:ph idx="1"/>
          </p:nvPr>
        </p:nvSpPr>
        <p:spPr>
          <a:xfrm>
            <a:off x="457200" y="1865076"/>
            <a:ext cx="8229600" cy="4525963"/>
          </a:xfrm>
        </p:spPr>
        <p:txBody>
          <a:bodyPr>
            <a:normAutofit fontScale="92500"/>
          </a:bodyPr>
          <a:lstStyle/>
          <a:p>
            <a:r>
              <a:rPr lang="en-US" dirty="0"/>
              <a:t>Two cases!</a:t>
            </a:r>
          </a:p>
          <a:p>
            <a:pPr lvl="1"/>
            <a:r>
              <a:rPr lang="en-US" dirty="0"/>
              <a:t>Minimum of right subtree</a:t>
            </a:r>
          </a:p>
          <a:p>
            <a:pPr lvl="2"/>
            <a:r>
              <a:rPr lang="en-US" dirty="0"/>
              <a:t>2: 3</a:t>
            </a:r>
          </a:p>
          <a:p>
            <a:pPr lvl="2"/>
            <a:r>
              <a:rPr lang="en-US" dirty="0"/>
              <a:t>4: 5</a:t>
            </a:r>
          </a:p>
          <a:p>
            <a:pPr lvl="2"/>
            <a:r>
              <a:rPr lang="en-US" dirty="0"/>
              <a:t>6: 7</a:t>
            </a:r>
          </a:p>
          <a:p>
            <a:pPr lvl="1"/>
            <a:r>
              <a:rPr lang="en-US" dirty="0"/>
              <a:t>Lowest ancestor whose left child is also an ancestor</a:t>
            </a:r>
          </a:p>
          <a:p>
            <a:pPr lvl="2"/>
            <a:r>
              <a:rPr lang="en-US" dirty="0"/>
              <a:t>3: 4</a:t>
            </a:r>
          </a:p>
          <a:p>
            <a:pPr lvl="2"/>
            <a:r>
              <a:rPr lang="en-US" dirty="0"/>
              <a:t>5: 6</a:t>
            </a:r>
          </a:p>
          <a:p>
            <a:pPr lvl="2"/>
            <a:r>
              <a:rPr lang="en-US" dirty="0"/>
              <a:t>8: 9</a:t>
            </a:r>
          </a:p>
          <a:p>
            <a:r>
              <a:rPr lang="en-US" dirty="0"/>
              <a:t>Question: which node will fail in the both cases?</a:t>
            </a:r>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grpSp>
        <p:nvGrpSpPr>
          <p:cNvPr id="5" name="Group 50"/>
          <p:cNvGrpSpPr>
            <a:grpSpLocks/>
          </p:cNvGrpSpPr>
          <p:nvPr/>
        </p:nvGrpSpPr>
        <p:grpSpPr bwMode="auto">
          <a:xfrm>
            <a:off x="5508104" y="1196752"/>
            <a:ext cx="3024336" cy="2871623"/>
            <a:chOff x="3039" y="1820"/>
            <a:chExt cx="1746" cy="1519"/>
          </a:xfrm>
        </p:grpSpPr>
        <p:sp>
          <p:nvSpPr>
            <p:cNvPr id="6" name="Oval 28"/>
            <p:cNvSpPr>
              <a:spLocks noChangeAspect="1" noChangeArrowheads="1"/>
            </p:cNvSpPr>
            <p:nvPr/>
          </p:nvSpPr>
          <p:spPr bwMode="auto">
            <a:xfrm>
              <a:off x="3951" y="1820"/>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6</a:t>
              </a:r>
            </a:p>
          </p:txBody>
        </p:sp>
        <p:sp>
          <p:nvSpPr>
            <p:cNvPr id="7" name="Oval 29"/>
            <p:cNvSpPr>
              <a:spLocks noChangeAspect="1" noChangeArrowheads="1"/>
            </p:cNvSpPr>
            <p:nvPr/>
          </p:nvSpPr>
          <p:spPr bwMode="auto">
            <a:xfrm>
              <a:off x="4405" y="2275"/>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9</a:t>
              </a:r>
            </a:p>
          </p:txBody>
        </p:sp>
        <p:sp>
          <p:nvSpPr>
            <p:cNvPr id="8" name="Oval 30"/>
            <p:cNvSpPr>
              <a:spLocks noChangeAspect="1" noChangeArrowheads="1"/>
            </p:cNvSpPr>
            <p:nvPr/>
          </p:nvSpPr>
          <p:spPr bwMode="auto">
            <a:xfrm>
              <a:off x="3494" y="2275"/>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4</a:t>
              </a:r>
            </a:p>
          </p:txBody>
        </p:sp>
        <p:sp>
          <p:nvSpPr>
            <p:cNvPr id="9" name="Oval 31"/>
            <p:cNvSpPr>
              <a:spLocks noChangeAspect="1" noChangeArrowheads="1"/>
            </p:cNvSpPr>
            <p:nvPr/>
          </p:nvSpPr>
          <p:spPr bwMode="auto">
            <a:xfrm>
              <a:off x="3798" y="2732"/>
              <a:ext cx="153"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5</a:t>
              </a:r>
            </a:p>
          </p:txBody>
        </p:sp>
        <p:sp>
          <p:nvSpPr>
            <p:cNvPr id="10" name="Oval 33"/>
            <p:cNvSpPr>
              <a:spLocks noChangeAspect="1" noChangeArrowheads="1"/>
            </p:cNvSpPr>
            <p:nvPr/>
          </p:nvSpPr>
          <p:spPr bwMode="auto">
            <a:xfrm>
              <a:off x="3191" y="2732"/>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2</a:t>
              </a:r>
            </a:p>
          </p:txBody>
        </p:sp>
        <p:sp>
          <p:nvSpPr>
            <p:cNvPr id="11" name="Oval 34"/>
            <p:cNvSpPr>
              <a:spLocks noChangeAspect="1" noChangeArrowheads="1"/>
            </p:cNvSpPr>
            <p:nvPr/>
          </p:nvSpPr>
          <p:spPr bwMode="auto">
            <a:xfrm>
              <a:off x="4633" y="2732"/>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10</a:t>
              </a:r>
            </a:p>
          </p:txBody>
        </p:sp>
        <p:sp>
          <p:nvSpPr>
            <p:cNvPr id="12" name="Oval 35"/>
            <p:cNvSpPr>
              <a:spLocks noChangeAspect="1" noChangeArrowheads="1"/>
            </p:cNvSpPr>
            <p:nvPr/>
          </p:nvSpPr>
          <p:spPr bwMode="auto">
            <a:xfrm>
              <a:off x="4178" y="2732"/>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8</a:t>
              </a:r>
            </a:p>
          </p:txBody>
        </p:sp>
        <p:sp>
          <p:nvSpPr>
            <p:cNvPr id="13" name="Oval 36"/>
            <p:cNvSpPr>
              <a:spLocks noChangeAspect="1" noChangeArrowheads="1"/>
            </p:cNvSpPr>
            <p:nvPr/>
          </p:nvSpPr>
          <p:spPr bwMode="auto">
            <a:xfrm>
              <a:off x="3039" y="3187"/>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1</a:t>
              </a:r>
            </a:p>
          </p:txBody>
        </p:sp>
        <p:sp>
          <p:nvSpPr>
            <p:cNvPr id="14" name="Oval 37"/>
            <p:cNvSpPr>
              <a:spLocks noChangeAspect="1" noChangeArrowheads="1"/>
            </p:cNvSpPr>
            <p:nvPr/>
          </p:nvSpPr>
          <p:spPr bwMode="auto">
            <a:xfrm>
              <a:off x="3342" y="3187"/>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3</a:t>
              </a:r>
            </a:p>
          </p:txBody>
        </p:sp>
        <p:sp>
          <p:nvSpPr>
            <p:cNvPr id="15" name="Oval 38"/>
            <p:cNvSpPr>
              <a:spLocks noChangeAspect="1" noChangeArrowheads="1"/>
            </p:cNvSpPr>
            <p:nvPr/>
          </p:nvSpPr>
          <p:spPr bwMode="auto">
            <a:xfrm>
              <a:off x="4063" y="3187"/>
              <a:ext cx="152" cy="152"/>
            </a:xfrm>
            <a:prstGeom prst="ellipse">
              <a:avLst/>
            </a:prstGeom>
            <a:solidFill>
              <a:schemeClr val="accent1"/>
            </a:solidFill>
            <a:ln w="9525" algn="ctr">
              <a:solidFill>
                <a:schemeClr val="tx1"/>
              </a:solidFill>
              <a:round/>
              <a:headEnd/>
              <a:tailEnd/>
            </a:ln>
          </p:spPr>
          <p:txBody>
            <a:bodyPr wrap="none" anchor="ctr"/>
            <a:lstStyle>
              <a:lvl1pPr>
                <a:spcBef>
                  <a:spcPct val="20000"/>
                </a:spcBef>
                <a:buChar char="•"/>
                <a:defRPr kumimoji="1" sz="3200">
                  <a:solidFill>
                    <a:schemeClr val="tx1"/>
                  </a:solidFill>
                  <a:latin typeface="Arial" pitchFamily="34" charset="0"/>
                  <a:ea typeface="新細明體" pitchFamily="18" charset="-120"/>
                </a:defRPr>
              </a:lvl1pPr>
              <a:lvl2pPr marL="742950" indent="-285750">
                <a:spcBef>
                  <a:spcPct val="20000"/>
                </a:spcBef>
                <a:buChar char="–"/>
                <a:defRPr kumimoji="1" sz="2800">
                  <a:solidFill>
                    <a:schemeClr val="tx1"/>
                  </a:solidFill>
                  <a:latin typeface="Arial" pitchFamily="34" charset="0"/>
                  <a:ea typeface="新細明體" pitchFamily="18" charset="-120"/>
                </a:defRPr>
              </a:lvl2pPr>
              <a:lvl3pPr marL="1143000" indent="-228600">
                <a:spcBef>
                  <a:spcPct val="20000"/>
                </a:spcBef>
                <a:buChar char="•"/>
                <a:defRPr kumimoji="1" sz="2400">
                  <a:solidFill>
                    <a:schemeClr val="tx1"/>
                  </a:solidFill>
                  <a:latin typeface="Arial" pitchFamily="34" charset="0"/>
                  <a:ea typeface="新細明體" pitchFamily="18" charset="-120"/>
                </a:defRPr>
              </a:lvl3pPr>
              <a:lvl4pPr marL="1600200" indent="-228600">
                <a:spcBef>
                  <a:spcPct val="20000"/>
                </a:spcBef>
                <a:buChar char="–"/>
                <a:defRPr kumimoji="1" sz="2000">
                  <a:solidFill>
                    <a:schemeClr val="tx1"/>
                  </a:solidFill>
                  <a:latin typeface="Arial" pitchFamily="34" charset="0"/>
                  <a:ea typeface="新細明體" pitchFamily="18" charset="-120"/>
                </a:defRPr>
              </a:lvl4pPr>
              <a:lvl5pPr marL="2057400" indent="-228600">
                <a:spcBef>
                  <a:spcPct val="20000"/>
                </a:spcBef>
                <a:buChar char="»"/>
                <a:defRPr kumimoji="1" sz="2000">
                  <a:solidFill>
                    <a:schemeClr val="tx1"/>
                  </a:solidFill>
                  <a:latin typeface="Arial" pitchFamily="34" charset="0"/>
                  <a:ea typeface="新細明體" pitchFamily="18" charset="-120"/>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新細明體" pitchFamily="18" charset="-120"/>
                </a:defRPr>
              </a:lvl9pPr>
            </a:lstStyle>
            <a:p>
              <a:pPr algn="ctr" eaLnBrk="1" hangingPunct="1">
                <a:spcBef>
                  <a:spcPct val="0"/>
                </a:spcBef>
                <a:buFontTx/>
                <a:buNone/>
              </a:pPr>
              <a:r>
                <a:rPr lang="en-US" altLang="zh-TW" sz="1200" i="1" dirty="0"/>
                <a:t>7</a:t>
              </a:r>
            </a:p>
          </p:txBody>
        </p:sp>
        <p:cxnSp>
          <p:nvCxnSpPr>
            <p:cNvPr id="16" name="AutoShape 39"/>
            <p:cNvCxnSpPr>
              <a:cxnSpLocks noChangeAspect="1" noChangeShapeType="1"/>
              <a:stCxn id="6" idx="4"/>
              <a:endCxn id="8" idx="0"/>
            </p:cNvCxnSpPr>
            <p:nvPr/>
          </p:nvCxnSpPr>
          <p:spPr bwMode="auto">
            <a:xfrm flipH="1">
              <a:off x="3571" y="1972"/>
              <a:ext cx="456" cy="30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7" name="AutoShape 40"/>
            <p:cNvCxnSpPr>
              <a:cxnSpLocks noChangeAspect="1" noChangeShapeType="1"/>
              <a:stCxn id="6" idx="4"/>
              <a:endCxn id="7" idx="0"/>
            </p:cNvCxnSpPr>
            <p:nvPr/>
          </p:nvCxnSpPr>
          <p:spPr bwMode="auto">
            <a:xfrm>
              <a:off x="4027" y="1972"/>
              <a:ext cx="455" cy="30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 name="AutoShape 41"/>
            <p:cNvCxnSpPr>
              <a:cxnSpLocks noChangeAspect="1" noChangeShapeType="1"/>
              <a:stCxn id="7" idx="4"/>
              <a:endCxn id="12" idx="0"/>
            </p:cNvCxnSpPr>
            <p:nvPr/>
          </p:nvCxnSpPr>
          <p:spPr bwMode="auto">
            <a:xfrm flipH="1">
              <a:off x="4254" y="2427"/>
              <a:ext cx="228" cy="30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9" name="AutoShape 42"/>
            <p:cNvCxnSpPr>
              <a:cxnSpLocks noChangeAspect="1" noChangeShapeType="1"/>
              <a:stCxn id="7" idx="4"/>
              <a:endCxn id="11" idx="0"/>
            </p:cNvCxnSpPr>
            <p:nvPr/>
          </p:nvCxnSpPr>
          <p:spPr bwMode="auto">
            <a:xfrm>
              <a:off x="4482" y="2427"/>
              <a:ext cx="227" cy="30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0" name="AutoShape 43"/>
            <p:cNvCxnSpPr>
              <a:cxnSpLocks noChangeAspect="1" noChangeShapeType="1"/>
              <a:stCxn id="8" idx="4"/>
              <a:endCxn id="10" idx="0"/>
            </p:cNvCxnSpPr>
            <p:nvPr/>
          </p:nvCxnSpPr>
          <p:spPr bwMode="auto">
            <a:xfrm flipH="1">
              <a:off x="3267" y="2427"/>
              <a:ext cx="304" cy="30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 name="AutoShape 45"/>
            <p:cNvCxnSpPr>
              <a:cxnSpLocks noChangeAspect="1" noChangeShapeType="1"/>
              <a:stCxn id="8" idx="4"/>
              <a:endCxn id="9" idx="0"/>
            </p:cNvCxnSpPr>
            <p:nvPr/>
          </p:nvCxnSpPr>
          <p:spPr bwMode="auto">
            <a:xfrm>
              <a:off x="3571" y="2427"/>
              <a:ext cx="304" cy="30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 name="AutoShape 46"/>
            <p:cNvCxnSpPr>
              <a:cxnSpLocks noChangeAspect="1" noChangeShapeType="1"/>
              <a:stCxn id="10" idx="4"/>
              <a:endCxn id="13" idx="0"/>
            </p:cNvCxnSpPr>
            <p:nvPr/>
          </p:nvCxnSpPr>
          <p:spPr bwMode="auto">
            <a:xfrm flipH="1">
              <a:off x="3115" y="2884"/>
              <a:ext cx="152" cy="30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 name="AutoShape 47"/>
            <p:cNvCxnSpPr>
              <a:cxnSpLocks noChangeAspect="1" noChangeShapeType="1"/>
              <a:stCxn id="10" idx="4"/>
              <a:endCxn id="14" idx="0"/>
            </p:cNvCxnSpPr>
            <p:nvPr/>
          </p:nvCxnSpPr>
          <p:spPr bwMode="auto">
            <a:xfrm>
              <a:off x="3267" y="2884"/>
              <a:ext cx="152" cy="30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 name="AutoShape 48"/>
            <p:cNvCxnSpPr>
              <a:cxnSpLocks noChangeAspect="1" noChangeShapeType="1"/>
              <a:stCxn id="12" idx="4"/>
              <a:endCxn id="15" idx="0"/>
            </p:cNvCxnSpPr>
            <p:nvPr/>
          </p:nvCxnSpPr>
          <p:spPr bwMode="auto">
            <a:xfrm flipH="1">
              <a:off x="4139" y="2884"/>
              <a:ext cx="115" cy="30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301671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a:t>
            </a:r>
            <a:r>
              <a:rPr lang="en-US" dirty="0" err="1"/>
              <a:t>Inorder</a:t>
            </a:r>
            <a:r>
              <a:rPr lang="en-US" dirty="0"/>
              <a:t> Successor in BST</a:t>
            </a:r>
          </a:p>
        </p:txBody>
      </p:sp>
      <p:sp>
        <p:nvSpPr>
          <p:cNvPr id="3" name="Content Placeholder 2"/>
          <p:cNvSpPr>
            <a:spLocks noGrp="1"/>
          </p:cNvSpPr>
          <p:nvPr>
            <p:ph idx="1"/>
          </p:nvPr>
        </p:nvSpPr>
        <p:spPr/>
        <p:txBody>
          <a:bodyPr/>
          <a:lstStyle/>
          <a:p>
            <a:r>
              <a:rPr lang="en-US" dirty="0"/>
              <a:t>For our current implementation of </a:t>
            </a:r>
            <a:r>
              <a:rPr lang="en-US" dirty="0" err="1"/>
              <a:t>bstCDT</a:t>
            </a:r>
            <a:r>
              <a:rPr lang="en-US" dirty="0"/>
              <a:t>, is the information enough for finding a successor?</a:t>
            </a:r>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sp>
        <p:nvSpPr>
          <p:cNvPr id="5" name="TextBox 4"/>
          <p:cNvSpPr txBox="1"/>
          <p:nvPr/>
        </p:nvSpPr>
        <p:spPr>
          <a:xfrm>
            <a:off x="3059832" y="3158966"/>
            <a:ext cx="2844048" cy="1200329"/>
          </a:xfrm>
          <a:prstGeom prst="rect">
            <a:avLst/>
          </a:prstGeom>
          <a:noFill/>
        </p:spPr>
        <p:txBody>
          <a:bodyPr wrap="none" rtlCol="0">
            <a:spAutoFit/>
          </a:bodyPr>
          <a:lstStyle/>
          <a:p>
            <a:r>
              <a:rPr lang="en-US" dirty="0">
                <a:solidFill>
                  <a:srgbClr val="0000FF"/>
                </a:solidFill>
                <a:highlight>
                  <a:srgbClr val="FFFFFF"/>
                </a:highlight>
                <a:latin typeface="Consolas"/>
              </a:rPr>
              <a:t>Class</a:t>
            </a:r>
            <a:r>
              <a:rPr lang="en-US" dirty="0">
                <a:solidFill>
                  <a:srgbClr val="000000"/>
                </a:solidFill>
                <a:highlight>
                  <a:srgbClr val="FFFFFF"/>
                </a:highlight>
                <a:latin typeface="Consolas"/>
              </a:rPr>
              <a:t> </a:t>
            </a:r>
            <a:r>
              <a:rPr lang="en-US" dirty="0" err="1">
                <a:solidFill>
                  <a:srgbClr val="2B91AF"/>
                </a:solidFill>
                <a:highlight>
                  <a:srgbClr val="FFFFFF"/>
                </a:highlight>
                <a:latin typeface="Consolas"/>
              </a:rPr>
              <a:t>bstCDT</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root: </a:t>
            </a:r>
            <a:r>
              <a:rPr lang="en-US" altLang="zh-CN" dirty="0" err="1">
                <a:solidFill>
                  <a:srgbClr val="2B91AF"/>
                </a:solidFill>
                <a:highlight>
                  <a:srgbClr val="FFFFFF"/>
                </a:highlight>
                <a:latin typeface="Consolas"/>
              </a:rPr>
              <a:t>treeNodeADT</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    left: </a:t>
            </a:r>
            <a:r>
              <a:rPr lang="en-US" altLang="zh-CN" dirty="0" err="1">
                <a:solidFill>
                  <a:srgbClr val="2B91AF"/>
                </a:solidFill>
                <a:highlight>
                  <a:srgbClr val="FFFFFF"/>
                </a:highlight>
                <a:latin typeface="Consolas"/>
              </a:rPr>
              <a:t>bstADT</a:t>
            </a:r>
            <a:r>
              <a:rPr lang="en-US" altLang="zh-CN" dirty="0">
                <a:solidFill>
                  <a:srgbClr val="000000"/>
                </a:solidFill>
                <a:highlight>
                  <a:srgbClr val="FFFFFF"/>
                </a:highlight>
                <a:latin typeface="Consolas"/>
              </a:rPr>
              <a:t> </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    right: </a:t>
            </a:r>
            <a:r>
              <a:rPr lang="en-US" altLang="zh-CN" dirty="0" err="1">
                <a:solidFill>
                  <a:srgbClr val="2B91AF"/>
                </a:solidFill>
                <a:highlight>
                  <a:srgbClr val="FFFFFF"/>
                </a:highlight>
                <a:latin typeface="Consolas"/>
              </a:rPr>
              <a:t>bstADT</a:t>
            </a:r>
            <a:endParaRPr lang="en-US" dirty="0">
              <a:solidFill>
                <a:srgbClr val="000000"/>
              </a:solidFill>
              <a:highlight>
                <a:srgbClr val="FFFFFF"/>
              </a:highlight>
              <a:latin typeface="Consolas"/>
            </a:endParaRPr>
          </a:p>
        </p:txBody>
      </p:sp>
    </p:spTree>
    <p:extLst>
      <p:ext uri="{BB962C8B-B14F-4D97-AF65-F5344CB8AC3E}">
        <p14:creationId xmlns:p14="http://schemas.microsoft.com/office/powerpoint/2010/main" val="1241168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sp>
        <p:nvSpPr>
          <p:cNvPr id="3" name="Content Placeholder 2"/>
          <p:cNvSpPr>
            <a:spLocks noGrp="1"/>
          </p:cNvSpPr>
          <p:nvPr>
            <p:ph idx="1"/>
          </p:nvPr>
        </p:nvSpPr>
        <p:spPr/>
        <p:txBody>
          <a:bodyPr/>
          <a:lstStyle/>
          <a:p>
            <a:r>
              <a:rPr lang="en-US" dirty="0"/>
              <a:t>Implement the following function</a:t>
            </a:r>
          </a:p>
          <a:p>
            <a:endParaRPr lang="en-US" dirty="0"/>
          </a:p>
          <a:p>
            <a:r>
              <a:rPr lang="en-US" dirty="0"/>
              <a:t>The definition of </a:t>
            </a:r>
            <a:r>
              <a:rPr lang="en-US" dirty="0" err="1"/>
              <a:t>bstCDT</a:t>
            </a:r>
            <a:r>
              <a:rPr lang="en-US" dirty="0"/>
              <a:t> is as follows</a:t>
            </a:r>
          </a:p>
          <a:p>
            <a:endParaRPr lang="en-US" dirty="0"/>
          </a:p>
          <a:p>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sp>
        <p:nvSpPr>
          <p:cNvPr id="5" name="TextBox 4"/>
          <p:cNvSpPr txBox="1"/>
          <p:nvPr/>
        </p:nvSpPr>
        <p:spPr>
          <a:xfrm>
            <a:off x="2483768" y="2204864"/>
            <a:ext cx="4320480" cy="369332"/>
          </a:xfrm>
          <a:prstGeom prst="rect">
            <a:avLst/>
          </a:prstGeom>
          <a:noFill/>
        </p:spPr>
        <p:txBody>
          <a:bodyPr wrap="square" rtlCol="0">
            <a:spAutoFit/>
          </a:bodyPr>
          <a:lstStyle/>
          <a:p>
            <a:r>
              <a:rPr lang="en-US" dirty="0">
                <a:solidFill>
                  <a:srgbClr val="2B91AF"/>
                </a:solidFill>
                <a:highlight>
                  <a:srgbClr val="FFFFFF"/>
                </a:highlight>
                <a:latin typeface="Consolas"/>
              </a:rPr>
              <a:t>Func </a:t>
            </a:r>
            <a:r>
              <a:rPr lang="en-US" dirty="0" err="1">
                <a:solidFill>
                  <a:srgbClr val="000000"/>
                </a:solidFill>
                <a:highlight>
                  <a:srgbClr val="FFFFFF"/>
                </a:highlight>
                <a:latin typeface="Consolas"/>
              </a:rPr>
              <a:t>FindSuccessor</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bstADT</a:t>
            </a:r>
            <a:r>
              <a:rPr lang="en-US" dirty="0">
                <a:solidFill>
                  <a:srgbClr val="000000"/>
                </a:solidFill>
                <a:highlight>
                  <a:srgbClr val="FFFFFF"/>
                </a:highlight>
                <a:latin typeface="Consolas"/>
              </a:rPr>
              <a:t> n)</a:t>
            </a:r>
            <a:endParaRPr lang="en-US" dirty="0"/>
          </a:p>
        </p:txBody>
      </p:sp>
      <p:sp>
        <p:nvSpPr>
          <p:cNvPr id="6" name="TextBox 5"/>
          <p:cNvSpPr txBox="1"/>
          <p:nvPr/>
        </p:nvSpPr>
        <p:spPr>
          <a:xfrm>
            <a:off x="2915816" y="3356992"/>
            <a:ext cx="2844048" cy="1477328"/>
          </a:xfrm>
          <a:prstGeom prst="rect">
            <a:avLst/>
          </a:prstGeom>
          <a:noFill/>
        </p:spPr>
        <p:txBody>
          <a:bodyPr wrap="none" rtlCol="0">
            <a:spAutoFit/>
          </a:bodyPr>
          <a:lstStyle/>
          <a:p>
            <a:r>
              <a:rPr lang="en-US" altLang="zh-CN" dirty="0">
                <a:solidFill>
                  <a:srgbClr val="0000FF"/>
                </a:solidFill>
                <a:highlight>
                  <a:srgbClr val="FFFFFF"/>
                </a:highlight>
                <a:latin typeface="Consolas"/>
              </a:rPr>
              <a:t>Class</a:t>
            </a:r>
            <a:r>
              <a:rPr lang="en-US" altLang="zh-CN" dirty="0">
                <a:solidFill>
                  <a:srgbClr val="000000"/>
                </a:solidFill>
                <a:highlight>
                  <a:srgbClr val="FFFFFF"/>
                </a:highlight>
                <a:latin typeface="Consolas"/>
              </a:rPr>
              <a:t> </a:t>
            </a:r>
            <a:r>
              <a:rPr lang="en-US" altLang="zh-CN" dirty="0" err="1">
                <a:solidFill>
                  <a:srgbClr val="2B91AF"/>
                </a:solidFill>
                <a:highlight>
                  <a:srgbClr val="FFFFFF"/>
                </a:highlight>
                <a:latin typeface="Consolas"/>
              </a:rPr>
              <a:t>bstCDT</a:t>
            </a:r>
            <a:r>
              <a:rPr lang="en-US" altLang="zh-CN" dirty="0">
                <a:solidFill>
                  <a:srgbClr val="000000"/>
                </a:solidFill>
                <a:highlight>
                  <a:srgbClr val="FFFFFF"/>
                </a:highlight>
                <a:latin typeface="Consolas"/>
              </a:rPr>
              <a:t>:</a:t>
            </a:r>
          </a:p>
          <a:p>
            <a:r>
              <a:rPr lang="en-US" altLang="zh-CN" dirty="0">
                <a:solidFill>
                  <a:srgbClr val="000000"/>
                </a:solidFill>
                <a:highlight>
                  <a:srgbClr val="FFFFFF"/>
                </a:highlight>
                <a:latin typeface="Consolas"/>
              </a:rPr>
              <a:t>    root: </a:t>
            </a:r>
            <a:r>
              <a:rPr lang="en-US" altLang="zh-CN" dirty="0" err="1">
                <a:solidFill>
                  <a:srgbClr val="2B91AF"/>
                </a:solidFill>
                <a:highlight>
                  <a:srgbClr val="FFFFFF"/>
                </a:highlight>
                <a:latin typeface="Consolas"/>
              </a:rPr>
              <a:t>treeNodeADT</a:t>
            </a:r>
            <a:endParaRPr lang="en-US" altLang="zh-CN" dirty="0">
              <a:solidFill>
                <a:srgbClr val="000000"/>
              </a:solidFill>
              <a:highlight>
                <a:srgbClr val="FFFFFF"/>
              </a:highlight>
              <a:latin typeface="Consolas"/>
            </a:endParaRPr>
          </a:p>
          <a:p>
            <a:r>
              <a:rPr lang="en-US" altLang="zh-CN" dirty="0">
                <a:solidFill>
                  <a:srgbClr val="000000"/>
                </a:solidFill>
                <a:highlight>
                  <a:srgbClr val="FFFFFF"/>
                </a:highlight>
                <a:latin typeface="Consolas"/>
              </a:rPr>
              <a:t>    left: </a:t>
            </a:r>
            <a:r>
              <a:rPr lang="en-US" altLang="zh-CN" dirty="0" err="1">
                <a:solidFill>
                  <a:srgbClr val="2B91AF"/>
                </a:solidFill>
                <a:highlight>
                  <a:srgbClr val="FFFFFF"/>
                </a:highlight>
                <a:latin typeface="Consolas"/>
              </a:rPr>
              <a:t>bstADT</a:t>
            </a:r>
            <a:r>
              <a:rPr lang="en-US" altLang="zh-CN" dirty="0">
                <a:solidFill>
                  <a:srgbClr val="000000"/>
                </a:solidFill>
                <a:highlight>
                  <a:srgbClr val="FFFFFF"/>
                </a:highlight>
                <a:latin typeface="Consolas"/>
              </a:rPr>
              <a:t> </a:t>
            </a:r>
          </a:p>
          <a:p>
            <a:r>
              <a:rPr lang="en-US" altLang="zh-CN" dirty="0">
                <a:solidFill>
                  <a:srgbClr val="000000"/>
                </a:solidFill>
                <a:highlight>
                  <a:srgbClr val="FFFFFF"/>
                </a:highlight>
                <a:latin typeface="Consolas"/>
              </a:rPr>
              <a:t>    right: </a:t>
            </a:r>
            <a:r>
              <a:rPr lang="en-US" altLang="zh-CN" dirty="0" err="1">
                <a:solidFill>
                  <a:srgbClr val="2B91AF"/>
                </a:solidFill>
                <a:highlight>
                  <a:srgbClr val="FFFFFF"/>
                </a:highlight>
                <a:latin typeface="Consolas"/>
              </a:rPr>
              <a:t>bstADT</a:t>
            </a:r>
            <a:endParaRPr lang="en-US" altLang="zh-CN" dirty="0">
              <a:solidFill>
                <a:srgbClr val="2B91AF"/>
              </a:solidFill>
              <a:highlight>
                <a:srgbClr val="FFFFFF"/>
              </a:highlight>
              <a:latin typeface="Consolas"/>
            </a:endParaRPr>
          </a:p>
          <a:p>
            <a:r>
              <a:rPr lang="en-US" altLang="zh-CN" dirty="0">
                <a:solidFill>
                  <a:srgbClr val="000000"/>
                </a:solidFill>
                <a:highlight>
                  <a:srgbClr val="FFFFFF"/>
                </a:highlight>
                <a:latin typeface="Consolas"/>
              </a:rPr>
              <a:t>    parent: </a:t>
            </a:r>
            <a:r>
              <a:rPr lang="en-US" altLang="zh-CN" dirty="0" err="1">
                <a:solidFill>
                  <a:srgbClr val="2B91AF"/>
                </a:solidFill>
                <a:highlight>
                  <a:srgbClr val="FFFFFF"/>
                </a:highlight>
                <a:latin typeface="Consolas"/>
              </a:rPr>
              <a:t>bstADT</a:t>
            </a:r>
            <a:endParaRPr lang="en-US" altLang="zh-CN" dirty="0">
              <a:solidFill>
                <a:srgbClr val="000000"/>
              </a:solidFill>
              <a:highlight>
                <a:srgbClr val="FFFFFF"/>
              </a:highlight>
              <a:latin typeface="Consolas"/>
            </a:endParaRPr>
          </a:p>
        </p:txBody>
      </p:sp>
    </p:spTree>
    <p:extLst>
      <p:ext uri="{BB962C8B-B14F-4D97-AF65-F5344CB8AC3E}">
        <p14:creationId xmlns:p14="http://schemas.microsoft.com/office/powerpoint/2010/main" val="1057259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 Solution</a:t>
            </a:r>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sp>
        <p:nvSpPr>
          <p:cNvPr id="5" name="TextBox 4"/>
          <p:cNvSpPr txBox="1"/>
          <p:nvPr/>
        </p:nvSpPr>
        <p:spPr>
          <a:xfrm>
            <a:off x="1763688" y="2636912"/>
            <a:ext cx="184731" cy="369332"/>
          </a:xfrm>
          <a:prstGeom prst="rect">
            <a:avLst/>
          </a:prstGeom>
          <a:noFill/>
        </p:spPr>
        <p:txBody>
          <a:bodyPr wrap="none" rtlCol="0">
            <a:spAutoFit/>
          </a:bodyPr>
          <a:lstStyle/>
          <a:p>
            <a:endParaRPr lang="en-US" dirty="0"/>
          </a:p>
        </p:txBody>
      </p:sp>
      <p:sp>
        <p:nvSpPr>
          <p:cNvPr id="6" name="TextBox 5"/>
          <p:cNvSpPr txBox="1"/>
          <p:nvPr/>
        </p:nvSpPr>
        <p:spPr>
          <a:xfrm>
            <a:off x="1691680" y="1340768"/>
            <a:ext cx="5250155" cy="4247317"/>
          </a:xfrm>
          <a:prstGeom prst="rect">
            <a:avLst/>
          </a:prstGeom>
          <a:noFill/>
        </p:spPr>
        <p:txBody>
          <a:bodyPr wrap="none" rtlCol="0">
            <a:spAutoFit/>
          </a:bodyPr>
          <a:lstStyle/>
          <a:p>
            <a:r>
              <a:rPr lang="en-US" dirty="0">
                <a:solidFill>
                  <a:srgbClr val="2B91AF"/>
                </a:solidFill>
                <a:highlight>
                  <a:srgbClr val="FFFFFF"/>
                </a:highlight>
                <a:latin typeface="Consolas"/>
              </a:rPr>
              <a:t>Func</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FindSuccessor</a:t>
            </a:r>
            <a:r>
              <a:rPr lang="en-US" dirty="0">
                <a:solidFill>
                  <a:srgbClr val="000000"/>
                </a:solidFill>
                <a:highlight>
                  <a:srgbClr val="FFFFFF"/>
                </a:highlight>
                <a:latin typeface="Consolas"/>
              </a:rPr>
              <a:t>(</a:t>
            </a:r>
            <a:r>
              <a:rPr lang="en-US" dirty="0" err="1">
                <a:solidFill>
                  <a:srgbClr val="2B91AF"/>
                </a:solidFill>
                <a:highlight>
                  <a:srgbClr val="FFFFFF"/>
                </a:highlight>
                <a:latin typeface="Consolas"/>
              </a:rPr>
              <a:t>bstADT</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n</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if</a:t>
            </a:r>
            <a:r>
              <a:rPr lang="en-US" dirty="0">
                <a:solidFill>
                  <a:srgbClr val="000000"/>
                </a:solidFill>
                <a:highlight>
                  <a:srgbClr val="FFFFFF"/>
                </a:highlight>
                <a:latin typeface="Consolas"/>
              </a:rPr>
              <a:t> </a:t>
            </a:r>
            <a:r>
              <a:rPr lang="en-US" dirty="0" err="1">
                <a:solidFill>
                  <a:srgbClr val="808080"/>
                </a:solidFill>
                <a:highlight>
                  <a:srgbClr val="FFFFFF"/>
                </a:highlight>
                <a:latin typeface="Consolas"/>
              </a:rPr>
              <a:t>n</a:t>
            </a:r>
            <a:r>
              <a:rPr lang="en-US" dirty="0" err="1">
                <a:solidFill>
                  <a:srgbClr val="000000"/>
                </a:solidFill>
                <a:highlight>
                  <a:srgbClr val="FFFFFF"/>
                </a:highlight>
                <a:latin typeface="Consolas"/>
              </a:rPr>
              <a:t>.right</a:t>
            </a:r>
            <a:r>
              <a:rPr lang="en-US" dirty="0">
                <a:solidFill>
                  <a:srgbClr val="000000"/>
                </a:solidFill>
                <a:highlight>
                  <a:srgbClr val="FFFFFF"/>
                </a:highlight>
                <a:latin typeface="Consolas"/>
              </a:rPr>
              <a:t> != </a:t>
            </a:r>
            <a:r>
              <a:rPr lang="en-US" dirty="0">
                <a:solidFill>
                  <a:srgbClr val="6F008A"/>
                </a:solidFill>
                <a:highlight>
                  <a:srgbClr val="FFFFFF"/>
                </a:highlight>
                <a:latin typeface="Consolas"/>
              </a:rPr>
              <a:t>None:</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go to right subtree</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n</a:t>
            </a:r>
            <a:r>
              <a:rPr lang="en-US" dirty="0">
                <a:solidFill>
                  <a:srgbClr val="000000"/>
                </a:solidFill>
                <a:highlight>
                  <a:srgbClr val="FFFFFF"/>
                </a:highlight>
                <a:latin typeface="Consolas"/>
              </a:rPr>
              <a:t> = </a:t>
            </a:r>
            <a:r>
              <a:rPr lang="en-US" dirty="0" err="1">
                <a:solidFill>
                  <a:srgbClr val="808080"/>
                </a:solidFill>
                <a:highlight>
                  <a:srgbClr val="FFFFFF"/>
                </a:highlight>
                <a:latin typeface="Consolas"/>
              </a:rPr>
              <a:t>n</a:t>
            </a:r>
            <a:r>
              <a:rPr lang="en-US" dirty="0" err="1">
                <a:solidFill>
                  <a:srgbClr val="000000"/>
                </a:solidFill>
                <a:highlight>
                  <a:srgbClr val="FFFFFF"/>
                </a:highlight>
                <a:latin typeface="Consolas"/>
              </a:rPr>
              <a:t>.right</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while</a:t>
            </a:r>
            <a:r>
              <a:rPr lang="en-US" dirty="0">
                <a:solidFill>
                  <a:srgbClr val="000000"/>
                </a:solidFill>
                <a:highlight>
                  <a:srgbClr val="FFFFFF"/>
                </a:highlight>
                <a:latin typeface="Consolas"/>
              </a:rPr>
              <a:t> </a:t>
            </a:r>
            <a:r>
              <a:rPr lang="en-US" dirty="0" err="1">
                <a:solidFill>
                  <a:srgbClr val="000000"/>
                </a:solidFill>
                <a:highlight>
                  <a:srgbClr val="FFFFFF"/>
                </a:highlight>
                <a:latin typeface="Consolas"/>
              </a:rPr>
              <a:t>n.left</a:t>
            </a:r>
            <a:r>
              <a:rPr lang="en-US" dirty="0">
                <a:solidFill>
                  <a:srgbClr val="000000"/>
                </a:solidFill>
                <a:highlight>
                  <a:srgbClr val="FFFFFF"/>
                </a:highlight>
                <a:latin typeface="Consolas"/>
              </a:rPr>
              <a:t> != </a:t>
            </a:r>
            <a:r>
              <a:rPr lang="en-US" dirty="0">
                <a:solidFill>
                  <a:srgbClr val="6F008A"/>
                </a:solidFill>
                <a:highlight>
                  <a:srgbClr val="FFFFFF"/>
                </a:highlight>
                <a:latin typeface="Consolas"/>
              </a:rPr>
              <a:t>None:</a:t>
            </a:r>
            <a:r>
              <a:rPr lang="en-US" dirty="0">
                <a:solidFill>
                  <a:srgbClr val="000000"/>
                </a:solidFill>
                <a:highlight>
                  <a:srgbClr val="FFFFFF"/>
                </a:highlight>
                <a:latin typeface="Consolas"/>
              </a:rPr>
              <a:t> </a:t>
            </a:r>
          </a:p>
          <a:p>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n</a:t>
            </a:r>
            <a:r>
              <a:rPr lang="en-US" dirty="0">
                <a:solidFill>
                  <a:srgbClr val="000000"/>
                </a:solidFill>
                <a:highlight>
                  <a:srgbClr val="FFFFFF"/>
                </a:highlight>
                <a:latin typeface="Consolas"/>
              </a:rPr>
              <a:t> = </a:t>
            </a:r>
            <a:r>
              <a:rPr lang="en-US" dirty="0" err="1">
                <a:solidFill>
                  <a:srgbClr val="808080"/>
                </a:solidFill>
                <a:highlight>
                  <a:srgbClr val="FFFFFF"/>
                </a:highlight>
                <a:latin typeface="Consolas"/>
              </a:rPr>
              <a:t>n.</a:t>
            </a:r>
            <a:r>
              <a:rPr lang="en-US" dirty="0" err="1">
                <a:solidFill>
                  <a:srgbClr val="000000"/>
                </a:solidFill>
                <a:highlight>
                  <a:srgbClr val="FFFFFF"/>
                </a:highlight>
                <a:latin typeface="Consolas"/>
              </a:rPr>
              <a:t>left</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n</a:t>
            </a:r>
            <a:endParaRPr lang="en-US" dirty="0">
              <a:solidFill>
                <a:srgbClr val="000000"/>
              </a:solidFill>
              <a:highlight>
                <a:srgbClr val="FFFFFF"/>
              </a:highlight>
              <a:latin typeface="Consolas"/>
            </a:endParaRPr>
          </a:p>
          <a:p>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else</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        </a:t>
            </a:r>
            <a:r>
              <a:rPr lang="en-US" dirty="0">
                <a:solidFill>
                  <a:srgbClr val="008000"/>
                </a:solidFill>
                <a:highlight>
                  <a:srgbClr val="FFFFFF"/>
                </a:highlight>
                <a:latin typeface="Consolas"/>
              </a:rPr>
              <a:t>// trace back to ancestors</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        p = </a:t>
            </a:r>
            <a:r>
              <a:rPr lang="en-US" dirty="0" err="1">
                <a:solidFill>
                  <a:srgbClr val="808080"/>
                </a:solidFill>
                <a:highlight>
                  <a:srgbClr val="FFFFFF"/>
                </a:highlight>
                <a:latin typeface="Consolas"/>
              </a:rPr>
              <a:t>n</a:t>
            </a:r>
            <a:r>
              <a:rPr lang="en-US" dirty="0" err="1">
                <a:solidFill>
                  <a:srgbClr val="000000"/>
                </a:solidFill>
                <a:highlight>
                  <a:srgbClr val="FFFFFF"/>
                </a:highlight>
                <a:latin typeface="Consolas"/>
              </a:rPr>
              <a:t>.parent</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while</a:t>
            </a:r>
            <a:r>
              <a:rPr lang="en-US" dirty="0">
                <a:solidFill>
                  <a:srgbClr val="000000"/>
                </a:solidFill>
                <a:highlight>
                  <a:srgbClr val="FFFFFF"/>
                </a:highlight>
                <a:latin typeface="Consolas"/>
              </a:rPr>
              <a:t> p != </a:t>
            </a:r>
            <a:r>
              <a:rPr lang="en-US" dirty="0">
                <a:solidFill>
                  <a:srgbClr val="6F008A"/>
                </a:solidFill>
                <a:highlight>
                  <a:srgbClr val="FFFFFF"/>
                </a:highlight>
                <a:latin typeface="Consolas"/>
              </a:rPr>
              <a:t>None</a:t>
            </a:r>
            <a:r>
              <a:rPr lang="en-US" dirty="0">
                <a:solidFill>
                  <a:srgbClr val="000000"/>
                </a:solidFill>
                <a:highlight>
                  <a:srgbClr val="FFFFFF"/>
                </a:highlight>
                <a:latin typeface="Consolas"/>
              </a:rPr>
              <a:t> and </a:t>
            </a:r>
            <a:r>
              <a:rPr lang="en-US" dirty="0" err="1">
                <a:solidFill>
                  <a:srgbClr val="000000"/>
                </a:solidFill>
                <a:highlight>
                  <a:srgbClr val="FFFFFF"/>
                </a:highlight>
                <a:latin typeface="Consolas"/>
              </a:rPr>
              <a:t>p.left</a:t>
            </a:r>
            <a:r>
              <a:rPr lang="en-US" dirty="0">
                <a:solidFill>
                  <a:srgbClr val="000000"/>
                </a:solidFill>
                <a:highlight>
                  <a:srgbClr val="FFFFFF"/>
                </a:highlight>
                <a:latin typeface="Consolas"/>
              </a:rPr>
              <a:t> != </a:t>
            </a:r>
            <a:r>
              <a:rPr lang="en-US" dirty="0">
                <a:solidFill>
                  <a:srgbClr val="808080"/>
                </a:solidFill>
                <a:highlight>
                  <a:srgbClr val="FFFFFF"/>
                </a:highlight>
                <a:latin typeface="Consolas"/>
              </a:rPr>
              <a:t>n</a:t>
            </a:r>
            <a:r>
              <a:rPr lang="en-US" dirty="0">
                <a:solidFill>
                  <a:srgbClr val="000000"/>
                </a:solidFill>
                <a:highlight>
                  <a:srgbClr val="FFFFFF"/>
                </a:highlight>
                <a:latin typeface="Consolas"/>
              </a:rPr>
              <a:t>:</a:t>
            </a:r>
          </a:p>
          <a:p>
            <a:r>
              <a:rPr lang="en-US" dirty="0">
                <a:solidFill>
                  <a:srgbClr val="000000"/>
                </a:solidFill>
                <a:highlight>
                  <a:srgbClr val="FFFFFF"/>
                </a:highlight>
                <a:latin typeface="Consolas"/>
              </a:rPr>
              <a:t>            </a:t>
            </a:r>
            <a:r>
              <a:rPr lang="en-US" dirty="0">
                <a:solidFill>
                  <a:srgbClr val="808080"/>
                </a:solidFill>
                <a:highlight>
                  <a:srgbClr val="FFFFFF"/>
                </a:highlight>
                <a:latin typeface="Consolas"/>
              </a:rPr>
              <a:t>n</a:t>
            </a:r>
            <a:r>
              <a:rPr lang="en-US" dirty="0">
                <a:solidFill>
                  <a:srgbClr val="000000"/>
                </a:solidFill>
                <a:highlight>
                  <a:srgbClr val="FFFFFF"/>
                </a:highlight>
                <a:latin typeface="Consolas"/>
              </a:rPr>
              <a:t> = p</a:t>
            </a:r>
          </a:p>
          <a:p>
            <a:r>
              <a:rPr lang="en-US" dirty="0">
                <a:solidFill>
                  <a:srgbClr val="000000"/>
                </a:solidFill>
                <a:highlight>
                  <a:srgbClr val="FFFFFF"/>
                </a:highlight>
                <a:latin typeface="Consolas"/>
              </a:rPr>
              <a:t>            p = </a:t>
            </a:r>
            <a:r>
              <a:rPr lang="en-US" dirty="0" err="1">
                <a:solidFill>
                  <a:srgbClr val="808080"/>
                </a:solidFill>
                <a:highlight>
                  <a:srgbClr val="FFFFFF"/>
                </a:highlight>
                <a:latin typeface="Consolas"/>
              </a:rPr>
              <a:t>n</a:t>
            </a:r>
            <a:r>
              <a:rPr lang="en-US" dirty="0" err="1">
                <a:solidFill>
                  <a:srgbClr val="000000"/>
                </a:solidFill>
                <a:highlight>
                  <a:srgbClr val="FFFFFF"/>
                </a:highlight>
                <a:latin typeface="Consolas"/>
              </a:rPr>
              <a:t>.parent</a:t>
            </a:r>
            <a:endParaRPr lang="en-US" dirty="0">
              <a:solidFill>
                <a:srgbClr val="000000"/>
              </a:solidFill>
              <a:highlight>
                <a:srgbClr val="FFFFFF"/>
              </a:highlight>
              <a:latin typeface="Consolas"/>
            </a:endParaRPr>
          </a:p>
          <a:p>
            <a:r>
              <a:rPr lang="en-US" dirty="0">
                <a:solidFill>
                  <a:srgbClr val="000000"/>
                </a:solidFill>
                <a:highlight>
                  <a:srgbClr val="FFFFFF"/>
                </a:highlight>
                <a:latin typeface="Consolas"/>
              </a:rPr>
              <a:t>        </a:t>
            </a:r>
            <a:r>
              <a:rPr lang="en-US" dirty="0">
                <a:solidFill>
                  <a:srgbClr val="0000FF"/>
                </a:solidFill>
                <a:highlight>
                  <a:srgbClr val="FFFFFF"/>
                </a:highlight>
                <a:latin typeface="Consolas"/>
              </a:rPr>
              <a:t>return</a:t>
            </a:r>
            <a:r>
              <a:rPr lang="en-US" dirty="0">
                <a:solidFill>
                  <a:srgbClr val="000000"/>
                </a:solidFill>
                <a:highlight>
                  <a:srgbClr val="FFFFFF"/>
                </a:highlight>
                <a:latin typeface="Consolas"/>
              </a:rPr>
              <a:t> p</a:t>
            </a:r>
          </a:p>
        </p:txBody>
      </p:sp>
    </p:spTree>
    <p:extLst>
      <p:ext uri="{BB962C8B-B14F-4D97-AF65-F5344CB8AC3E}">
        <p14:creationId xmlns:p14="http://schemas.microsoft.com/office/powerpoint/2010/main" val="1348819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practices</a:t>
            </a:r>
          </a:p>
        </p:txBody>
      </p:sp>
      <p:sp>
        <p:nvSpPr>
          <p:cNvPr id="3" name="Content Placeholder 2"/>
          <p:cNvSpPr>
            <a:spLocks noGrp="1"/>
          </p:cNvSpPr>
          <p:nvPr>
            <p:ph idx="1"/>
          </p:nvPr>
        </p:nvSpPr>
        <p:spPr/>
        <p:txBody>
          <a:bodyPr/>
          <a:lstStyle/>
          <a:p>
            <a:r>
              <a:rPr lang="en-US" dirty="0">
                <a:hlinkClick r:id="rId2"/>
              </a:rPr>
              <a:t>https://leetcode.com/tag/tree/</a:t>
            </a:r>
            <a:endParaRPr lang="en-US" dirty="0"/>
          </a:p>
          <a:p>
            <a:pPr lvl="1"/>
            <a:r>
              <a:rPr lang="en-US" dirty="0">
                <a:hlinkClick r:id="rId3"/>
              </a:rPr>
              <a:t>https://leetcode.com/problems/binary-tree-inorder-traversal/#/description</a:t>
            </a:r>
            <a:endParaRPr lang="en-US" dirty="0"/>
          </a:p>
          <a:p>
            <a:pPr lvl="1"/>
            <a:r>
              <a:rPr lang="en-US" dirty="0">
                <a:hlinkClick r:id="rId4"/>
              </a:rPr>
              <a:t>https://leetcode.com/problems/construct-binary-tree-from-preorder-and-inorder-traversal/#/description</a:t>
            </a:r>
            <a:endParaRPr lang="en-US" dirty="0"/>
          </a:p>
          <a:p>
            <a:pPr marL="457200" lvl="1" indent="0">
              <a:buNone/>
            </a:pPr>
            <a:br>
              <a:rPr lang="en-US" dirty="0"/>
            </a:br>
            <a:endParaRPr lang="en-US" dirty="0"/>
          </a:p>
          <a:p>
            <a:endParaRPr lang="en-US" dirty="0"/>
          </a:p>
        </p:txBody>
      </p:sp>
      <p:sp>
        <p:nvSpPr>
          <p:cNvPr id="4" name="Footer Placeholder 3"/>
          <p:cNvSpPr>
            <a:spLocks noGrp="1"/>
          </p:cNvSpPr>
          <p:nvPr>
            <p:ph type="ftr" sz="quarter" idx="11"/>
          </p:nvPr>
        </p:nvSpPr>
        <p:spPr/>
        <p:txBody>
          <a:bodyPr/>
          <a:lstStyle/>
          <a:p>
            <a:r>
              <a:rPr lang="en-US" altLang="zh-CN"/>
              <a:t>CSCI2520 Tutorial 7</a:t>
            </a:r>
            <a:endParaRPr lang="zh-CN" altLang="en-US"/>
          </a:p>
        </p:txBody>
      </p:sp>
    </p:spTree>
    <p:extLst>
      <p:ext uri="{BB962C8B-B14F-4D97-AF65-F5344CB8AC3E}">
        <p14:creationId xmlns:p14="http://schemas.microsoft.com/office/powerpoint/2010/main" val="236718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DF61F-6F48-6639-764D-7B5696D85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49BF8-43F4-C3CA-691B-9DE1B87ADE89}"/>
              </a:ext>
            </a:extLst>
          </p:cNvPr>
          <p:cNvSpPr>
            <a:spLocks noGrp="1"/>
          </p:cNvSpPr>
          <p:nvPr>
            <p:ph type="title"/>
          </p:nvPr>
        </p:nvSpPr>
        <p:spPr/>
        <p:txBody>
          <a:bodyPr/>
          <a:lstStyle/>
          <a:p>
            <a:r>
              <a:rPr lang="en-US" altLang="zh-CN" dirty="0"/>
              <a:t>Midterm 2 Time &amp; Scope</a:t>
            </a:r>
            <a:endParaRPr lang="en-US" dirty="0"/>
          </a:p>
        </p:txBody>
      </p:sp>
      <p:sp>
        <p:nvSpPr>
          <p:cNvPr id="4" name="Footer Placeholder 3">
            <a:extLst>
              <a:ext uri="{FF2B5EF4-FFF2-40B4-BE49-F238E27FC236}">
                <a16:creationId xmlns:a16="http://schemas.microsoft.com/office/drawing/2014/main" id="{BD752785-D13B-9D5E-7F58-1D7909D7376F}"/>
              </a:ext>
            </a:extLst>
          </p:cNvPr>
          <p:cNvSpPr>
            <a:spLocks noGrp="1"/>
          </p:cNvSpPr>
          <p:nvPr>
            <p:ph type="ftr" sz="quarter" idx="11"/>
          </p:nvPr>
        </p:nvSpPr>
        <p:spPr/>
        <p:txBody>
          <a:bodyPr/>
          <a:lstStyle/>
          <a:p>
            <a:r>
              <a:rPr lang="en-US" altLang="zh-CN"/>
              <a:t>CSCI2520 Tutorial 7</a:t>
            </a:r>
            <a:endParaRPr lang="zh-CN" altLang="en-US"/>
          </a:p>
        </p:txBody>
      </p:sp>
      <p:sp>
        <p:nvSpPr>
          <p:cNvPr id="9" name="Content Placeholder 2">
            <a:extLst>
              <a:ext uri="{FF2B5EF4-FFF2-40B4-BE49-F238E27FC236}">
                <a16:creationId xmlns:a16="http://schemas.microsoft.com/office/drawing/2014/main" id="{339F77B1-7537-1284-79CB-316CE00B85EB}"/>
              </a:ext>
            </a:extLst>
          </p:cNvPr>
          <p:cNvSpPr>
            <a:spLocks noGrp="1"/>
          </p:cNvSpPr>
          <p:nvPr>
            <p:ph idx="1"/>
          </p:nvPr>
        </p:nvSpPr>
        <p:spPr>
          <a:xfrm>
            <a:off x="457200" y="1556792"/>
            <a:ext cx="8229600" cy="4525963"/>
          </a:xfrm>
        </p:spPr>
        <p:txBody>
          <a:bodyPr>
            <a:normAutofit/>
          </a:bodyPr>
          <a:lstStyle/>
          <a:p>
            <a:r>
              <a:rPr lang="en-US" altLang="zh-CN" sz="2800" b="1" dirty="0"/>
              <a:t>The second mid-term exam will be held on Mar 23 (Monday), 2026, from 2:30pm to 3:50pm (Hong Kong time)</a:t>
            </a:r>
          </a:p>
          <a:p>
            <a:r>
              <a:rPr lang="en-US" altLang="zh-CN" sz="2800" dirty="0"/>
              <a:t>The coverage of mid-term exam 2 includes </a:t>
            </a:r>
            <a:r>
              <a:rPr lang="en-US" altLang="zh-CN" sz="2800" b="1" dirty="0"/>
              <a:t>Lists</a:t>
            </a:r>
            <a:r>
              <a:rPr lang="en-US" altLang="zh-CN" sz="2800" dirty="0"/>
              <a:t>, </a:t>
            </a:r>
            <a:r>
              <a:rPr lang="en-US" altLang="zh-CN" sz="2800" b="1" dirty="0"/>
              <a:t>Complexity Analysis, Selection Sort</a:t>
            </a:r>
            <a:r>
              <a:rPr lang="en-US" altLang="zh-CN" sz="2800" dirty="0"/>
              <a:t>, </a:t>
            </a:r>
            <a:r>
              <a:rPr lang="en-US" altLang="zh-CN" sz="2800" b="1" dirty="0"/>
              <a:t>Merge Sort</a:t>
            </a:r>
            <a:r>
              <a:rPr lang="en-US" altLang="zh-CN" sz="2800" dirty="0"/>
              <a:t>, </a:t>
            </a:r>
            <a:r>
              <a:rPr lang="en-US" altLang="zh-CN" sz="2800" b="1" dirty="0"/>
              <a:t>Quick Sort</a:t>
            </a:r>
            <a:r>
              <a:rPr lang="en-US" altLang="zh-CN" sz="2800" dirty="0"/>
              <a:t>, and </a:t>
            </a:r>
            <a:r>
              <a:rPr lang="en-US" altLang="zh-CN" sz="2800" b="1" dirty="0"/>
              <a:t>BST</a:t>
            </a:r>
            <a:r>
              <a:rPr lang="en-US" altLang="zh-CN" sz="2800" dirty="0"/>
              <a:t> (but not balanced BST).</a:t>
            </a:r>
          </a:p>
        </p:txBody>
      </p:sp>
    </p:spTree>
    <p:extLst>
      <p:ext uri="{BB962C8B-B14F-4D97-AF65-F5344CB8AC3E}">
        <p14:creationId xmlns:p14="http://schemas.microsoft.com/office/powerpoint/2010/main" val="1617938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FA6F2-BCCE-4CEB-02D4-F52FBDC16C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30780-18DD-3D1C-94B7-D902BD904E8B}"/>
              </a:ext>
            </a:extLst>
          </p:cNvPr>
          <p:cNvSpPr>
            <a:spLocks noGrp="1"/>
          </p:cNvSpPr>
          <p:nvPr>
            <p:ph type="title"/>
          </p:nvPr>
        </p:nvSpPr>
        <p:spPr/>
        <p:txBody>
          <a:bodyPr/>
          <a:lstStyle/>
          <a:p>
            <a:r>
              <a:rPr lang="en-US" dirty="0"/>
              <a:t>List</a:t>
            </a:r>
          </a:p>
        </p:txBody>
      </p:sp>
      <p:sp>
        <p:nvSpPr>
          <p:cNvPr id="4" name="Footer Placeholder 3">
            <a:extLst>
              <a:ext uri="{FF2B5EF4-FFF2-40B4-BE49-F238E27FC236}">
                <a16:creationId xmlns:a16="http://schemas.microsoft.com/office/drawing/2014/main" id="{206284AE-FF7B-8855-7349-3B49FAF5C824}"/>
              </a:ext>
            </a:extLst>
          </p:cNvPr>
          <p:cNvSpPr>
            <a:spLocks noGrp="1"/>
          </p:cNvSpPr>
          <p:nvPr>
            <p:ph type="ftr" sz="quarter" idx="11"/>
          </p:nvPr>
        </p:nvSpPr>
        <p:spPr/>
        <p:txBody>
          <a:bodyPr/>
          <a:lstStyle/>
          <a:p>
            <a:r>
              <a:rPr lang="en-US" altLang="zh-CN"/>
              <a:t>CSCI2520 Tutorial 7</a:t>
            </a:r>
            <a:endParaRPr lang="zh-CN" altLang="en-US"/>
          </a:p>
        </p:txBody>
      </p:sp>
      <p:pic>
        <p:nvPicPr>
          <p:cNvPr id="7" name="图片 6">
            <a:extLst>
              <a:ext uri="{FF2B5EF4-FFF2-40B4-BE49-F238E27FC236}">
                <a16:creationId xmlns:a16="http://schemas.microsoft.com/office/drawing/2014/main" id="{30791FED-0D55-1664-C75E-4C5406D960FF}"/>
              </a:ext>
            </a:extLst>
          </p:cNvPr>
          <p:cNvPicPr>
            <a:picLocks noChangeAspect="1"/>
          </p:cNvPicPr>
          <p:nvPr/>
        </p:nvPicPr>
        <p:blipFill>
          <a:blip r:embed="rId2"/>
          <a:stretch>
            <a:fillRect/>
          </a:stretch>
        </p:blipFill>
        <p:spPr>
          <a:xfrm>
            <a:off x="1453425" y="2060848"/>
            <a:ext cx="6237150" cy="2482230"/>
          </a:xfrm>
          <a:prstGeom prst="rect">
            <a:avLst/>
          </a:prstGeom>
        </p:spPr>
      </p:pic>
    </p:spTree>
    <p:extLst>
      <p:ext uri="{BB962C8B-B14F-4D97-AF65-F5344CB8AC3E}">
        <p14:creationId xmlns:p14="http://schemas.microsoft.com/office/powerpoint/2010/main" val="3141383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0E11B-659B-C32B-3330-67A7C4BBE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54D89-09B7-0770-ADA7-1D17C77CF35F}"/>
              </a:ext>
            </a:extLst>
          </p:cNvPr>
          <p:cNvSpPr>
            <a:spLocks noGrp="1"/>
          </p:cNvSpPr>
          <p:nvPr>
            <p:ph type="title"/>
          </p:nvPr>
        </p:nvSpPr>
        <p:spPr/>
        <p:txBody>
          <a:bodyPr/>
          <a:lstStyle/>
          <a:p>
            <a:r>
              <a:rPr lang="en-US" dirty="0"/>
              <a:t>List</a:t>
            </a:r>
          </a:p>
        </p:txBody>
      </p:sp>
      <p:sp>
        <p:nvSpPr>
          <p:cNvPr id="4" name="Footer Placeholder 3">
            <a:extLst>
              <a:ext uri="{FF2B5EF4-FFF2-40B4-BE49-F238E27FC236}">
                <a16:creationId xmlns:a16="http://schemas.microsoft.com/office/drawing/2014/main" id="{B6A5122C-ECFB-5D78-4508-DFCED9499CC7}"/>
              </a:ext>
            </a:extLst>
          </p:cNvPr>
          <p:cNvSpPr>
            <a:spLocks noGrp="1"/>
          </p:cNvSpPr>
          <p:nvPr>
            <p:ph type="ftr" sz="quarter" idx="11"/>
          </p:nvPr>
        </p:nvSpPr>
        <p:spPr/>
        <p:txBody>
          <a:bodyPr/>
          <a:lstStyle/>
          <a:p>
            <a:r>
              <a:rPr lang="en-US" altLang="zh-CN"/>
              <a:t>CSCI2520 Tutorial 7</a:t>
            </a:r>
            <a:endParaRPr lang="zh-CN" altLang="en-US"/>
          </a:p>
        </p:txBody>
      </p:sp>
      <p:pic>
        <p:nvPicPr>
          <p:cNvPr id="6" name="图片 5">
            <a:extLst>
              <a:ext uri="{FF2B5EF4-FFF2-40B4-BE49-F238E27FC236}">
                <a16:creationId xmlns:a16="http://schemas.microsoft.com/office/drawing/2014/main" id="{30462FB0-3636-9414-17E2-F304D3DFF0B0}"/>
              </a:ext>
            </a:extLst>
          </p:cNvPr>
          <p:cNvPicPr>
            <a:picLocks noChangeAspect="1"/>
          </p:cNvPicPr>
          <p:nvPr/>
        </p:nvPicPr>
        <p:blipFill>
          <a:blip r:embed="rId2"/>
          <a:stretch>
            <a:fillRect/>
          </a:stretch>
        </p:blipFill>
        <p:spPr>
          <a:xfrm>
            <a:off x="834942" y="1772816"/>
            <a:ext cx="7474116" cy="3708990"/>
          </a:xfrm>
          <a:prstGeom prst="rect">
            <a:avLst/>
          </a:prstGeom>
        </p:spPr>
      </p:pic>
    </p:spTree>
    <p:extLst>
      <p:ext uri="{BB962C8B-B14F-4D97-AF65-F5344CB8AC3E}">
        <p14:creationId xmlns:p14="http://schemas.microsoft.com/office/powerpoint/2010/main" val="1226483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FB5FD-F51B-3D3C-39AA-3B9E1C566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90469-CD0C-A376-E6D4-7C52D0A8476D}"/>
              </a:ext>
            </a:extLst>
          </p:cNvPr>
          <p:cNvSpPr>
            <a:spLocks noGrp="1"/>
          </p:cNvSpPr>
          <p:nvPr>
            <p:ph type="title"/>
          </p:nvPr>
        </p:nvSpPr>
        <p:spPr/>
        <p:txBody>
          <a:bodyPr/>
          <a:lstStyle/>
          <a:p>
            <a:r>
              <a:rPr lang="en-US" altLang="zh-CN" dirty="0"/>
              <a:t>Complexity Analysis</a:t>
            </a:r>
            <a:endParaRPr lang="en-US" dirty="0"/>
          </a:p>
        </p:txBody>
      </p:sp>
      <p:sp>
        <p:nvSpPr>
          <p:cNvPr id="4" name="Footer Placeholder 3">
            <a:extLst>
              <a:ext uri="{FF2B5EF4-FFF2-40B4-BE49-F238E27FC236}">
                <a16:creationId xmlns:a16="http://schemas.microsoft.com/office/drawing/2014/main" id="{826FEFF7-E938-51C9-EB5C-88FD8EE0F34D}"/>
              </a:ext>
            </a:extLst>
          </p:cNvPr>
          <p:cNvSpPr>
            <a:spLocks noGrp="1"/>
          </p:cNvSpPr>
          <p:nvPr>
            <p:ph type="ftr" sz="quarter" idx="11"/>
          </p:nvPr>
        </p:nvSpPr>
        <p:spPr/>
        <p:txBody>
          <a:bodyPr/>
          <a:lstStyle/>
          <a:p>
            <a:r>
              <a:rPr lang="en-US" altLang="zh-CN"/>
              <a:t>CSCI2520 Tutorial 7</a:t>
            </a:r>
            <a:endParaRPr lang="zh-CN" altLang="en-US"/>
          </a:p>
        </p:txBody>
      </p:sp>
      <p:pic>
        <p:nvPicPr>
          <p:cNvPr id="6" name="图片 5">
            <a:extLst>
              <a:ext uri="{FF2B5EF4-FFF2-40B4-BE49-F238E27FC236}">
                <a16:creationId xmlns:a16="http://schemas.microsoft.com/office/drawing/2014/main" id="{7AF34841-3246-6906-5A84-C369E9E23A3A}"/>
              </a:ext>
            </a:extLst>
          </p:cNvPr>
          <p:cNvPicPr>
            <a:picLocks noChangeAspect="1"/>
          </p:cNvPicPr>
          <p:nvPr/>
        </p:nvPicPr>
        <p:blipFill>
          <a:blip r:embed="rId2"/>
          <a:stretch>
            <a:fillRect/>
          </a:stretch>
        </p:blipFill>
        <p:spPr>
          <a:xfrm>
            <a:off x="714176" y="1628800"/>
            <a:ext cx="7715647" cy="3905451"/>
          </a:xfrm>
          <a:prstGeom prst="rect">
            <a:avLst/>
          </a:prstGeom>
        </p:spPr>
      </p:pic>
    </p:spTree>
    <p:extLst>
      <p:ext uri="{BB962C8B-B14F-4D97-AF65-F5344CB8AC3E}">
        <p14:creationId xmlns:p14="http://schemas.microsoft.com/office/powerpoint/2010/main" val="1977244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238DE-197E-38C2-9C3B-B3125759D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D494A-7888-97E3-4C76-93A70EE3F745}"/>
              </a:ext>
            </a:extLst>
          </p:cNvPr>
          <p:cNvSpPr>
            <a:spLocks noGrp="1"/>
          </p:cNvSpPr>
          <p:nvPr>
            <p:ph type="title"/>
          </p:nvPr>
        </p:nvSpPr>
        <p:spPr/>
        <p:txBody>
          <a:bodyPr/>
          <a:lstStyle/>
          <a:p>
            <a:r>
              <a:rPr lang="en-US" altLang="zh-CN" dirty="0"/>
              <a:t>Complexity Analysis</a:t>
            </a:r>
            <a:endParaRPr lang="en-US" dirty="0"/>
          </a:p>
        </p:txBody>
      </p:sp>
      <p:sp>
        <p:nvSpPr>
          <p:cNvPr id="4" name="Footer Placeholder 3">
            <a:extLst>
              <a:ext uri="{FF2B5EF4-FFF2-40B4-BE49-F238E27FC236}">
                <a16:creationId xmlns:a16="http://schemas.microsoft.com/office/drawing/2014/main" id="{30C164F5-A1CE-074B-31E7-69BCD087372B}"/>
              </a:ext>
            </a:extLst>
          </p:cNvPr>
          <p:cNvSpPr>
            <a:spLocks noGrp="1"/>
          </p:cNvSpPr>
          <p:nvPr>
            <p:ph type="ftr" sz="quarter" idx="11"/>
          </p:nvPr>
        </p:nvSpPr>
        <p:spPr/>
        <p:txBody>
          <a:bodyPr/>
          <a:lstStyle/>
          <a:p>
            <a:r>
              <a:rPr lang="en-US" altLang="zh-CN"/>
              <a:t>CSCI2520 Tutorial 7</a:t>
            </a:r>
            <a:endParaRPr lang="zh-CN" altLang="en-US"/>
          </a:p>
        </p:txBody>
      </p:sp>
      <p:sp>
        <p:nvSpPr>
          <p:cNvPr id="5" name="文本框 4">
            <a:extLst>
              <a:ext uri="{FF2B5EF4-FFF2-40B4-BE49-F238E27FC236}">
                <a16:creationId xmlns:a16="http://schemas.microsoft.com/office/drawing/2014/main" id="{F818E40A-197C-42D8-96D5-831E94403E34}"/>
              </a:ext>
            </a:extLst>
          </p:cNvPr>
          <p:cNvSpPr txBox="1"/>
          <p:nvPr/>
        </p:nvSpPr>
        <p:spPr>
          <a:xfrm>
            <a:off x="898984" y="1417638"/>
            <a:ext cx="7346032" cy="1015663"/>
          </a:xfrm>
          <a:prstGeom prst="rect">
            <a:avLst/>
          </a:prstGeom>
          <a:noFill/>
        </p:spPr>
        <p:txBody>
          <a:bodyPr wrap="square">
            <a:spAutoFit/>
          </a:bodyPr>
          <a:lstStyle/>
          <a:p>
            <a:r>
              <a:rPr lang="en-US" altLang="zh-CN" sz="2000" dirty="0"/>
              <a:t>Write down the time complexity for each of the following functions. Express your answers using the big-O notation in terms of the input size and give the tightest possible time complexity.</a:t>
            </a:r>
            <a:endParaRPr lang="zh-CN" altLang="en-US" sz="2000" dirty="0"/>
          </a:p>
        </p:txBody>
      </p:sp>
      <p:sp>
        <p:nvSpPr>
          <p:cNvPr id="8" name="文本框 7">
            <a:extLst>
              <a:ext uri="{FF2B5EF4-FFF2-40B4-BE49-F238E27FC236}">
                <a16:creationId xmlns:a16="http://schemas.microsoft.com/office/drawing/2014/main" id="{A75D67F3-2310-A821-61DE-D00E9351ED0F}"/>
              </a:ext>
            </a:extLst>
          </p:cNvPr>
          <p:cNvSpPr txBox="1"/>
          <p:nvPr/>
        </p:nvSpPr>
        <p:spPr>
          <a:xfrm>
            <a:off x="2194430" y="2734219"/>
            <a:ext cx="2365648" cy="2308324"/>
          </a:xfrm>
          <a:prstGeom prst="rect">
            <a:avLst/>
          </a:prstGeom>
          <a:noFill/>
        </p:spPr>
        <p:txBody>
          <a:bodyPr wrap="square">
            <a:spAutoFit/>
          </a:bodyPr>
          <a:lstStyle/>
          <a:p>
            <a:r>
              <a:rPr lang="en-US" altLang="zh-CN" dirty="0"/>
              <a:t>Func f(n: int)</a:t>
            </a:r>
          </a:p>
          <a:p>
            <a:r>
              <a:rPr lang="en-US" altLang="zh-CN" dirty="0"/>
              <a:t>    sum = 0;</a:t>
            </a:r>
          </a:p>
          <a:p>
            <a:r>
              <a:rPr lang="en-US" altLang="zh-CN" dirty="0"/>
              <a:t>    for </a:t>
            </a:r>
            <a:r>
              <a:rPr lang="en-US" altLang="zh-CN" dirty="0" err="1"/>
              <a:t>i</a:t>
            </a:r>
            <a:r>
              <a:rPr lang="en-US" altLang="zh-CN" dirty="0"/>
              <a:t> = 1 to n: </a:t>
            </a:r>
          </a:p>
          <a:p>
            <a:r>
              <a:rPr lang="en-US" altLang="zh-CN" dirty="0"/>
              <a:t>        for j = i to n:</a:t>
            </a:r>
          </a:p>
          <a:p>
            <a:r>
              <a:rPr lang="en-US" altLang="zh-CN" dirty="0"/>
              <a:t>            sum = sum + j</a:t>
            </a:r>
          </a:p>
          <a:p>
            <a:r>
              <a:rPr lang="en-US" altLang="zh-CN" dirty="0"/>
              <a:t>            j = j + </a:t>
            </a:r>
            <a:r>
              <a:rPr lang="en-US" altLang="zh-CN" dirty="0" err="1"/>
              <a:t>i</a:t>
            </a:r>
            <a:endParaRPr lang="en-US" altLang="zh-CN" dirty="0"/>
          </a:p>
          <a:p>
            <a:r>
              <a:rPr lang="en-US" altLang="zh-CN" dirty="0"/>
              <a:t>     i = </a:t>
            </a:r>
            <a:r>
              <a:rPr lang="en-US" altLang="zh-CN" dirty="0" err="1"/>
              <a:t>i</a:t>
            </a:r>
            <a:r>
              <a:rPr lang="en-US" altLang="zh-CN" dirty="0"/>
              <a:t> + 1</a:t>
            </a:r>
          </a:p>
          <a:p>
            <a:r>
              <a:rPr lang="en-US" altLang="zh-CN" dirty="0"/>
              <a:t>   return sum</a:t>
            </a:r>
          </a:p>
        </p:txBody>
      </p:sp>
      <p:sp>
        <p:nvSpPr>
          <p:cNvPr id="10" name="文本框 9">
            <a:extLst>
              <a:ext uri="{FF2B5EF4-FFF2-40B4-BE49-F238E27FC236}">
                <a16:creationId xmlns:a16="http://schemas.microsoft.com/office/drawing/2014/main" id="{81932A34-B756-5D6B-6E25-26B9C66E8DC5}"/>
              </a:ext>
            </a:extLst>
          </p:cNvPr>
          <p:cNvSpPr txBox="1"/>
          <p:nvPr/>
        </p:nvSpPr>
        <p:spPr>
          <a:xfrm>
            <a:off x="5148064" y="2731445"/>
            <a:ext cx="2622885" cy="2862322"/>
          </a:xfrm>
          <a:prstGeom prst="rect">
            <a:avLst/>
          </a:prstGeom>
          <a:noFill/>
        </p:spPr>
        <p:txBody>
          <a:bodyPr wrap="square">
            <a:spAutoFit/>
          </a:bodyPr>
          <a:lstStyle/>
          <a:p>
            <a:r>
              <a:rPr lang="en-US" altLang="zh-CN" dirty="0"/>
              <a:t>Func f(n: int)</a:t>
            </a:r>
          </a:p>
          <a:p>
            <a:r>
              <a:rPr lang="en-US" altLang="zh-CN" dirty="0"/>
              <a:t>    if n == 0 then</a:t>
            </a:r>
          </a:p>
          <a:p>
            <a:r>
              <a:rPr lang="en-US" altLang="zh-CN" dirty="0"/>
              <a:t>        return 0</a:t>
            </a:r>
          </a:p>
          <a:p>
            <a:endParaRPr lang="en-US" altLang="zh-CN" dirty="0"/>
          </a:p>
          <a:p>
            <a:r>
              <a:rPr lang="en-US" altLang="zh-CN" dirty="0"/>
              <a:t>    sum = f(n - 1)</a:t>
            </a:r>
          </a:p>
          <a:p>
            <a:endParaRPr lang="en-US" altLang="zh-CN" dirty="0"/>
          </a:p>
          <a:p>
            <a:r>
              <a:rPr lang="en-US" altLang="zh-CN" dirty="0"/>
              <a:t>    for </a:t>
            </a:r>
            <a:r>
              <a:rPr lang="en-US" altLang="zh-CN" dirty="0" err="1"/>
              <a:t>i</a:t>
            </a:r>
            <a:r>
              <a:rPr lang="en-US" altLang="zh-CN" dirty="0"/>
              <a:t> = 1 to n:</a:t>
            </a:r>
          </a:p>
          <a:p>
            <a:r>
              <a:rPr lang="en-US" altLang="zh-CN" dirty="0"/>
              <a:t>        for j = 1 to i:</a:t>
            </a:r>
          </a:p>
          <a:p>
            <a:r>
              <a:rPr lang="en-US" altLang="zh-CN" dirty="0"/>
              <a:t>            sum = sum + (</a:t>
            </a:r>
            <a:r>
              <a:rPr lang="en-US" altLang="zh-CN" dirty="0" err="1"/>
              <a:t>i</a:t>
            </a:r>
            <a:r>
              <a:rPr lang="en-US" altLang="zh-CN" dirty="0"/>
              <a:t> * j)    </a:t>
            </a:r>
          </a:p>
          <a:p>
            <a:r>
              <a:rPr lang="en-US" altLang="zh-CN" dirty="0"/>
              <a:t>    return sum</a:t>
            </a:r>
          </a:p>
        </p:txBody>
      </p:sp>
    </p:spTree>
    <p:extLst>
      <p:ext uri="{BB962C8B-B14F-4D97-AF65-F5344CB8AC3E}">
        <p14:creationId xmlns:p14="http://schemas.microsoft.com/office/powerpoint/2010/main" val="1202355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C8B85-0510-4151-3DFE-467B57CB2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88BA5-3A0D-51B0-068B-38C02AF16FB3}"/>
              </a:ext>
            </a:extLst>
          </p:cNvPr>
          <p:cNvSpPr>
            <a:spLocks noGrp="1"/>
          </p:cNvSpPr>
          <p:nvPr>
            <p:ph type="title"/>
          </p:nvPr>
        </p:nvSpPr>
        <p:spPr>
          <a:xfrm>
            <a:off x="2358662" y="274638"/>
            <a:ext cx="4402832" cy="1143000"/>
          </a:xfrm>
        </p:spPr>
        <p:txBody>
          <a:bodyPr>
            <a:normAutofit fontScale="90000"/>
          </a:bodyPr>
          <a:lstStyle/>
          <a:p>
            <a:r>
              <a:rPr lang="en-US" altLang="zh-CN" dirty="0"/>
              <a:t>Sorting Algorithms</a:t>
            </a:r>
            <a:endParaRPr lang="en-US" dirty="0"/>
          </a:p>
        </p:txBody>
      </p:sp>
      <p:sp>
        <p:nvSpPr>
          <p:cNvPr id="4" name="Footer Placeholder 3">
            <a:extLst>
              <a:ext uri="{FF2B5EF4-FFF2-40B4-BE49-F238E27FC236}">
                <a16:creationId xmlns:a16="http://schemas.microsoft.com/office/drawing/2014/main" id="{E6FCCEDE-6853-E4C1-25FD-C50C080A58C1}"/>
              </a:ext>
            </a:extLst>
          </p:cNvPr>
          <p:cNvSpPr>
            <a:spLocks noGrp="1"/>
          </p:cNvSpPr>
          <p:nvPr>
            <p:ph type="ftr" sz="quarter" idx="11"/>
          </p:nvPr>
        </p:nvSpPr>
        <p:spPr/>
        <p:txBody>
          <a:bodyPr/>
          <a:lstStyle/>
          <a:p>
            <a:r>
              <a:rPr lang="en-US" altLang="zh-CN"/>
              <a:t>CSCI2520 Tutorial 7</a:t>
            </a:r>
            <a:endParaRPr lang="zh-CN" altLang="en-US"/>
          </a:p>
        </p:txBody>
      </p:sp>
      <p:sp>
        <p:nvSpPr>
          <p:cNvPr id="5" name="文本框 4">
            <a:extLst>
              <a:ext uri="{FF2B5EF4-FFF2-40B4-BE49-F238E27FC236}">
                <a16:creationId xmlns:a16="http://schemas.microsoft.com/office/drawing/2014/main" id="{07DE5DC7-E17A-58AF-BBBB-D7C5AB16FCB5}"/>
              </a:ext>
            </a:extLst>
          </p:cNvPr>
          <p:cNvSpPr txBox="1"/>
          <p:nvPr/>
        </p:nvSpPr>
        <p:spPr>
          <a:xfrm>
            <a:off x="611256" y="1628800"/>
            <a:ext cx="7921488" cy="1631216"/>
          </a:xfrm>
          <a:prstGeom prst="rect">
            <a:avLst/>
          </a:prstGeom>
          <a:noFill/>
        </p:spPr>
        <p:txBody>
          <a:bodyPr wrap="square">
            <a:spAutoFit/>
          </a:bodyPr>
          <a:lstStyle/>
          <a:p>
            <a:pPr lvl="0"/>
            <a:r>
              <a:rPr lang="en-US" altLang="zh-CN" sz="2000" dirty="0"/>
              <a:t>For each of the three sorting algorithms below, give its time complexity in the worst case and in the average case when the algorithms run on an input of </a:t>
            </a:r>
            <a:r>
              <a:rPr lang="en-US" altLang="zh-CN" sz="2000" i="1" dirty="0"/>
              <a:t>n</a:t>
            </a:r>
            <a:r>
              <a:rPr lang="en-US" altLang="zh-CN" sz="2000" dirty="0"/>
              <a:t> numbers. Your answers should be in the big-O notation in terms of the input size </a:t>
            </a:r>
            <a:r>
              <a:rPr lang="en-US" altLang="zh-CN" sz="2000" i="1" dirty="0"/>
              <a:t>n</a:t>
            </a:r>
            <a:r>
              <a:rPr lang="en-US" altLang="zh-CN" sz="2000" dirty="0"/>
              <a:t> and should be as tight as possible. The average should be the average calculated when all the possible </a:t>
            </a:r>
            <a:r>
              <a:rPr lang="en-US" altLang="zh-CN" sz="2000" i="1" dirty="0"/>
              <a:t>n</a:t>
            </a:r>
            <a:r>
              <a:rPr lang="en-US" altLang="zh-CN" sz="2000" dirty="0"/>
              <a:t>! inputs are equally likely.</a:t>
            </a:r>
            <a:endParaRPr lang="zh-CN" altLang="zh-CN" sz="2000" dirty="0"/>
          </a:p>
        </p:txBody>
      </p:sp>
      <p:pic>
        <p:nvPicPr>
          <p:cNvPr id="6" name="图片 5">
            <a:extLst>
              <a:ext uri="{FF2B5EF4-FFF2-40B4-BE49-F238E27FC236}">
                <a16:creationId xmlns:a16="http://schemas.microsoft.com/office/drawing/2014/main" id="{939849BB-EA01-E7E1-3FD4-0B7BBC114918}"/>
              </a:ext>
            </a:extLst>
          </p:cNvPr>
          <p:cNvPicPr>
            <a:picLocks noChangeAspect="1"/>
          </p:cNvPicPr>
          <p:nvPr/>
        </p:nvPicPr>
        <p:blipFill>
          <a:blip r:embed="rId2"/>
          <a:stretch>
            <a:fillRect/>
          </a:stretch>
        </p:blipFill>
        <p:spPr>
          <a:xfrm>
            <a:off x="1092021" y="3717032"/>
            <a:ext cx="6959958" cy="1809843"/>
          </a:xfrm>
          <a:prstGeom prst="rect">
            <a:avLst/>
          </a:prstGeom>
        </p:spPr>
      </p:pic>
    </p:spTree>
    <p:extLst>
      <p:ext uri="{BB962C8B-B14F-4D97-AF65-F5344CB8AC3E}">
        <p14:creationId xmlns:p14="http://schemas.microsoft.com/office/powerpoint/2010/main" val="2661526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E7AAF-A1B1-7BBC-6B86-B9E4DF694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8451F-CA6C-2138-7178-9C0CC3FED552}"/>
              </a:ext>
            </a:extLst>
          </p:cNvPr>
          <p:cNvSpPr>
            <a:spLocks noGrp="1"/>
          </p:cNvSpPr>
          <p:nvPr>
            <p:ph type="title"/>
          </p:nvPr>
        </p:nvSpPr>
        <p:spPr>
          <a:xfrm>
            <a:off x="2358662" y="274638"/>
            <a:ext cx="4402832" cy="1143000"/>
          </a:xfrm>
        </p:spPr>
        <p:txBody>
          <a:bodyPr>
            <a:normAutofit fontScale="90000"/>
          </a:bodyPr>
          <a:lstStyle/>
          <a:p>
            <a:r>
              <a:rPr lang="en-US" altLang="zh-CN" dirty="0"/>
              <a:t>Sorting Algorithms</a:t>
            </a:r>
            <a:endParaRPr lang="en-US" dirty="0"/>
          </a:p>
        </p:txBody>
      </p:sp>
      <p:sp>
        <p:nvSpPr>
          <p:cNvPr id="4" name="Footer Placeholder 3">
            <a:extLst>
              <a:ext uri="{FF2B5EF4-FFF2-40B4-BE49-F238E27FC236}">
                <a16:creationId xmlns:a16="http://schemas.microsoft.com/office/drawing/2014/main" id="{224D1D5B-0A2E-92C8-AF78-09222FD678D6}"/>
              </a:ext>
            </a:extLst>
          </p:cNvPr>
          <p:cNvSpPr>
            <a:spLocks noGrp="1"/>
          </p:cNvSpPr>
          <p:nvPr>
            <p:ph type="ftr" sz="quarter" idx="11"/>
          </p:nvPr>
        </p:nvSpPr>
        <p:spPr/>
        <p:txBody>
          <a:bodyPr/>
          <a:lstStyle/>
          <a:p>
            <a:r>
              <a:rPr lang="en-US" altLang="zh-CN"/>
              <a:t>CSCI2520 Tutorial 7</a:t>
            </a:r>
            <a:endParaRPr lang="zh-CN" altLang="en-US"/>
          </a:p>
        </p:txBody>
      </p:sp>
      <p:sp>
        <p:nvSpPr>
          <p:cNvPr id="5" name="文本框 4">
            <a:extLst>
              <a:ext uri="{FF2B5EF4-FFF2-40B4-BE49-F238E27FC236}">
                <a16:creationId xmlns:a16="http://schemas.microsoft.com/office/drawing/2014/main" id="{56F769DC-B4C6-EAC6-C0C1-FD475878AE30}"/>
              </a:ext>
            </a:extLst>
          </p:cNvPr>
          <p:cNvSpPr txBox="1"/>
          <p:nvPr/>
        </p:nvSpPr>
        <p:spPr>
          <a:xfrm>
            <a:off x="2219666" y="1628778"/>
            <a:ext cx="4680824" cy="369332"/>
          </a:xfrm>
          <a:prstGeom prst="rect">
            <a:avLst/>
          </a:prstGeom>
          <a:noFill/>
        </p:spPr>
        <p:txBody>
          <a:bodyPr wrap="square">
            <a:spAutoFit/>
          </a:bodyPr>
          <a:lstStyle/>
          <a:p>
            <a:pPr lvl="0"/>
            <a:r>
              <a:rPr lang="en-US" altLang="zh-CN" dirty="0"/>
              <a:t>Given the </a:t>
            </a:r>
            <a:r>
              <a:rPr lang="en-US" altLang="zh-CN" dirty="0" err="1"/>
              <a:t>MergeSort</a:t>
            </a:r>
            <a:r>
              <a:rPr lang="en-US" altLang="zh-CN" dirty="0"/>
              <a:t> and </a:t>
            </a:r>
            <a:r>
              <a:rPr lang="en-US" altLang="zh-CN" dirty="0" err="1"/>
              <a:t>QuickSort</a:t>
            </a:r>
            <a:r>
              <a:rPr lang="en-US" altLang="zh-CN" dirty="0"/>
              <a:t> code below.</a:t>
            </a:r>
            <a:endParaRPr lang="zh-CN" altLang="zh-CN" dirty="0"/>
          </a:p>
        </p:txBody>
      </p:sp>
      <p:pic>
        <p:nvPicPr>
          <p:cNvPr id="7" name="图片 6">
            <a:extLst>
              <a:ext uri="{FF2B5EF4-FFF2-40B4-BE49-F238E27FC236}">
                <a16:creationId xmlns:a16="http://schemas.microsoft.com/office/drawing/2014/main" id="{6186CD6A-8B61-920C-CCCA-57C3B45536DA}"/>
              </a:ext>
            </a:extLst>
          </p:cNvPr>
          <p:cNvPicPr>
            <a:picLocks noChangeAspect="1"/>
          </p:cNvPicPr>
          <p:nvPr/>
        </p:nvPicPr>
        <p:blipFill>
          <a:blip r:embed="rId2"/>
          <a:stretch>
            <a:fillRect/>
          </a:stretch>
        </p:blipFill>
        <p:spPr>
          <a:xfrm>
            <a:off x="810490" y="2212606"/>
            <a:ext cx="3096344" cy="3971186"/>
          </a:xfrm>
          <a:prstGeom prst="rect">
            <a:avLst/>
          </a:prstGeom>
        </p:spPr>
      </p:pic>
      <p:pic>
        <p:nvPicPr>
          <p:cNvPr id="9" name="图片 8">
            <a:extLst>
              <a:ext uri="{FF2B5EF4-FFF2-40B4-BE49-F238E27FC236}">
                <a16:creationId xmlns:a16="http://schemas.microsoft.com/office/drawing/2014/main" id="{6068D734-27F4-C01A-087C-B1C5DC1B7BB6}"/>
              </a:ext>
            </a:extLst>
          </p:cNvPr>
          <p:cNvPicPr>
            <a:picLocks noChangeAspect="1"/>
          </p:cNvPicPr>
          <p:nvPr/>
        </p:nvPicPr>
        <p:blipFill>
          <a:blip r:embed="rId3"/>
          <a:stretch>
            <a:fillRect/>
          </a:stretch>
        </p:blipFill>
        <p:spPr>
          <a:xfrm>
            <a:off x="4593292" y="3131430"/>
            <a:ext cx="4336404" cy="1728461"/>
          </a:xfrm>
          <a:prstGeom prst="rect">
            <a:avLst/>
          </a:prstGeom>
        </p:spPr>
      </p:pic>
    </p:spTree>
    <p:extLst>
      <p:ext uri="{BB962C8B-B14F-4D97-AF65-F5344CB8AC3E}">
        <p14:creationId xmlns:p14="http://schemas.microsoft.com/office/powerpoint/2010/main" val="2678083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3C29E-7641-99AA-EACA-3F6278193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D4ED1-9F4F-7FDD-4C0C-D4EE1948F2BF}"/>
              </a:ext>
            </a:extLst>
          </p:cNvPr>
          <p:cNvSpPr>
            <a:spLocks noGrp="1"/>
          </p:cNvSpPr>
          <p:nvPr>
            <p:ph type="title"/>
          </p:nvPr>
        </p:nvSpPr>
        <p:spPr>
          <a:xfrm>
            <a:off x="2358662" y="274638"/>
            <a:ext cx="4402832" cy="1143000"/>
          </a:xfrm>
        </p:spPr>
        <p:txBody>
          <a:bodyPr>
            <a:normAutofit fontScale="90000"/>
          </a:bodyPr>
          <a:lstStyle/>
          <a:p>
            <a:r>
              <a:rPr lang="en-US" altLang="zh-CN" dirty="0"/>
              <a:t>Sorting Algorithms</a:t>
            </a:r>
            <a:endParaRPr lang="en-US" dirty="0"/>
          </a:p>
        </p:txBody>
      </p:sp>
      <p:sp>
        <p:nvSpPr>
          <p:cNvPr id="4" name="Footer Placeholder 3">
            <a:extLst>
              <a:ext uri="{FF2B5EF4-FFF2-40B4-BE49-F238E27FC236}">
                <a16:creationId xmlns:a16="http://schemas.microsoft.com/office/drawing/2014/main" id="{EDF35D28-1362-354C-E7DB-BADBAADACE21}"/>
              </a:ext>
            </a:extLst>
          </p:cNvPr>
          <p:cNvSpPr>
            <a:spLocks noGrp="1"/>
          </p:cNvSpPr>
          <p:nvPr>
            <p:ph type="ftr" sz="quarter" idx="11"/>
          </p:nvPr>
        </p:nvSpPr>
        <p:spPr/>
        <p:txBody>
          <a:bodyPr/>
          <a:lstStyle/>
          <a:p>
            <a:r>
              <a:rPr lang="en-US" altLang="zh-CN"/>
              <a:t>CSCI2520 Tutorial 7</a:t>
            </a:r>
            <a:endParaRPr lang="zh-CN" altLang="en-US"/>
          </a:p>
        </p:txBody>
      </p:sp>
      <p:pic>
        <p:nvPicPr>
          <p:cNvPr id="6" name="图片 5">
            <a:extLst>
              <a:ext uri="{FF2B5EF4-FFF2-40B4-BE49-F238E27FC236}">
                <a16:creationId xmlns:a16="http://schemas.microsoft.com/office/drawing/2014/main" id="{F0A25AC9-A345-61B7-B157-EAA6A650ECB1}"/>
              </a:ext>
            </a:extLst>
          </p:cNvPr>
          <p:cNvPicPr>
            <a:picLocks noChangeAspect="1"/>
          </p:cNvPicPr>
          <p:nvPr/>
        </p:nvPicPr>
        <p:blipFill>
          <a:blip r:embed="rId2"/>
          <a:stretch>
            <a:fillRect/>
          </a:stretch>
        </p:blipFill>
        <p:spPr>
          <a:xfrm>
            <a:off x="453258" y="2348880"/>
            <a:ext cx="3810808" cy="3565703"/>
          </a:xfrm>
          <a:prstGeom prst="rect">
            <a:avLst/>
          </a:prstGeom>
        </p:spPr>
      </p:pic>
      <p:pic>
        <p:nvPicPr>
          <p:cNvPr id="10" name="图片 9">
            <a:extLst>
              <a:ext uri="{FF2B5EF4-FFF2-40B4-BE49-F238E27FC236}">
                <a16:creationId xmlns:a16="http://schemas.microsoft.com/office/drawing/2014/main" id="{B1AE45BF-17B8-E167-835D-1BBA9E223BD8}"/>
              </a:ext>
            </a:extLst>
          </p:cNvPr>
          <p:cNvPicPr>
            <a:picLocks noChangeAspect="1"/>
          </p:cNvPicPr>
          <p:nvPr/>
        </p:nvPicPr>
        <p:blipFill>
          <a:blip r:embed="rId3"/>
          <a:stretch>
            <a:fillRect/>
          </a:stretch>
        </p:blipFill>
        <p:spPr>
          <a:xfrm>
            <a:off x="4753487" y="2852936"/>
            <a:ext cx="4016013" cy="2426168"/>
          </a:xfrm>
          <a:prstGeom prst="rect">
            <a:avLst/>
          </a:prstGeom>
        </p:spPr>
      </p:pic>
      <p:sp>
        <p:nvSpPr>
          <p:cNvPr id="11" name="文本框 10">
            <a:extLst>
              <a:ext uri="{FF2B5EF4-FFF2-40B4-BE49-F238E27FC236}">
                <a16:creationId xmlns:a16="http://schemas.microsoft.com/office/drawing/2014/main" id="{E0BE2FAE-C7B3-542B-B77B-C31A6AA80CE5}"/>
              </a:ext>
            </a:extLst>
          </p:cNvPr>
          <p:cNvSpPr txBox="1"/>
          <p:nvPr/>
        </p:nvSpPr>
        <p:spPr>
          <a:xfrm>
            <a:off x="2219666" y="1628778"/>
            <a:ext cx="4680824" cy="369332"/>
          </a:xfrm>
          <a:prstGeom prst="rect">
            <a:avLst/>
          </a:prstGeom>
          <a:noFill/>
        </p:spPr>
        <p:txBody>
          <a:bodyPr wrap="square">
            <a:spAutoFit/>
          </a:bodyPr>
          <a:lstStyle/>
          <a:p>
            <a:pPr lvl="0"/>
            <a:r>
              <a:rPr lang="en-US" altLang="zh-CN" dirty="0"/>
              <a:t>Given the </a:t>
            </a:r>
            <a:r>
              <a:rPr lang="en-US" altLang="zh-CN" dirty="0" err="1"/>
              <a:t>MergeSort</a:t>
            </a:r>
            <a:r>
              <a:rPr lang="en-US" altLang="zh-CN" dirty="0"/>
              <a:t> and </a:t>
            </a:r>
            <a:r>
              <a:rPr lang="en-US" altLang="zh-CN" dirty="0" err="1"/>
              <a:t>QuickSort</a:t>
            </a:r>
            <a:r>
              <a:rPr lang="en-US" altLang="zh-CN" dirty="0"/>
              <a:t> code below.</a:t>
            </a:r>
            <a:endParaRPr lang="zh-CN" altLang="zh-CN" dirty="0"/>
          </a:p>
        </p:txBody>
      </p:sp>
    </p:spTree>
    <p:extLst>
      <p:ext uri="{BB962C8B-B14F-4D97-AF65-F5344CB8AC3E}">
        <p14:creationId xmlns:p14="http://schemas.microsoft.com/office/powerpoint/2010/main" val="2984687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5EFAA-FE2A-5B88-89BC-F33F8D91F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C4E87-A8BA-5657-1DD6-26D1A8E7FC3D}"/>
              </a:ext>
            </a:extLst>
          </p:cNvPr>
          <p:cNvSpPr>
            <a:spLocks noGrp="1"/>
          </p:cNvSpPr>
          <p:nvPr>
            <p:ph type="title"/>
          </p:nvPr>
        </p:nvSpPr>
        <p:spPr>
          <a:xfrm>
            <a:off x="2358662" y="274638"/>
            <a:ext cx="4402832" cy="1143000"/>
          </a:xfrm>
        </p:spPr>
        <p:txBody>
          <a:bodyPr>
            <a:normAutofit fontScale="90000"/>
          </a:bodyPr>
          <a:lstStyle/>
          <a:p>
            <a:r>
              <a:rPr lang="en-US" altLang="zh-CN" dirty="0"/>
              <a:t>Sorting Algorithms</a:t>
            </a:r>
            <a:endParaRPr lang="en-US" dirty="0"/>
          </a:p>
        </p:txBody>
      </p:sp>
      <p:sp>
        <p:nvSpPr>
          <p:cNvPr id="4" name="Footer Placeholder 3">
            <a:extLst>
              <a:ext uri="{FF2B5EF4-FFF2-40B4-BE49-F238E27FC236}">
                <a16:creationId xmlns:a16="http://schemas.microsoft.com/office/drawing/2014/main" id="{8F0D47A5-A8FF-B532-49AB-7C34E6075890}"/>
              </a:ext>
            </a:extLst>
          </p:cNvPr>
          <p:cNvSpPr>
            <a:spLocks noGrp="1"/>
          </p:cNvSpPr>
          <p:nvPr>
            <p:ph type="ftr" sz="quarter" idx="11"/>
          </p:nvPr>
        </p:nvSpPr>
        <p:spPr/>
        <p:txBody>
          <a:bodyPr/>
          <a:lstStyle/>
          <a:p>
            <a:r>
              <a:rPr lang="en-US" altLang="zh-CN"/>
              <a:t>CSCI2520 Tutorial 7</a:t>
            </a:r>
            <a:endParaRPr lang="zh-CN" altLang="en-US"/>
          </a:p>
        </p:txBody>
      </p:sp>
      <p:pic>
        <p:nvPicPr>
          <p:cNvPr id="7" name="图片 6">
            <a:extLst>
              <a:ext uri="{FF2B5EF4-FFF2-40B4-BE49-F238E27FC236}">
                <a16:creationId xmlns:a16="http://schemas.microsoft.com/office/drawing/2014/main" id="{925D4039-8B62-5B63-C411-E11E5153F37F}"/>
              </a:ext>
            </a:extLst>
          </p:cNvPr>
          <p:cNvPicPr>
            <a:picLocks noChangeAspect="1"/>
          </p:cNvPicPr>
          <p:nvPr/>
        </p:nvPicPr>
        <p:blipFill>
          <a:blip r:embed="rId2"/>
          <a:stretch>
            <a:fillRect/>
          </a:stretch>
        </p:blipFill>
        <p:spPr>
          <a:xfrm>
            <a:off x="2296762" y="1268760"/>
            <a:ext cx="4550476" cy="5029073"/>
          </a:xfrm>
          <a:prstGeom prst="rect">
            <a:avLst/>
          </a:prstGeom>
        </p:spPr>
      </p:pic>
    </p:spTree>
    <p:extLst>
      <p:ext uri="{BB962C8B-B14F-4D97-AF65-F5344CB8AC3E}">
        <p14:creationId xmlns:p14="http://schemas.microsoft.com/office/powerpoint/2010/main" val="2903658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A1BF3-D1EA-21DE-37F8-FE40A3541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AEB77-AD75-7C95-202F-EB7FF71262A6}"/>
              </a:ext>
            </a:extLst>
          </p:cNvPr>
          <p:cNvSpPr>
            <a:spLocks noGrp="1"/>
          </p:cNvSpPr>
          <p:nvPr>
            <p:ph type="title"/>
          </p:nvPr>
        </p:nvSpPr>
        <p:spPr>
          <a:xfrm>
            <a:off x="2358662" y="274638"/>
            <a:ext cx="4402832" cy="1143000"/>
          </a:xfrm>
        </p:spPr>
        <p:txBody>
          <a:bodyPr>
            <a:normAutofit/>
          </a:bodyPr>
          <a:lstStyle/>
          <a:p>
            <a:r>
              <a:rPr lang="en-US" altLang="zh-CN" b="1" dirty="0"/>
              <a:t>BST</a:t>
            </a:r>
            <a:endParaRPr lang="en-US" dirty="0"/>
          </a:p>
        </p:txBody>
      </p:sp>
      <p:sp>
        <p:nvSpPr>
          <p:cNvPr id="4" name="Footer Placeholder 3">
            <a:extLst>
              <a:ext uri="{FF2B5EF4-FFF2-40B4-BE49-F238E27FC236}">
                <a16:creationId xmlns:a16="http://schemas.microsoft.com/office/drawing/2014/main" id="{87534DD1-582C-4816-212B-03E11A41BD5C}"/>
              </a:ext>
            </a:extLst>
          </p:cNvPr>
          <p:cNvSpPr>
            <a:spLocks noGrp="1"/>
          </p:cNvSpPr>
          <p:nvPr>
            <p:ph type="ftr" sz="quarter" idx="11"/>
          </p:nvPr>
        </p:nvSpPr>
        <p:spPr/>
        <p:txBody>
          <a:bodyPr/>
          <a:lstStyle/>
          <a:p>
            <a:r>
              <a:rPr lang="en-US" altLang="zh-CN"/>
              <a:t>CSCI2520 Tutorial 7</a:t>
            </a:r>
            <a:endParaRPr lang="zh-CN" altLang="en-US"/>
          </a:p>
        </p:txBody>
      </p:sp>
      <p:sp>
        <p:nvSpPr>
          <p:cNvPr id="5" name="文本框 4">
            <a:extLst>
              <a:ext uri="{FF2B5EF4-FFF2-40B4-BE49-F238E27FC236}">
                <a16:creationId xmlns:a16="http://schemas.microsoft.com/office/drawing/2014/main" id="{94A0CDEF-8EE4-AEF3-6368-1B176680BAD2}"/>
              </a:ext>
            </a:extLst>
          </p:cNvPr>
          <p:cNvSpPr txBox="1"/>
          <p:nvPr/>
        </p:nvSpPr>
        <p:spPr>
          <a:xfrm>
            <a:off x="1328846" y="1628800"/>
            <a:ext cx="6462464" cy="1200329"/>
          </a:xfrm>
          <a:prstGeom prst="rect">
            <a:avLst/>
          </a:prstGeom>
          <a:noFill/>
        </p:spPr>
        <p:txBody>
          <a:bodyPr wrap="square">
            <a:spAutoFit/>
          </a:bodyPr>
          <a:lstStyle/>
          <a:p>
            <a:r>
              <a:rPr lang="en-US" altLang="zh-CN" sz="1800" dirty="0">
                <a:solidFill>
                  <a:srgbClr val="000000"/>
                </a:solidFill>
                <a:effectLst/>
                <a:highlight>
                  <a:srgbClr val="FFFFFF"/>
                </a:highlight>
                <a:latin typeface="Arial" panose="020B0604020202020204" pitchFamily="34" charset="0"/>
                <a:ea typeface="SimSun" panose="02010600030101010101" pitchFamily="2" charset="-122"/>
              </a:rPr>
              <a:t>Given a sequence of numbers: 11, 6, 8, 19, 1, 13, 17, 42, 16. We now draw a tree by inserting the above numbers from left to right following the rules: the left child is smaller than the root, the root is smaller than the right child.</a:t>
            </a:r>
            <a:endParaRPr lang="zh-CN" altLang="en-US" dirty="0"/>
          </a:p>
        </p:txBody>
      </p:sp>
      <p:pic>
        <p:nvPicPr>
          <p:cNvPr id="6" name="图片 5">
            <a:extLst>
              <a:ext uri="{FF2B5EF4-FFF2-40B4-BE49-F238E27FC236}">
                <a16:creationId xmlns:a16="http://schemas.microsoft.com/office/drawing/2014/main" id="{A423E3BC-4F77-BA8A-C618-9BDE52A14E4D}"/>
              </a:ext>
            </a:extLst>
          </p:cNvPr>
          <p:cNvPicPr>
            <a:picLocks noChangeAspect="1"/>
          </p:cNvPicPr>
          <p:nvPr/>
        </p:nvPicPr>
        <p:blipFill>
          <a:blip r:embed="rId2"/>
          <a:stretch>
            <a:fillRect/>
          </a:stretch>
        </p:blipFill>
        <p:spPr>
          <a:xfrm>
            <a:off x="899592" y="3212976"/>
            <a:ext cx="2877561" cy="2255716"/>
          </a:xfrm>
          <a:prstGeom prst="rect">
            <a:avLst/>
          </a:prstGeom>
        </p:spPr>
      </p:pic>
      <p:sp>
        <p:nvSpPr>
          <p:cNvPr id="9" name="文本框 8">
            <a:extLst>
              <a:ext uri="{FF2B5EF4-FFF2-40B4-BE49-F238E27FC236}">
                <a16:creationId xmlns:a16="http://schemas.microsoft.com/office/drawing/2014/main" id="{C302E938-5154-ADB2-C72A-0C810E3034E6}"/>
              </a:ext>
            </a:extLst>
          </p:cNvPr>
          <p:cNvSpPr txBox="1"/>
          <p:nvPr/>
        </p:nvSpPr>
        <p:spPr>
          <a:xfrm>
            <a:off x="4560078" y="3429000"/>
            <a:ext cx="4572000" cy="2308324"/>
          </a:xfrm>
          <a:prstGeom prst="rect">
            <a:avLst/>
          </a:prstGeom>
          <a:noFill/>
        </p:spPr>
        <p:txBody>
          <a:bodyPr wrap="square">
            <a:spAutoFit/>
          </a:bodyPr>
          <a:lstStyle/>
          <a:p>
            <a:r>
              <a:rPr lang="en-US" altLang="zh-CN" sz="1800" dirty="0">
                <a:solidFill>
                  <a:srgbClr val="545454"/>
                </a:solidFill>
                <a:effectLst/>
                <a:highlight>
                  <a:srgbClr val="FFFFFF"/>
                </a:highlight>
                <a:latin typeface="Arial" panose="020B0604020202020204" pitchFamily="34" charset="0"/>
                <a:ea typeface="Times New Roman" panose="02020603050405020304" pitchFamily="18" charset="0"/>
              </a:rPr>
              <a:t>According to the lecture, when deleting a node that has two children, there are actually two different strategies, i.e., 1)choosing the node with the maximum key from the left subtree or 2) the node with the minimum key from the right subtree. </a:t>
            </a:r>
            <a:r>
              <a:rPr lang="en-US" altLang="zh-CN" sz="1800" dirty="0">
                <a:solidFill>
                  <a:srgbClr val="000000"/>
                </a:solidFill>
                <a:effectLst/>
                <a:highlight>
                  <a:srgbClr val="FFFFFF"/>
                </a:highlight>
                <a:latin typeface="Arial" panose="020B0604020202020204" pitchFamily="34" charset="0"/>
                <a:ea typeface="SimSun" panose="02010600030101010101" pitchFamily="2" charset="-122"/>
              </a:rPr>
              <a:t>Show the results of both the strategy after the deletion of 19.</a:t>
            </a:r>
            <a:endParaRPr lang="zh-CN" altLang="en-US" dirty="0"/>
          </a:p>
        </p:txBody>
      </p:sp>
    </p:spTree>
    <p:extLst>
      <p:ext uri="{BB962C8B-B14F-4D97-AF65-F5344CB8AC3E}">
        <p14:creationId xmlns:p14="http://schemas.microsoft.com/office/powerpoint/2010/main" val="3136393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968DF-EE20-5756-C471-17F466A23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F4391-F260-625A-A3D1-76446B00764F}"/>
              </a:ext>
            </a:extLst>
          </p:cNvPr>
          <p:cNvSpPr>
            <a:spLocks noGrp="1"/>
          </p:cNvSpPr>
          <p:nvPr>
            <p:ph type="title"/>
          </p:nvPr>
        </p:nvSpPr>
        <p:spPr>
          <a:xfrm>
            <a:off x="2358662" y="274638"/>
            <a:ext cx="4402832" cy="1143000"/>
          </a:xfrm>
        </p:spPr>
        <p:txBody>
          <a:bodyPr>
            <a:normAutofit/>
          </a:bodyPr>
          <a:lstStyle/>
          <a:p>
            <a:r>
              <a:rPr lang="en-US" altLang="zh-CN" b="1" dirty="0"/>
              <a:t>BST</a:t>
            </a:r>
            <a:endParaRPr lang="en-US" dirty="0"/>
          </a:p>
        </p:txBody>
      </p:sp>
      <p:sp>
        <p:nvSpPr>
          <p:cNvPr id="4" name="Footer Placeholder 3">
            <a:extLst>
              <a:ext uri="{FF2B5EF4-FFF2-40B4-BE49-F238E27FC236}">
                <a16:creationId xmlns:a16="http://schemas.microsoft.com/office/drawing/2014/main" id="{7BAFB3A4-8D75-A6BC-ED48-3BAD9457A05D}"/>
              </a:ext>
            </a:extLst>
          </p:cNvPr>
          <p:cNvSpPr>
            <a:spLocks noGrp="1"/>
          </p:cNvSpPr>
          <p:nvPr>
            <p:ph type="ftr" sz="quarter" idx="11"/>
          </p:nvPr>
        </p:nvSpPr>
        <p:spPr/>
        <p:txBody>
          <a:bodyPr/>
          <a:lstStyle/>
          <a:p>
            <a:r>
              <a:rPr lang="en-US" altLang="zh-CN"/>
              <a:t>CSCI2520 Tutorial 7</a:t>
            </a:r>
            <a:endParaRPr lang="zh-CN" altLang="en-US"/>
          </a:p>
        </p:txBody>
      </p:sp>
      <p:sp>
        <p:nvSpPr>
          <p:cNvPr id="7" name="文本框 6">
            <a:extLst>
              <a:ext uri="{FF2B5EF4-FFF2-40B4-BE49-F238E27FC236}">
                <a16:creationId xmlns:a16="http://schemas.microsoft.com/office/drawing/2014/main" id="{DC1322CF-4FC0-BF2F-31D4-07FF061645D0}"/>
              </a:ext>
            </a:extLst>
          </p:cNvPr>
          <p:cNvSpPr txBox="1"/>
          <p:nvPr/>
        </p:nvSpPr>
        <p:spPr>
          <a:xfrm>
            <a:off x="791580" y="1484784"/>
            <a:ext cx="7560840" cy="1200329"/>
          </a:xfrm>
          <a:prstGeom prst="rect">
            <a:avLst/>
          </a:prstGeom>
          <a:noFill/>
        </p:spPr>
        <p:txBody>
          <a:bodyPr wrap="square">
            <a:spAutoFit/>
          </a:bodyPr>
          <a:lstStyle/>
          <a:p>
            <a:r>
              <a:rPr lang="en-US" altLang="zh-CN" dirty="0"/>
              <a:t>Given an algorithm that returns the node with the k-</a:t>
            </a:r>
            <a:r>
              <a:rPr lang="en-US" altLang="zh-CN" dirty="0" err="1"/>
              <a:t>th</a:t>
            </a:r>
            <a:r>
              <a:rPr lang="en-US" altLang="zh-CN" dirty="0"/>
              <a:t> biggest key in a binary search tree. The details of how you traverse the tree should be provided.</a:t>
            </a:r>
          </a:p>
          <a:p>
            <a:endParaRPr lang="en-US" altLang="zh-CN" dirty="0"/>
          </a:p>
          <a:p>
            <a:r>
              <a:rPr lang="en-US" altLang="zh-CN" dirty="0"/>
              <a:t>The BST is defined as follows:</a:t>
            </a:r>
            <a:endParaRPr lang="zh-CN" altLang="en-US" dirty="0"/>
          </a:p>
        </p:txBody>
      </p:sp>
      <p:pic>
        <p:nvPicPr>
          <p:cNvPr id="10" name="图片 9">
            <a:extLst>
              <a:ext uri="{FF2B5EF4-FFF2-40B4-BE49-F238E27FC236}">
                <a16:creationId xmlns:a16="http://schemas.microsoft.com/office/drawing/2014/main" id="{F507DE90-EF67-8C4B-37EA-0027174FB535}"/>
              </a:ext>
            </a:extLst>
          </p:cNvPr>
          <p:cNvPicPr>
            <a:picLocks noChangeAspect="1"/>
          </p:cNvPicPr>
          <p:nvPr/>
        </p:nvPicPr>
        <p:blipFill>
          <a:blip r:embed="rId3"/>
          <a:stretch>
            <a:fillRect/>
          </a:stretch>
        </p:blipFill>
        <p:spPr>
          <a:xfrm>
            <a:off x="3016948" y="2996952"/>
            <a:ext cx="3086259" cy="1797142"/>
          </a:xfrm>
          <a:prstGeom prst="rect">
            <a:avLst/>
          </a:prstGeom>
        </p:spPr>
      </p:pic>
    </p:spTree>
    <p:extLst>
      <p:ext uri="{BB962C8B-B14F-4D97-AF65-F5344CB8AC3E}">
        <p14:creationId xmlns:p14="http://schemas.microsoft.com/office/powerpoint/2010/main" val="172082811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2171</TotalTime>
  <Words>1139</Words>
  <Application>Microsoft Office PowerPoint</Application>
  <PresentationFormat>全屏显示(4:3)</PresentationFormat>
  <Paragraphs>219</Paragraphs>
  <Slides>29</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29</vt:i4>
      </vt:variant>
    </vt:vector>
  </HeadingPairs>
  <TitlesOfParts>
    <vt:vector size="34" baseType="lpstr">
      <vt:lpstr>新細明體</vt:lpstr>
      <vt:lpstr>Arial</vt:lpstr>
      <vt:lpstr>Calibri</vt:lpstr>
      <vt:lpstr>Consolas</vt:lpstr>
      <vt:lpstr>Office 主题</vt:lpstr>
      <vt:lpstr>CSCI2520 Tutorial 7: Binary Tree &amp; Mid 2 Review</vt:lpstr>
      <vt:lpstr>Outline</vt:lpstr>
      <vt:lpstr>Binary Tree Traversal</vt:lpstr>
      <vt:lpstr>Binary Tree Reconstruction</vt:lpstr>
      <vt:lpstr>Binary Tree Reconstruction</vt:lpstr>
      <vt:lpstr>Exercise 1</vt:lpstr>
      <vt:lpstr>Binary Tree Reconstruction</vt:lpstr>
      <vt:lpstr>Binary Tree Reconstruction</vt:lpstr>
      <vt:lpstr>Binary Tree Reconstruction</vt:lpstr>
      <vt:lpstr>Binary Tree Reconstruction</vt:lpstr>
      <vt:lpstr>Binary Tree Reconstruction</vt:lpstr>
      <vt:lpstr>Binary Search Tree</vt:lpstr>
      <vt:lpstr>Find Inorder Successor in BST</vt:lpstr>
      <vt:lpstr>Find Inorder Successor in BST</vt:lpstr>
      <vt:lpstr>Find Inorder Successor in BST</vt:lpstr>
      <vt:lpstr>Exercise 2</vt:lpstr>
      <vt:lpstr>Exercise 2 Solution</vt:lpstr>
      <vt:lpstr>More practices</vt:lpstr>
      <vt:lpstr>Midterm 2 Time &amp; Scope</vt:lpstr>
      <vt:lpstr>List</vt:lpstr>
      <vt:lpstr>List</vt:lpstr>
      <vt:lpstr>Complexity Analysis</vt:lpstr>
      <vt:lpstr>Complexity Analysis</vt:lpstr>
      <vt:lpstr>Sorting Algorithms</vt:lpstr>
      <vt:lpstr>Sorting Algorithms</vt:lpstr>
      <vt:lpstr>Sorting Algorithms</vt:lpstr>
      <vt:lpstr>Sorting Algorithms</vt:lpstr>
      <vt:lpstr>BST</vt:lpstr>
      <vt:lpstr>BST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CSCI2520 Tutorial 1 (Week 2): C Programming Review</dc:title>
  <dc:creator>gjchen</dc:creator>
  <cp:lastModifiedBy>PAN, Zhenyu</cp:lastModifiedBy>
  <cp:revision>133</cp:revision>
  <dcterms:created xsi:type="dcterms:W3CDTF">2016-01-18T13:38:47Z</dcterms:created>
  <dcterms:modified xsi:type="dcterms:W3CDTF">2026-03-17T05:40:29Z</dcterms:modified>
</cp:coreProperties>
</file>