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7" r:id="rId14"/>
    <p:sldId id="278" r:id="rId15"/>
    <p:sldId id="272" r:id="rId16"/>
    <p:sldId id="273" r:id="rId17"/>
    <p:sldId id="274" r:id="rId18"/>
    <p:sldId id="275" r:id="rId19"/>
    <p:sldId id="276" r:id="rId20"/>
    <p:sldId id="279" r:id="rId21"/>
    <p:sldId id="282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EA9001-6960-4142-BAAE-E803F5FEA7A4}" v="1" dt="2025-04-03T08:47:54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3375" autoAdjust="0"/>
  </p:normalViewPr>
  <p:slideViewPr>
    <p:cSldViewPr>
      <p:cViewPr varScale="1">
        <p:scale>
          <a:sx n="150" d="100"/>
          <a:sy n="150" d="100"/>
        </p:scale>
        <p:origin x="2104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ui" userId="2acf357a-d887-4e08-95d2-f44b1823070d" providerId="ADAL" clId="{08EA9001-6960-4142-BAAE-E803F5FEA7A4}"/>
    <pc:docChg chg="undo custSel modSld">
      <pc:chgData name="LI, Hui" userId="2acf357a-d887-4e08-95d2-f44b1823070d" providerId="ADAL" clId="{08EA9001-6960-4142-BAAE-E803F5FEA7A4}" dt="2025-04-03T10:12:35.403" v="26" actId="20577"/>
      <pc:docMkLst>
        <pc:docMk/>
      </pc:docMkLst>
      <pc:sldChg chg="modSp mod">
        <pc:chgData name="LI, Hui" userId="2acf357a-d887-4e08-95d2-f44b1823070d" providerId="ADAL" clId="{08EA9001-6960-4142-BAAE-E803F5FEA7A4}" dt="2025-04-03T08:47:53.523" v="18" actId="20577"/>
        <pc:sldMkLst>
          <pc:docMk/>
          <pc:sldMk cId="1346080441" sldId="256"/>
        </pc:sldMkLst>
        <pc:spChg chg="mod">
          <ac:chgData name="LI, Hui" userId="2acf357a-d887-4e08-95d2-f44b1823070d" providerId="ADAL" clId="{08EA9001-6960-4142-BAAE-E803F5FEA7A4}" dt="2025-04-03T08:47:53.523" v="18" actId="20577"/>
          <ac:spMkLst>
            <pc:docMk/>
            <pc:sldMk cId="1346080441" sldId="256"/>
            <ac:spMk id="3" creationId="{00000000-0000-0000-0000-000000000000}"/>
          </ac:spMkLst>
        </pc:spChg>
      </pc:sldChg>
      <pc:sldChg chg="modSp mod">
        <pc:chgData name="LI, Hui" userId="2acf357a-d887-4e08-95d2-f44b1823070d" providerId="ADAL" clId="{08EA9001-6960-4142-BAAE-E803F5FEA7A4}" dt="2025-04-03T10:12:20.818" v="20" actId="20577"/>
        <pc:sldMkLst>
          <pc:docMk/>
          <pc:sldMk cId="1287515774" sldId="262"/>
        </pc:sldMkLst>
        <pc:graphicFrameChg chg="modGraphic">
          <ac:chgData name="LI, Hui" userId="2acf357a-d887-4e08-95d2-f44b1823070d" providerId="ADAL" clId="{08EA9001-6960-4142-BAAE-E803F5FEA7A4}" dt="2025-04-03T10:12:20.818" v="20" actId="20577"/>
          <ac:graphicFrameMkLst>
            <pc:docMk/>
            <pc:sldMk cId="1287515774" sldId="262"/>
            <ac:graphicFrameMk id="5" creationId="{00000000-0000-0000-0000-000000000000}"/>
          </ac:graphicFrameMkLst>
        </pc:graphicFrameChg>
      </pc:sldChg>
      <pc:sldChg chg="modSp mod">
        <pc:chgData name="LI, Hui" userId="2acf357a-d887-4e08-95d2-f44b1823070d" providerId="ADAL" clId="{08EA9001-6960-4142-BAAE-E803F5FEA7A4}" dt="2025-04-03T10:12:28.760" v="22" actId="20577"/>
        <pc:sldMkLst>
          <pc:docMk/>
          <pc:sldMk cId="1545046207" sldId="263"/>
        </pc:sldMkLst>
        <pc:graphicFrameChg chg="modGraphic">
          <ac:chgData name="LI, Hui" userId="2acf357a-d887-4e08-95d2-f44b1823070d" providerId="ADAL" clId="{08EA9001-6960-4142-BAAE-E803F5FEA7A4}" dt="2025-04-03T10:12:28.760" v="22" actId="20577"/>
          <ac:graphicFrameMkLst>
            <pc:docMk/>
            <pc:sldMk cId="1545046207" sldId="263"/>
            <ac:graphicFrameMk id="5" creationId="{00000000-0000-0000-0000-000000000000}"/>
          </ac:graphicFrameMkLst>
        </pc:graphicFrameChg>
      </pc:sldChg>
      <pc:sldChg chg="modSp mod">
        <pc:chgData name="LI, Hui" userId="2acf357a-d887-4e08-95d2-f44b1823070d" providerId="ADAL" clId="{08EA9001-6960-4142-BAAE-E803F5FEA7A4}" dt="2025-04-03T10:12:31.606" v="24" actId="20577"/>
        <pc:sldMkLst>
          <pc:docMk/>
          <pc:sldMk cId="4012466424" sldId="264"/>
        </pc:sldMkLst>
        <pc:graphicFrameChg chg="modGraphic">
          <ac:chgData name="LI, Hui" userId="2acf357a-d887-4e08-95d2-f44b1823070d" providerId="ADAL" clId="{08EA9001-6960-4142-BAAE-E803F5FEA7A4}" dt="2025-04-03T10:12:31.606" v="24" actId="20577"/>
          <ac:graphicFrameMkLst>
            <pc:docMk/>
            <pc:sldMk cId="4012466424" sldId="264"/>
            <ac:graphicFrameMk id="5" creationId="{00000000-0000-0000-0000-000000000000}"/>
          </ac:graphicFrameMkLst>
        </pc:graphicFrameChg>
      </pc:sldChg>
      <pc:sldChg chg="modSp mod">
        <pc:chgData name="LI, Hui" userId="2acf357a-d887-4e08-95d2-f44b1823070d" providerId="ADAL" clId="{08EA9001-6960-4142-BAAE-E803F5FEA7A4}" dt="2025-04-03T10:12:35.403" v="26" actId="20577"/>
        <pc:sldMkLst>
          <pc:docMk/>
          <pc:sldMk cId="988140703" sldId="265"/>
        </pc:sldMkLst>
        <pc:graphicFrameChg chg="modGraphic">
          <ac:chgData name="LI, Hui" userId="2acf357a-d887-4e08-95d2-f44b1823070d" providerId="ADAL" clId="{08EA9001-6960-4142-BAAE-E803F5FEA7A4}" dt="2025-04-03T10:12:35.403" v="26" actId="20577"/>
          <ac:graphicFrameMkLst>
            <pc:docMk/>
            <pc:sldMk cId="988140703" sldId="265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24543-D117-4FAE-B2D8-BA38168DA83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16CBC-8DC5-4156-9E82-CF8406BBC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89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17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BCA1-A0D4-41CD-B0D5-23BC0F24045B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FA19-8EE0-4252-8FB8-EF1D2A9C0F54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8F3B-E29D-4290-A339-760C5F2B209A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C539-BC91-4BD8-BF6E-10E44EB808E0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9C9DA-29B7-4A2B-9D10-77F9A71FABEC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C5D1A-CE69-4CA1-87D3-E4C629A284BE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47D0-6CE2-40B1-B57E-1294D3C7E4A9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01351-6951-417C-9232-83E3D4177435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D6C2-6C07-4D57-802C-F0DC2C867572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85642-9B7B-4E1C-9E03-B97246551881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BD155-219A-41B2-83D7-A6F85B3FD5F7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D5801-37B2-41CC-8D13-C24B112D7DA8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ypan24@cse.cuhk.edu.h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CSCI2520 Tutorial 8:</a:t>
            </a:r>
            <a:br>
              <a:rPr lang="en-US" dirty="0"/>
            </a:br>
            <a:r>
              <a:rPr lang="en-US" dirty="0"/>
              <a:t>Dynamic Selection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CD64284-B8E2-5817-D200-063AEFBB4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Pan Zhenyu</a:t>
            </a:r>
          </a:p>
          <a:p>
            <a:r>
              <a:rPr lang="en-US" altLang="zh-CN" dirty="0">
                <a:hlinkClick r:id="rId3"/>
              </a:rPr>
              <a:t>zypan24@cse.cuhk.edu.hk</a:t>
            </a:r>
            <a:endParaRPr lang="en-US" altLang="zh-CN" dirty="0"/>
          </a:p>
          <a:p>
            <a:r>
              <a:rPr lang="en-US" altLang="zh-CN" dirty="0"/>
              <a:t>Slide Ack: modified based on the slides from Li Hui</a:t>
            </a:r>
          </a:p>
        </p:txBody>
      </p:sp>
    </p:spTree>
    <p:extLst>
      <p:ext uri="{BB962C8B-B14F-4D97-AF65-F5344CB8AC3E}">
        <p14:creationId xmlns:p14="http://schemas.microsoft.com/office/powerpoint/2010/main" val="13460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Set</a:t>
            </a:r>
          </a:p>
          <a:p>
            <a:r>
              <a:rPr lang="en-US" dirty="0"/>
              <a:t>Selection Revisited</a:t>
            </a:r>
          </a:p>
          <a:p>
            <a:r>
              <a:rPr lang="en-US" dirty="0"/>
              <a:t>Dynamic Selection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583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Sets are as fundamental to computer science as they are to mathematics.</a:t>
            </a:r>
          </a:p>
          <a:p>
            <a:r>
              <a:rPr lang="en-US" dirty="0"/>
              <a:t>Sets manipulated by algorithms can </a:t>
            </a:r>
            <a:r>
              <a:rPr lang="en-US" dirty="0">
                <a:solidFill>
                  <a:srgbClr val="0000FF"/>
                </a:solidFill>
              </a:rPr>
              <a:t>grow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shrink</a:t>
            </a:r>
            <a:r>
              <a:rPr lang="en-US" dirty="0"/>
              <a:t>, or otherwise </a:t>
            </a:r>
            <a:r>
              <a:rPr lang="en-US" dirty="0">
                <a:solidFill>
                  <a:srgbClr val="0000FF"/>
                </a:solidFill>
              </a:rPr>
              <a:t>change</a:t>
            </a:r>
            <a:r>
              <a:rPr lang="en-US" dirty="0"/>
              <a:t> over time.</a:t>
            </a:r>
          </a:p>
          <a:p>
            <a:r>
              <a:rPr lang="en-US" dirty="0"/>
              <a:t>We call such sets </a:t>
            </a:r>
            <a:r>
              <a:rPr lang="en-US" dirty="0">
                <a:solidFill>
                  <a:srgbClr val="FF0000"/>
                </a:solidFill>
              </a:rPr>
              <a:t>dynamic</a:t>
            </a:r>
            <a:r>
              <a:rPr lang="en-US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41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Set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2824551"/>
              </p:ext>
            </p:extLst>
          </p:nvPr>
        </p:nvGraphicFramePr>
        <p:xfrm>
          <a:off x="539553" y="1916832"/>
          <a:ext cx="8064894" cy="2160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3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1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Initialize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Selection</a:t>
                      </a:r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Sorted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/>
                        <a:t>Hashtable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Balanced</a:t>
                      </a:r>
                      <a:r>
                        <a:rPr lang="en-US" sz="2000" b="0" baseline="0" dirty="0"/>
                        <a:t> BST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6300192" y="977482"/>
            <a:ext cx="2448272" cy="612934"/>
          </a:xfrm>
          <a:prstGeom prst="wedgeRoundRectCallout">
            <a:avLst>
              <a:gd name="adj1" fmla="val -92985"/>
              <a:gd name="adj2" fmla="val 101230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with known index or pointer instead of key</a:t>
            </a:r>
          </a:p>
        </p:txBody>
      </p:sp>
    </p:spTree>
    <p:extLst>
      <p:ext uri="{BB962C8B-B14F-4D97-AF65-F5344CB8AC3E}">
        <p14:creationId xmlns:p14="http://schemas.microsoft.com/office/powerpoint/2010/main" val="27605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Set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8891035"/>
              </p:ext>
            </p:extLst>
          </p:nvPr>
        </p:nvGraphicFramePr>
        <p:xfrm>
          <a:off x="539553" y="1916832"/>
          <a:ext cx="8064894" cy="2160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3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1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Initialize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Selection</a:t>
                      </a:r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altLang="zh-CN" sz="2000" b="0" dirty="0"/>
                        <a:t>1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Sorted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/>
                        <a:t>Hashtable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Balanced</a:t>
                      </a:r>
                      <a:r>
                        <a:rPr lang="en-US" sz="2000" b="0" baseline="0" dirty="0"/>
                        <a:t> BST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515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Set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815046"/>
              </p:ext>
            </p:extLst>
          </p:nvPr>
        </p:nvGraphicFramePr>
        <p:xfrm>
          <a:off x="539553" y="1916832"/>
          <a:ext cx="8064894" cy="2160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3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1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Initialize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Selection</a:t>
                      </a:r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altLang="zh-CN" sz="2000" b="0" dirty="0"/>
                        <a:t>1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Sorted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nlogn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/>
                        <a:t>Hashtable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Balanced</a:t>
                      </a:r>
                      <a:r>
                        <a:rPr lang="en-US" sz="2000" b="0" baseline="0" dirty="0"/>
                        <a:t> BST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2411760" y="4869160"/>
            <a:ext cx="1512168" cy="612934"/>
          </a:xfrm>
          <a:prstGeom prst="wedgeRoundRectCallout">
            <a:avLst>
              <a:gd name="adj1" fmla="val -24010"/>
              <a:gd name="adj2" fmla="val -318755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merge sort or others</a:t>
            </a: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6156176" y="4868146"/>
            <a:ext cx="1296144" cy="612934"/>
          </a:xfrm>
          <a:prstGeom prst="wedgeRoundRectCallout">
            <a:avLst>
              <a:gd name="adj1" fmla="val -27954"/>
              <a:gd name="adj2" fmla="val -323620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154504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Set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6253428"/>
              </p:ext>
            </p:extLst>
          </p:nvPr>
        </p:nvGraphicFramePr>
        <p:xfrm>
          <a:off x="539553" y="1916832"/>
          <a:ext cx="8064894" cy="2160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3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1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Initialize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Selection</a:t>
                      </a:r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altLang="zh-CN" sz="2000" b="0" dirty="0"/>
                        <a:t>1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Sorted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nlogn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/>
                        <a:t>Hashtable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Balanced</a:t>
                      </a:r>
                      <a:r>
                        <a:rPr lang="en-US" sz="2000" b="0" baseline="0" dirty="0"/>
                        <a:t> BST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2123728" y="4869160"/>
            <a:ext cx="2736304" cy="612934"/>
          </a:xfrm>
          <a:prstGeom prst="wedgeRoundRectCallout">
            <a:avLst>
              <a:gd name="adj1" fmla="val -48240"/>
              <a:gd name="adj2" fmla="val -279837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 err="1"/>
              <a:t>Hashtable</a:t>
            </a:r>
            <a:r>
              <a:rPr lang="en-US" altLang="zh-TW" sz="1800" dirty="0"/>
              <a:t> is completely better than array?</a:t>
            </a:r>
          </a:p>
        </p:txBody>
      </p:sp>
    </p:spTree>
    <p:extLst>
      <p:ext uri="{BB962C8B-B14F-4D97-AF65-F5344CB8AC3E}">
        <p14:creationId xmlns:p14="http://schemas.microsoft.com/office/powerpoint/2010/main" val="401246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Set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603878"/>
              </p:ext>
            </p:extLst>
          </p:nvPr>
        </p:nvGraphicFramePr>
        <p:xfrm>
          <a:off x="539553" y="1916832"/>
          <a:ext cx="8064894" cy="21602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3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1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Initialize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Selection</a:t>
                      </a:r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altLang="zh-CN" sz="2000" b="0" dirty="0"/>
                        <a:t>1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Sorted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nlogn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/>
                        <a:t>Hashtable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Balanced</a:t>
                      </a:r>
                      <a:r>
                        <a:rPr lang="en-US" sz="2000" b="0" baseline="0" dirty="0"/>
                        <a:t> BST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nlogn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2125147" y="4581128"/>
            <a:ext cx="2878901" cy="1225868"/>
          </a:xfrm>
          <a:prstGeom prst="wedgeRoundRectCallout">
            <a:avLst>
              <a:gd name="adj1" fmla="val -48603"/>
              <a:gd name="adj2" fmla="val -109248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Balanced BST is not the best for all operations! Balanced BST is not so bad for all operations!</a:t>
            </a:r>
          </a:p>
        </p:txBody>
      </p:sp>
    </p:spTree>
    <p:extLst>
      <p:ext uri="{BB962C8B-B14F-4D97-AF65-F5344CB8AC3E}">
        <p14:creationId xmlns:p14="http://schemas.microsoft.com/office/powerpoint/2010/main" val="98814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the kth smallest element in an array.</a:t>
            </a:r>
          </a:p>
          <a:p>
            <a:r>
              <a:rPr lang="en-US" dirty="0"/>
              <a:t>Two naive approaches</a:t>
            </a:r>
          </a:p>
          <a:p>
            <a:pPr lvl="1"/>
            <a:r>
              <a:rPr lang="en-US" dirty="0"/>
              <a:t>Sort the array and look up: O(</a:t>
            </a:r>
            <a:r>
              <a:rPr lang="en-US" dirty="0" err="1"/>
              <a:t>nlogn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Partial selection sort: O(</a:t>
            </a:r>
            <a:r>
              <a:rPr lang="en-US" dirty="0" err="1"/>
              <a:t>nk</a:t>
            </a:r>
            <a:r>
              <a:rPr lang="en-US" dirty="0"/>
              <a:t>)</a:t>
            </a:r>
          </a:p>
          <a:p>
            <a:r>
              <a:rPr lang="en-US" dirty="0" err="1"/>
              <a:t>Quickselect</a:t>
            </a:r>
            <a:endParaRPr lang="en-US" dirty="0"/>
          </a:p>
          <a:p>
            <a:pPr lvl="1"/>
            <a:r>
              <a:rPr lang="en-US" dirty="0"/>
              <a:t>Average case: O(n)</a:t>
            </a:r>
          </a:p>
          <a:p>
            <a:pPr lvl="1"/>
            <a:r>
              <a:rPr lang="en-US" dirty="0"/>
              <a:t>Worst case: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40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selection,</a:t>
            </a:r>
          </a:p>
          <a:p>
            <a:pPr lvl="1"/>
            <a:r>
              <a:rPr lang="en-US" dirty="0"/>
              <a:t>What if we need to do it with several k for several times?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46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selection,</a:t>
            </a:r>
          </a:p>
          <a:p>
            <a:pPr lvl="1"/>
            <a:r>
              <a:rPr lang="en-US" dirty="0"/>
              <a:t>What if we need to do it with several k for several times? </a:t>
            </a:r>
            <a:r>
              <a:rPr lang="en-US" dirty="0">
                <a:solidFill>
                  <a:srgbClr val="FF0000"/>
                </a:solidFill>
              </a:rPr>
              <a:t>Sort it!</a:t>
            </a:r>
          </a:p>
          <a:p>
            <a:pPr lvl="1"/>
            <a:r>
              <a:rPr lang="en-US" dirty="0"/>
              <a:t>What if we need to insert and delete elements in the set frequently?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485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selection,</a:t>
            </a:r>
          </a:p>
          <a:p>
            <a:pPr lvl="1"/>
            <a:r>
              <a:rPr lang="en-US" dirty="0"/>
              <a:t>What if we need to do it with several k for several times? </a:t>
            </a:r>
            <a:r>
              <a:rPr lang="en-US" dirty="0">
                <a:solidFill>
                  <a:srgbClr val="FF0000"/>
                </a:solidFill>
              </a:rPr>
              <a:t>Sort it!</a:t>
            </a:r>
          </a:p>
          <a:p>
            <a:pPr lvl="1"/>
            <a:r>
              <a:rPr lang="en-US" dirty="0"/>
              <a:t>What if we need to insert and delete elements in the set frequently?</a:t>
            </a:r>
          </a:p>
          <a:p>
            <a:r>
              <a:rPr lang="en-US" dirty="0">
                <a:solidFill>
                  <a:srgbClr val="FF0000"/>
                </a:solidFill>
              </a:rPr>
              <a:t>Augment</a:t>
            </a:r>
            <a:r>
              <a:rPr lang="en-US" dirty="0"/>
              <a:t> balanced BST!</a:t>
            </a:r>
          </a:p>
          <a:p>
            <a:pPr lvl="1"/>
            <a:r>
              <a:rPr lang="en-US" dirty="0"/>
              <a:t>Balanced BST is faster than sorted/unsorted array in terms of insertion and deletion.</a:t>
            </a:r>
          </a:p>
          <a:p>
            <a:pPr lvl="1"/>
            <a:r>
              <a:rPr lang="en-US" dirty="0"/>
              <a:t>Balanced BST is also more “ordered” than </a:t>
            </a:r>
            <a:r>
              <a:rPr lang="en-US" dirty="0" err="1"/>
              <a:t>hashtable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079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the 7th smallest element, should both subtrees of “36” be checked?</a:t>
            </a:r>
          </a:p>
          <a:p>
            <a:r>
              <a:rPr lang="en-US" dirty="0"/>
              <a:t>What information will be helpful?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grpSp>
        <p:nvGrpSpPr>
          <p:cNvPr id="45" name="Group 50"/>
          <p:cNvGrpSpPr>
            <a:grpSpLocks/>
          </p:cNvGrpSpPr>
          <p:nvPr/>
        </p:nvGrpSpPr>
        <p:grpSpPr bwMode="auto">
          <a:xfrm>
            <a:off x="5177949" y="3015075"/>
            <a:ext cx="3786539" cy="3294245"/>
            <a:chOff x="3039" y="1820"/>
            <a:chExt cx="1746" cy="1519"/>
          </a:xfrm>
        </p:grpSpPr>
        <p:sp>
          <p:nvSpPr>
            <p:cNvPr id="46" name="Oval 28"/>
            <p:cNvSpPr>
              <a:spLocks noChangeAspect="1" noChangeArrowheads="1"/>
            </p:cNvSpPr>
            <p:nvPr/>
          </p:nvSpPr>
          <p:spPr bwMode="auto">
            <a:xfrm>
              <a:off x="3951" y="1820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36</a:t>
              </a:r>
            </a:p>
          </p:txBody>
        </p:sp>
        <p:sp>
          <p:nvSpPr>
            <p:cNvPr id="47" name="Oval 29"/>
            <p:cNvSpPr>
              <a:spLocks noChangeAspect="1" noChangeArrowheads="1"/>
            </p:cNvSpPr>
            <p:nvPr/>
          </p:nvSpPr>
          <p:spPr bwMode="auto">
            <a:xfrm>
              <a:off x="4405" y="2275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49</a:t>
              </a:r>
            </a:p>
          </p:txBody>
        </p:sp>
        <p:sp>
          <p:nvSpPr>
            <p:cNvPr id="48" name="Oval 30"/>
            <p:cNvSpPr>
              <a:spLocks noChangeAspect="1" noChangeArrowheads="1"/>
            </p:cNvSpPr>
            <p:nvPr/>
          </p:nvSpPr>
          <p:spPr bwMode="auto">
            <a:xfrm>
              <a:off x="3494" y="2275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14</a:t>
              </a:r>
            </a:p>
          </p:txBody>
        </p:sp>
        <p:sp>
          <p:nvSpPr>
            <p:cNvPr id="49" name="Oval 31"/>
            <p:cNvSpPr>
              <a:spLocks noChangeAspect="1" noChangeArrowheads="1"/>
            </p:cNvSpPr>
            <p:nvPr/>
          </p:nvSpPr>
          <p:spPr bwMode="auto">
            <a:xfrm>
              <a:off x="3798" y="2732"/>
              <a:ext cx="153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25</a:t>
              </a:r>
            </a:p>
          </p:txBody>
        </p:sp>
        <p:sp>
          <p:nvSpPr>
            <p:cNvPr id="50" name="Oval 33"/>
            <p:cNvSpPr>
              <a:spLocks noChangeAspect="1" noChangeArrowheads="1"/>
            </p:cNvSpPr>
            <p:nvPr/>
          </p:nvSpPr>
          <p:spPr bwMode="auto">
            <a:xfrm>
              <a:off x="3191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2</a:t>
              </a:r>
            </a:p>
          </p:txBody>
        </p:sp>
        <p:sp>
          <p:nvSpPr>
            <p:cNvPr id="51" name="Oval 34"/>
            <p:cNvSpPr>
              <a:spLocks noChangeAspect="1" noChangeArrowheads="1"/>
            </p:cNvSpPr>
            <p:nvPr/>
          </p:nvSpPr>
          <p:spPr bwMode="auto">
            <a:xfrm>
              <a:off x="4633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50</a:t>
              </a:r>
            </a:p>
          </p:txBody>
        </p:sp>
        <p:sp>
          <p:nvSpPr>
            <p:cNvPr id="52" name="Oval 35"/>
            <p:cNvSpPr>
              <a:spLocks noChangeAspect="1" noChangeArrowheads="1"/>
            </p:cNvSpPr>
            <p:nvPr/>
          </p:nvSpPr>
          <p:spPr bwMode="auto">
            <a:xfrm>
              <a:off x="4178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38</a:t>
              </a:r>
            </a:p>
          </p:txBody>
        </p:sp>
        <p:sp>
          <p:nvSpPr>
            <p:cNvPr id="53" name="Oval 36"/>
            <p:cNvSpPr>
              <a:spLocks noChangeAspect="1" noChangeArrowheads="1"/>
            </p:cNvSpPr>
            <p:nvPr/>
          </p:nvSpPr>
          <p:spPr bwMode="auto">
            <a:xfrm>
              <a:off x="3039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</a:t>
              </a:r>
            </a:p>
          </p:txBody>
        </p:sp>
        <p:sp>
          <p:nvSpPr>
            <p:cNvPr id="54" name="Oval 37"/>
            <p:cNvSpPr>
              <a:spLocks noChangeAspect="1" noChangeArrowheads="1"/>
            </p:cNvSpPr>
            <p:nvPr/>
          </p:nvSpPr>
          <p:spPr bwMode="auto">
            <a:xfrm>
              <a:off x="3342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13</a:t>
              </a:r>
            </a:p>
          </p:txBody>
        </p:sp>
        <p:sp>
          <p:nvSpPr>
            <p:cNvPr id="55" name="Oval 38"/>
            <p:cNvSpPr>
              <a:spLocks noChangeAspect="1" noChangeArrowheads="1"/>
            </p:cNvSpPr>
            <p:nvPr/>
          </p:nvSpPr>
          <p:spPr bwMode="auto">
            <a:xfrm>
              <a:off x="4063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37</a:t>
              </a:r>
            </a:p>
          </p:txBody>
        </p:sp>
        <p:cxnSp>
          <p:nvCxnSpPr>
            <p:cNvPr id="56" name="AutoShape 39"/>
            <p:cNvCxnSpPr>
              <a:cxnSpLocks noChangeAspect="1" noChangeShapeType="1"/>
              <a:stCxn id="46" idx="4"/>
              <a:endCxn id="48" idx="0"/>
            </p:cNvCxnSpPr>
            <p:nvPr/>
          </p:nvCxnSpPr>
          <p:spPr bwMode="auto">
            <a:xfrm flipH="1">
              <a:off x="3571" y="1972"/>
              <a:ext cx="456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40"/>
            <p:cNvCxnSpPr>
              <a:cxnSpLocks noChangeAspect="1" noChangeShapeType="1"/>
              <a:stCxn id="46" idx="4"/>
              <a:endCxn id="47" idx="0"/>
            </p:cNvCxnSpPr>
            <p:nvPr/>
          </p:nvCxnSpPr>
          <p:spPr bwMode="auto">
            <a:xfrm>
              <a:off x="4027" y="1972"/>
              <a:ext cx="455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AutoShape 41"/>
            <p:cNvCxnSpPr>
              <a:cxnSpLocks noChangeAspect="1" noChangeShapeType="1"/>
              <a:stCxn id="47" idx="4"/>
              <a:endCxn id="52" idx="0"/>
            </p:cNvCxnSpPr>
            <p:nvPr/>
          </p:nvCxnSpPr>
          <p:spPr bwMode="auto">
            <a:xfrm flipH="1">
              <a:off x="4254" y="2427"/>
              <a:ext cx="228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AutoShape 42"/>
            <p:cNvCxnSpPr>
              <a:cxnSpLocks noChangeAspect="1" noChangeShapeType="1"/>
              <a:stCxn id="47" idx="4"/>
              <a:endCxn id="51" idx="0"/>
            </p:cNvCxnSpPr>
            <p:nvPr/>
          </p:nvCxnSpPr>
          <p:spPr bwMode="auto">
            <a:xfrm>
              <a:off x="4482" y="2427"/>
              <a:ext cx="227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AutoShape 43"/>
            <p:cNvCxnSpPr>
              <a:cxnSpLocks noChangeAspect="1" noChangeShapeType="1"/>
              <a:stCxn id="48" idx="4"/>
              <a:endCxn id="50" idx="0"/>
            </p:cNvCxnSpPr>
            <p:nvPr/>
          </p:nvCxnSpPr>
          <p:spPr bwMode="auto">
            <a:xfrm flipH="1">
              <a:off x="3267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AutoShape 45"/>
            <p:cNvCxnSpPr>
              <a:cxnSpLocks noChangeAspect="1" noChangeShapeType="1"/>
              <a:stCxn id="48" idx="4"/>
              <a:endCxn id="49" idx="0"/>
            </p:cNvCxnSpPr>
            <p:nvPr/>
          </p:nvCxnSpPr>
          <p:spPr bwMode="auto">
            <a:xfrm>
              <a:off x="3571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46"/>
            <p:cNvCxnSpPr>
              <a:cxnSpLocks noChangeAspect="1" noChangeShapeType="1"/>
              <a:stCxn id="50" idx="4"/>
              <a:endCxn id="53" idx="0"/>
            </p:cNvCxnSpPr>
            <p:nvPr/>
          </p:nvCxnSpPr>
          <p:spPr bwMode="auto">
            <a:xfrm flipH="1">
              <a:off x="3115" y="2884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47"/>
            <p:cNvCxnSpPr>
              <a:cxnSpLocks noChangeAspect="1" noChangeShapeType="1"/>
              <a:stCxn id="50" idx="4"/>
              <a:endCxn id="54" idx="0"/>
            </p:cNvCxnSpPr>
            <p:nvPr/>
          </p:nvCxnSpPr>
          <p:spPr bwMode="auto">
            <a:xfrm>
              <a:off x="3267" y="2884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48"/>
            <p:cNvCxnSpPr>
              <a:cxnSpLocks noChangeAspect="1" noChangeShapeType="1"/>
              <a:stCxn id="52" idx="4"/>
              <a:endCxn id="55" idx="0"/>
            </p:cNvCxnSpPr>
            <p:nvPr/>
          </p:nvCxnSpPr>
          <p:spPr bwMode="auto">
            <a:xfrm flipH="1">
              <a:off x="4139" y="2884"/>
              <a:ext cx="115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55815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the 7th smallest element, should both subtrees of “36” be checked?</a:t>
            </a:r>
          </a:p>
          <a:p>
            <a:r>
              <a:rPr lang="en-US" dirty="0"/>
              <a:t>What information will be helpful?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grpSp>
        <p:nvGrpSpPr>
          <p:cNvPr id="45" name="Group 50"/>
          <p:cNvGrpSpPr>
            <a:grpSpLocks/>
          </p:cNvGrpSpPr>
          <p:nvPr/>
        </p:nvGrpSpPr>
        <p:grpSpPr bwMode="auto">
          <a:xfrm>
            <a:off x="5177949" y="3015075"/>
            <a:ext cx="3786539" cy="3294245"/>
            <a:chOff x="3039" y="1820"/>
            <a:chExt cx="1746" cy="1519"/>
          </a:xfrm>
        </p:grpSpPr>
        <p:sp>
          <p:nvSpPr>
            <p:cNvPr id="46" name="Oval 28"/>
            <p:cNvSpPr>
              <a:spLocks noChangeAspect="1" noChangeArrowheads="1"/>
            </p:cNvSpPr>
            <p:nvPr/>
          </p:nvSpPr>
          <p:spPr bwMode="auto">
            <a:xfrm>
              <a:off x="3951" y="1820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36</a:t>
              </a:r>
            </a:p>
          </p:txBody>
        </p:sp>
        <p:sp>
          <p:nvSpPr>
            <p:cNvPr id="47" name="Oval 29"/>
            <p:cNvSpPr>
              <a:spLocks noChangeAspect="1" noChangeArrowheads="1"/>
            </p:cNvSpPr>
            <p:nvPr/>
          </p:nvSpPr>
          <p:spPr bwMode="auto">
            <a:xfrm>
              <a:off x="4405" y="2275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49</a:t>
              </a:r>
            </a:p>
          </p:txBody>
        </p:sp>
        <p:sp>
          <p:nvSpPr>
            <p:cNvPr id="48" name="Oval 30"/>
            <p:cNvSpPr>
              <a:spLocks noChangeAspect="1" noChangeArrowheads="1"/>
            </p:cNvSpPr>
            <p:nvPr/>
          </p:nvSpPr>
          <p:spPr bwMode="auto">
            <a:xfrm>
              <a:off x="3494" y="2275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14</a:t>
              </a:r>
            </a:p>
          </p:txBody>
        </p:sp>
        <p:sp>
          <p:nvSpPr>
            <p:cNvPr id="49" name="Oval 31"/>
            <p:cNvSpPr>
              <a:spLocks noChangeAspect="1" noChangeArrowheads="1"/>
            </p:cNvSpPr>
            <p:nvPr/>
          </p:nvSpPr>
          <p:spPr bwMode="auto">
            <a:xfrm>
              <a:off x="3798" y="2732"/>
              <a:ext cx="153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25</a:t>
              </a:r>
            </a:p>
          </p:txBody>
        </p:sp>
        <p:sp>
          <p:nvSpPr>
            <p:cNvPr id="50" name="Oval 33"/>
            <p:cNvSpPr>
              <a:spLocks noChangeAspect="1" noChangeArrowheads="1"/>
            </p:cNvSpPr>
            <p:nvPr/>
          </p:nvSpPr>
          <p:spPr bwMode="auto">
            <a:xfrm>
              <a:off x="3191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2</a:t>
              </a:r>
            </a:p>
          </p:txBody>
        </p:sp>
        <p:sp>
          <p:nvSpPr>
            <p:cNvPr id="51" name="Oval 34"/>
            <p:cNvSpPr>
              <a:spLocks noChangeAspect="1" noChangeArrowheads="1"/>
            </p:cNvSpPr>
            <p:nvPr/>
          </p:nvSpPr>
          <p:spPr bwMode="auto">
            <a:xfrm>
              <a:off x="4633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50</a:t>
              </a:r>
            </a:p>
          </p:txBody>
        </p:sp>
        <p:sp>
          <p:nvSpPr>
            <p:cNvPr id="52" name="Oval 35"/>
            <p:cNvSpPr>
              <a:spLocks noChangeAspect="1" noChangeArrowheads="1"/>
            </p:cNvSpPr>
            <p:nvPr/>
          </p:nvSpPr>
          <p:spPr bwMode="auto">
            <a:xfrm>
              <a:off x="4178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38</a:t>
              </a:r>
            </a:p>
          </p:txBody>
        </p:sp>
        <p:sp>
          <p:nvSpPr>
            <p:cNvPr id="53" name="Oval 36"/>
            <p:cNvSpPr>
              <a:spLocks noChangeAspect="1" noChangeArrowheads="1"/>
            </p:cNvSpPr>
            <p:nvPr/>
          </p:nvSpPr>
          <p:spPr bwMode="auto">
            <a:xfrm>
              <a:off x="3039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</a:t>
              </a:r>
            </a:p>
          </p:txBody>
        </p:sp>
        <p:sp>
          <p:nvSpPr>
            <p:cNvPr id="54" name="Oval 37"/>
            <p:cNvSpPr>
              <a:spLocks noChangeAspect="1" noChangeArrowheads="1"/>
            </p:cNvSpPr>
            <p:nvPr/>
          </p:nvSpPr>
          <p:spPr bwMode="auto">
            <a:xfrm>
              <a:off x="3342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13</a:t>
              </a:r>
            </a:p>
          </p:txBody>
        </p:sp>
        <p:sp>
          <p:nvSpPr>
            <p:cNvPr id="55" name="Oval 38"/>
            <p:cNvSpPr>
              <a:spLocks noChangeAspect="1" noChangeArrowheads="1"/>
            </p:cNvSpPr>
            <p:nvPr/>
          </p:nvSpPr>
          <p:spPr bwMode="auto">
            <a:xfrm>
              <a:off x="4063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37</a:t>
              </a:r>
            </a:p>
          </p:txBody>
        </p:sp>
        <p:cxnSp>
          <p:nvCxnSpPr>
            <p:cNvPr id="56" name="AutoShape 39"/>
            <p:cNvCxnSpPr>
              <a:cxnSpLocks noChangeAspect="1" noChangeShapeType="1"/>
              <a:stCxn id="46" idx="4"/>
              <a:endCxn id="48" idx="0"/>
            </p:cNvCxnSpPr>
            <p:nvPr/>
          </p:nvCxnSpPr>
          <p:spPr bwMode="auto">
            <a:xfrm flipH="1">
              <a:off x="3571" y="1972"/>
              <a:ext cx="456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40"/>
            <p:cNvCxnSpPr>
              <a:cxnSpLocks noChangeAspect="1" noChangeShapeType="1"/>
              <a:stCxn id="46" idx="4"/>
              <a:endCxn id="47" idx="0"/>
            </p:cNvCxnSpPr>
            <p:nvPr/>
          </p:nvCxnSpPr>
          <p:spPr bwMode="auto">
            <a:xfrm>
              <a:off x="4027" y="1972"/>
              <a:ext cx="455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AutoShape 41"/>
            <p:cNvCxnSpPr>
              <a:cxnSpLocks noChangeAspect="1" noChangeShapeType="1"/>
              <a:stCxn id="47" idx="4"/>
              <a:endCxn id="52" idx="0"/>
            </p:cNvCxnSpPr>
            <p:nvPr/>
          </p:nvCxnSpPr>
          <p:spPr bwMode="auto">
            <a:xfrm flipH="1">
              <a:off x="4254" y="2427"/>
              <a:ext cx="228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AutoShape 42"/>
            <p:cNvCxnSpPr>
              <a:cxnSpLocks noChangeAspect="1" noChangeShapeType="1"/>
              <a:stCxn id="47" idx="4"/>
              <a:endCxn id="51" idx="0"/>
            </p:cNvCxnSpPr>
            <p:nvPr/>
          </p:nvCxnSpPr>
          <p:spPr bwMode="auto">
            <a:xfrm>
              <a:off x="4482" y="2427"/>
              <a:ext cx="227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AutoShape 43"/>
            <p:cNvCxnSpPr>
              <a:cxnSpLocks noChangeAspect="1" noChangeShapeType="1"/>
              <a:stCxn id="48" idx="4"/>
              <a:endCxn id="50" idx="0"/>
            </p:cNvCxnSpPr>
            <p:nvPr/>
          </p:nvCxnSpPr>
          <p:spPr bwMode="auto">
            <a:xfrm flipH="1">
              <a:off x="3267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AutoShape 45"/>
            <p:cNvCxnSpPr>
              <a:cxnSpLocks noChangeAspect="1" noChangeShapeType="1"/>
              <a:stCxn id="48" idx="4"/>
              <a:endCxn id="49" idx="0"/>
            </p:cNvCxnSpPr>
            <p:nvPr/>
          </p:nvCxnSpPr>
          <p:spPr bwMode="auto">
            <a:xfrm>
              <a:off x="3571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AutoShape 46"/>
            <p:cNvCxnSpPr>
              <a:cxnSpLocks noChangeAspect="1" noChangeShapeType="1"/>
              <a:stCxn id="50" idx="4"/>
              <a:endCxn id="53" idx="0"/>
            </p:cNvCxnSpPr>
            <p:nvPr/>
          </p:nvCxnSpPr>
          <p:spPr bwMode="auto">
            <a:xfrm flipH="1">
              <a:off x="3115" y="2884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47"/>
            <p:cNvCxnSpPr>
              <a:cxnSpLocks noChangeAspect="1" noChangeShapeType="1"/>
              <a:stCxn id="50" idx="4"/>
              <a:endCxn id="54" idx="0"/>
            </p:cNvCxnSpPr>
            <p:nvPr/>
          </p:nvCxnSpPr>
          <p:spPr bwMode="auto">
            <a:xfrm>
              <a:off x="3267" y="2884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AutoShape 48"/>
            <p:cNvCxnSpPr>
              <a:cxnSpLocks noChangeAspect="1" noChangeShapeType="1"/>
              <a:stCxn id="52" idx="4"/>
              <a:endCxn id="55" idx="0"/>
            </p:cNvCxnSpPr>
            <p:nvPr/>
          </p:nvCxnSpPr>
          <p:spPr bwMode="auto">
            <a:xfrm flipH="1">
              <a:off x="4139" y="2884"/>
              <a:ext cx="115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5" name="TextBox 64"/>
          <p:cNvSpPr txBox="1"/>
          <p:nvPr/>
        </p:nvSpPr>
        <p:spPr>
          <a:xfrm>
            <a:off x="5191927" y="63000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1209" y="63095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21567" y="53227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80851" y="43314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40134" y="53229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12668" y="6309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48824" y="53229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3153" y="53229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54361" y="43492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92280" y="33447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3632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the following function</a:t>
            </a:r>
          </a:p>
          <a:p>
            <a:endParaRPr lang="en-US" dirty="0"/>
          </a:p>
          <a:p>
            <a:r>
              <a:rPr lang="en-US" dirty="0"/>
              <a:t>The definition of </a:t>
            </a:r>
            <a:r>
              <a:rPr lang="en-US" dirty="0" err="1"/>
              <a:t>bstCDT</a:t>
            </a:r>
            <a:r>
              <a:rPr lang="en-US" dirty="0"/>
              <a:t> is as follows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63688" y="2276872"/>
            <a:ext cx="6532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treeNodeADT</a:t>
            </a:r>
            <a:r>
              <a:rPr lang="de-D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FindKthElement(t: </a:t>
            </a:r>
            <a:r>
              <a:rPr lang="de-DE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bstADT</a:t>
            </a:r>
            <a:r>
              <a:rPr lang="de-D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k: </a:t>
            </a:r>
            <a:r>
              <a:rPr lang="de-DE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de-D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736709" y="3573016"/>
            <a:ext cx="314701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bstCDT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: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root: 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treeNodeADT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left: 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bstADT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right: </a:t>
            </a:r>
            <a:r>
              <a:rPr lang="en-US" altLang="zh-CN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bstADT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size: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77103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71600" y="1916832"/>
            <a:ext cx="78488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treeNodeADT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FindKthElement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t: </a:t>
            </a:r>
            <a:r>
              <a:rPr lang="en-US" altLang="zh-CN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bstADT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):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i: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t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.left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!= 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Consolas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size(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t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.left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 + 1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1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t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.root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else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FindKthElement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t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.left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else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FindKthElement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en-US" dirty="0" err="1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t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.right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k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-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5796135" y="2420888"/>
            <a:ext cx="1855787" cy="666750"/>
          </a:xfrm>
          <a:prstGeom prst="wedgeRoundRectCallout">
            <a:avLst>
              <a:gd name="adj1" fmla="val -201815"/>
              <a:gd name="adj2" fmla="val 110168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 </a:t>
            </a:r>
            <a:r>
              <a:rPr lang="en-US" altLang="zh-TW" sz="2000" i="1" dirty="0">
                <a:solidFill>
                  <a:srgbClr val="0000FF"/>
                </a:solidFill>
              </a:rPr>
              <a:t>test</a:t>
            </a:r>
            <a:r>
              <a:rPr lang="en-US" altLang="zh-TW" sz="2000" dirty="0"/>
              <a:t> to stop or continue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823923" y="3236072"/>
            <a:ext cx="1828000" cy="340519"/>
          </a:xfrm>
          <a:prstGeom prst="wedgeRoundRectCallout">
            <a:avLst>
              <a:gd name="adj1" fmla="val -152592"/>
              <a:gd name="adj2" fmla="val 104711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An </a:t>
            </a:r>
            <a:r>
              <a:rPr lang="en-US" altLang="zh-TW" sz="2000" i="1" dirty="0">
                <a:solidFill>
                  <a:srgbClr val="0000FF"/>
                </a:solidFill>
              </a:rPr>
              <a:t>end case</a:t>
            </a:r>
            <a:endParaRPr lang="en-US" altLang="zh-TW" sz="2000" dirty="0"/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7056884" y="3997920"/>
            <a:ext cx="1619574" cy="681038"/>
          </a:xfrm>
          <a:prstGeom prst="wedgeRoundRectCallout">
            <a:avLst>
              <a:gd name="adj1" fmla="val -86209"/>
              <a:gd name="adj2" fmla="val -9335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 </a:t>
            </a:r>
            <a:r>
              <a:rPr lang="en-US" altLang="zh-TW" sz="2000" i="1" dirty="0">
                <a:solidFill>
                  <a:srgbClr val="0000FF"/>
                </a:solidFill>
              </a:rPr>
              <a:t>recursive call</a:t>
            </a:r>
            <a:endParaRPr lang="en-US" altLang="zh-TW" sz="2000" dirty="0"/>
          </a:p>
        </p:txBody>
      </p:sp>
      <p:sp>
        <p:nvSpPr>
          <p:cNvPr id="10" name="AutoShape 9"/>
          <p:cNvSpPr>
            <a:spLocks noChangeArrowheads="1"/>
          </p:cNvSpPr>
          <p:nvPr/>
        </p:nvSpPr>
        <p:spPr bwMode="auto">
          <a:xfrm>
            <a:off x="7056883" y="3998342"/>
            <a:ext cx="1619574" cy="681038"/>
          </a:xfrm>
          <a:prstGeom prst="wedgeRoundRectCallout">
            <a:avLst>
              <a:gd name="adj1" fmla="val -71705"/>
              <a:gd name="adj2" fmla="val 57798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 </a:t>
            </a:r>
            <a:r>
              <a:rPr lang="en-US" altLang="zh-TW" sz="2000" i="1" dirty="0">
                <a:solidFill>
                  <a:srgbClr val="0000FF"/>
                </a:solidFill>
              </a:rPr>
              <a:t>recursive call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29071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96320" cy="4525963"/>
          </a:xfrm>
        </p:spPr>
        <p:txBody>
          <a:bodyPr/>
          <a:lstStyle/>
          <a:p>
            <a:r>
              <a:rPr lang="en-US" dirty="0"/>
              <a:t>The complexity is </a:t>
            </a:r>
            <a:r>
              <a:rPr lang="en-US" dirty="0">
                <a:solidFill>
                  <a:srgbClr val="0000FF"/>
                </a:solidFill>
              </a:rPr>
              <a:t>O(</a:t>
            </a:r>
            <a:r>
              <a:rPr lang="en-US" dirty="0" err="1">
                <a:solidFill>
                  <a:srgbClr val="0000FF"/>
                </a:solidFill>
              </a:rPr>
              <a:t>logn</a:t>
            </a:r>
            <a:r>
              <a:rPr lang="en-US" dirty="0">
                <a:solidFill>
                  <a:srgbClr val="0000FF"/>
                </a:solidFill>
              </a:rPr>
              <a:t>) </a:t>
            </a:r>
            <a:r>
              <a:rPr lang="en-US" dirty="0"/>
              <a:t>(bounded by tree depth)</a:t>
            </a:r>
          </a:p>
          <a:p>
            <a:r>
              <a:rPr lang="en-US" dirty="0"/>
              <a:t>Question: why not keep the ranks themselves in the nodes? The complexity is still O(</a:t>
            </a:r>
            <a:r>
              <a:rPr lang="en-US" dirty="0" err="1"/>
              <a:t>logn</a:t>
            </a:r>
            <a:r>
              <a:rPr lang="en-US" dirty="0"/>
              <a:t>) 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679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47248" cy="4525963"/>
          </a:xfrm>
        </p:spPr>
        <p:txBody>
          <a:bodyPr/>
          <a:lstStyle/>
          <a:p>
            <a:r>
              <a:rPr lang="en-US" dirty="0"/>
              <a:t>The complexity is </a:t>
            </a:r>
            <a:r>
              <a:rPr lang="en-US" dirty="0">
                <a:solidFill>
                  <a:srgbClr val="0000FF"/>
                </a:solidFill>
              </a:rPr>
              <a:t>O(</a:t>
            </a:r>
            <a:r>
              <a:rPr lang="en-US" dirty="0" err="1">
                <a:solidFill>
                  <a:srgbClr val="0000FF"/>
                </a:solidFill>
              </a:rPr>
              <a:t>logn</a:t>
            </a:r>
            <a:r>
              <a:rPr lang="en-US" dirty="0">
                <a:solidFill>
                  <a:srgbClr val="0000FF"/>
                </a:solidFill>
              </a:rPr>
              <a:t>) </a:t>
            </a:r>
            <a:r>
              <a:rPr lang="en-US" dirty="0"/>
              <a:t>(bounded by tree depth)</a:t>
            </a:r>
          </a:p>
          <a:p>
            <a:r>
              <a:rPr lang="en-US" dirty="0"/>
              <a:t>Question: why not keep the ranks themselves in the nodes? The complexity is still O(</a:t>
            </a:r>
            <a:r>
              <a:rPr lang="en-US" dirty="0" err="1"/>
              <a:t>logn</a:t>
            </a:r>
            <a:r>
              <a:rPr lang="en-US" dirty="0"/>
              <a:t>) …</a:t>
            </a:r>
          </a:p>
          <a:p>
            <a:r>
              <a:rPr lang="en-US" dirty="0"/>
              <a:t>They are hard to maintain when insertion or deletion happens …</a:t>
            </a:r>
          </a:p>
          <a:p>
            <a:r>
              <a:rPr lang="en-US" dirty="0"/>
              <a:t>Question: How to update </a:t>
            </a:r>
            <a:r>
              <a:rPr lang="en-US" dirty="0" err="1"/>
              <a:t>substree</a:t>
            </a:r>
            <a:r>
              <a:rPr lang="en-US" dirty="0"/>
              <a:t> sizes when inserting or deleting?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731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“24”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2627784" y="2357518"/>
            <a:ext cx="3786539" cy="3294245"/>
            <a:chOff x="3039" y="1820"/>
            <a:chExt cx="1746" cy="1519"/>
          </a:xfrm>
        </p:grpSpPr>
        <p:sp>
          <p:nvSpPr>
            <p:cNvPr id="6" name="Oval 28"/>
            <p:cNvSpPr>
              <a:spLocks noChangeAspect="1" noChangeArrowheads="1"/>
            </p:cNvSpPr>
            <p:nvPr/>
          </p:nvSpPr>
          <p:spPr bwMode="auto">
            <a:xfrm>
              <a:off x="3951" y="1820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36</a:t>
              </a:r>
            </a:p>
          </p:txBody>
        </p:sp>
        <p:sp>
          <p:nvSpPr>
            <p:cNvPr id="7" name="Oval 29"/>
            <p:cNvSpPr>
              <a:spLocks noChangeAspect="1" noChangeArrowheads="1"/>
            </p:cNvSpPr>
            <p:nvPr/>
          </p:nvSpPr>
          <p:spPr bwMode="auto">
            <a:xfrm>
              <a:off x="4405" y="2275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49</a:t>
              </a:r>
            </a:p>
          </p:txBody>
        </p:sp>
        <p:sp>
          <p:nvSpPr>
            <p:cNvPr id="8" name="Oval 30"/>
            <p:cNvSpPr>
              <a:spLocks noChangeAspect="1" noChangeArrowheads="1"/>
            </p:cNvSpPr>
            <p:nvPr/>
          </p:nvSpPr>
          <p:spPr bwMode="auto">
            <a:xfrm>
              <a:off x="3494" y="2275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14</a:t>
              </a:r>
            </a:p>
          </p:txBody>
        </p:sp>
        <p:sp>
          <p:nvSpPr>
            <p:cNvPr id="9" name="Oval 31"/>
            <p:cNvSpPr>
              <a:spLocks noChangeAspect="1" noChangeArrowheads="1"/>
            </p:cNvSpPr>
            <p:nvPr/>
          </p:nvSpPr>
          <p:spPr bwMode="auto">
            <a:xfrm>
              <a:off x="3798" y="2732"/>
              <a:ext cx="153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25</a:t>
              </a:r>
            </a:p>
          </p:txBody>
        </p:sp>
        <p:sp>
          <p:nvSpPr>
            <p:cNvPr id="10" name="Oval 33"/>
            <p:cNvSpPr>
              <a:spLocks noChangeAspect="1" noChangeArrowheads="1"/>
            </p:cNvSpPr>
            <p:nvPr/>
          </p:nvSpPr>
          <p:spPr bwMode="auto">
            <a:xfrm>
              <a:off x="3191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2</a:t>
              </a:r>
            </a:p>
          </p:txBody>
        </p:sp>
        <p:sp>
          <p:nvSpPr>
            <p:cNvPr id="11" name="Oval 34"/>
            <p:cNvSpPr>
              <a:spLocks noChangeAspect="1" noChangeArrowheads="1"/>
            </p:cNvSpPr>
            <p:nvPr/>
          </p:nvSpPr>
          <p:spPr bwMode="auto">
            <a:xfrm>
              <a:off x="4633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50</a:t>
              </a:r>
            </a:p>
          </p:txBody>
        </p:sp>
        <p:sp>
          <p:nvSpPr>
            <p:cNvPr id="12" name="Oval 35"/>
            <p:cNvSpPr>
              <a:spLocks noChangeAspect="1" noChangeArrowheads="1"/>
            </p:cNvSpPr>
            <p:nvPr/>
          </p:nvSpPr>
          <p:spPr bwMode="auto">
            <a:xfrm>
              <a:off x="4178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38</a:t>
              </a:r>
            </a:p>
          </p:txBody>
        </p:sp>
        <p:sp>
          <p:nvSpPr>
            <p:cNvPr id="13" name="Oval 36"/>
            <p:cNvSpPr>
              <a:spLocks noChangeAspect="1" noChangeArrowheads="1"/>
            </p:cNvSpPr>
            <p:nvPr/>
          </p:nvSpPr>
          <p:spPr bwMode="auto">
            <a:xfrm>
              <a:off x="3039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</a:t>
              </a:r>
            </a:p>
          </p:txBody>
        </p:sp>
        <p:sp>
          <p:nvSpPr>
            <p:cNvPr id="14" name="Oval 37"/>
            <p:cNvSpPr>
              <a:spLocks noChangeAspect="1" noChangeArrowheads="1"/>
            </p:cNvSpPr>
            <p:nvPr/>
          </p:nvSpPr>
          <p:spPr bwMode="auto">
            <a:xfrm>
              <a:off x="3342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13</a:t>
              </a:r>
            </a:p>
          </p:txBody>
        </p:sp>
        <p:sp>
          <p:nvSpPr>
            <p:cNvPr id="15" name="Oval 38"/>
            <p:cNvSpPr>
              <a:spLocks noChangeAspect="1" noChangeArrowheads="1"/>
            </p:cNvSpPr>
            <p:nvPr/>
          </p:nvSpPr>
          <p:spPr bwMode="auto">
            <a:xfrm>
              <a:off x="4063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37</a:t>
              </a:r>
            </a:p>
          </p:txBody>
        </p:sp>
        <p:cxnSp>
          <p:nvCxnSpPr>
            <p:cNvPr id="16" name="AutoShape 39"/>
            <p:cNvCxnSpPr>
              <a:cxnSpLocks noChangeAspect="1" noChangeShapeType="1"/>
              <a:stCxn id="6" idx="4"/>
              <a:endCxn id="8" idx="0"/>
            </p:cNvCxnSpPr>
            <p:nvPr/>
          </p:nvCxnSpPr>
          <p:spPr bwMode="auto">
            <a:xfrm flipH="1">
              <a:off x="3571" y="1972"/>
              <a:ext cx="456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40"/>
            <p:cNvCxnSpPr>
              <a:cxnSpLocks noChangeAspect="1" noChangeShapeType="1"/>
              <a:stCxn id="6" idx="4"/>
              <a:endCxn id="7" idx="0"/>
            </p:cNvCxnSpPr>
            <p:nvPr/>
          </p:nvCxnSpPr>
          <p:spPr bwMode="auto">
            <a:xfrm>
              <a:off x="4027" y="1972"/>
              <a:ext cx="455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41"/>
            <p:cNvCxnSpPr>
              <a:cxnSpLocks noChangeAspect="1" noChangeShapeType="1"/>
              <a:stCxn id="7" idx="4"/>
              <a:endCxn id="12" idx="0"/>
            </p:cNvCxnSpPr>
            <p:nvPr/>
          </p:nvCxnSpPr>
          <p:spPr bwMode="auto">
            <a:xfrm flipH="1">
              <a:off x="4254" y="2427"/>
              <a:ext cx="228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42"/>
            <p:cNvCxnSpPr>
              <a:cxnSpLocks noChangeAspect="1" noChangeShapeType="1"/>
              <a:stCxn id="7" idx="4"/>
              <a:endCxn id="11" idx="0"/>
            </p:cNvCxnSpPr>
            <p:nvPr/>
          </p:nvCxnSpPr>
          <p:spPr bwMode="auto">
            <a:xfrm>
              <a:off x="4482" y="2427"/>
              <a:ext cx="227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43"/>
            <p:cNvCxnSpPr>
              <a:cxnSpLocks noChangeAspect="1" noChangeShapeType="1"/>
              <a:stCxn id="8" idx="4"/>
              <a:endCxn id="10" idx="0"/>
            </p:cNvCxnSpPr>
            <p:nvPr/>
          </p:nvCxnSpPr>
          <p:spPr bwMode="auto">
            <a:xfrm flipH="1">
              <a:off x="3267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45"/>
            <p:cNvCxnSpPr>
              <a:cxnSpLocks noChangeAspect="1" noChangeShapeType="1"/>
              <a:stCxn id="8" idx="4"/>
              <a:endCxn id="9" idx="0"/>
            </p:cNvCxnSpPr>
            <p:nvPr/>
          </p:nvCxnSpPr>
          <p:spPr bwMode="auto">
            <a:xfrm>
              <a:off x="3571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46"/>
            <p:cNvCxnSpPr>
              <a:cxnSpLocks noChangeAspect="1" noChangeShapeType="1"/>
              <a:stCxn id="10" idx="4"/>
              <a:endCxn id="13" idx="0"/>
            </p:cNvCxnSpPr>
            <p:nvPr/>
          </p:nvCxnSpPr>
          <p:spPr bwMode="auto">
            <a:xfrm flipH="1">
              <a:off x="3115" y="2884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47"/>
            <p:cNvCxnSpPr>
              <a:cxnSpLocks noChangeAspect="1" noChangeShapeType="1"/>
              <a:stCxn id="10" idx="4"/>
              <a:endCxn id="14" idx="0"/>
            </p:cNvCxnSpPr>
            <p:nvPr/>
          </p:nvCxnSpPr>
          <p:spPr bwMode="auto">
            <a:xfrm>
              <a:off x="3267" y="2884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48"/>
            <p:cNvCxnSpPr>
              <a:cxnSpLocks noChangeAspect="1" noChangeShapeType="1"/>
              <a:stCxn id="12" idx="4"/>
              <a:endCxn id="15" idx="0"/>
            </p:cNvCxnSpPr>
            <p:nvPr/>
          </p:nvCxnSpPr>
          <p:spPr bwMode="auto">
            <a:xfrm flipH="1">
              <a:off x="4139" y="2884"/>
              <a:ext cx="115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AutoShape 48"/>
            <p:cNvCxnSpPr>
              <a:cxnSpLocks noChangeAspect="1" noChangeShapeType="1"/>
              <a:stCxn id="29" idx="0"/>
              <a:endCxn id="37" idx="0"/>
            </p:cNvCxnSpPr>
            <p:nvPr/>
          </p:nvCxnSpPr>
          <p:spPr bwMode="auto">
            <a:xfrm flipH="1">
              <a:off x="3742" y="2884"/>
              <a:ext cx="133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" name="Oval 38"/>
            <p:cNvSpPr>
              <a:spLocks noChangeAspect="1" noChangeArrowheads="1"/>
            </p:cNvSpPr>
            <p:nvPr/>
          </p:nvSpPr>
          <p:spPr bwMode="auto">
            <a:xfrm>
              <a:off x="3666" y="3187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b="1" i="1" dirty="0">
                  <a:solidFill>
                    <a:srgbClr val="FF0000"/>
                  </a:solidFill>
                </a:rPr>
                <a:t>24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641762" y="56424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1044" y="5651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402" y="46652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686" y="36739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89969" y="46653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2503" y="56517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8659" y="46653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2988" y="46653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4196" y="36917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2115" y="268715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87555" y="5651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6888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forget that </a:t>
            </a:r>
            <a:r>
              <a:rPr lang="en-US" dirty="0">
                <a:solidFill>
                  <a:srgbClr val="0000FF"/>
                </a:solidFill>
              </a:rPr>
              <a:t>rotations</a:t>
            </a:r>
            <a:r>
              <a:rPr lang="en-US" dirty="0"/>
              <a:t> may be required?</a:t>
            </a:r>
          </a:p>
          <a:p>
            <a:r>
              <a:rPr lang="en-US" dirty="0"/>
              <a:t>But it’s still easy!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1954523" y="3350960"/>
            <a:ext cx="1648207" cy="1977849"/>
            <a:chOff x="3115" y="2275"/>
            <a:chExt cx="760" cy="912"/>
          </a:xfrm>
        </p:grpSpPr>
        <p:sp>
          <p:nvSpPr>
            <p:cNvPr id="8" name="Oval 30"/>
            <p:cNvSpPr>
              <a:spLocks noChangeAspect="1" noChangeArrowheads="1"/>
            </p:cNvSpPr>
            <p:nvPr/>
          </p:nvSpPr>
          <p:spPr bwMode="auto">
            <a:xfrm>
              <a:off x="3494" y="2275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14</a:t>
              </a:r>
            </a:p>
          </p:txBody>
        </p:sp>
        <p:sp>
          <p:nvSpPr>
            <p:cNvPr id="10" name="Oval 33"/>
            <p:cNvSpPr>
              <a:spLocks noChangeAspect="1" noChangeArrowheads="1"/>
            </p:cNvSpPr>
            <p:nvPr/>
          </p:nvSpPr>
          <p:spPr bwMode="auto">
            <a:xfrm>
              <a:off x="3191" y="2732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2</a:t>
              </a:r>
            </a:p>
          </p:txBody>
        </p:sp>
        <p:cxnSp>
          <p:nvCxnSpPr>
            <p:cNvPr id="20" name="AutoShape 43"/>
            <p:cNvCxnSpPr>
              <a:cxnSpLocks noChangeAspect="1" noChangeShapeType="1"/>
              <a:stCxn id="8" idx="4"/>
              <a:endCxn id="10" idx="0"/>
            </p:cNvCxnSpPr>
            <p:nvPr/>
          </p:nvCxnSpPr>
          <p:spPr bwMode="auto">
            <a:xfrm flipH="1">
              <a:off x="3267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45"/>
            <p:cNvCxnSpPr>
              <a:cxnSpLocks noChangeAspect="1" noChangeShapeType="1"/>
              <a:stCxn id="8" idx="4"/>
            </p:cNvCxnSpPr>
            <p:nvPr/>
          </p:nvCxnSpPr>
          <p:spPr bwMode="auto">
            <a:xfrm>
              <a:off x="3571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46"/>
            <p:cNvCxnSpPr>
              <a:cxnSpLocks noChangeAspect="1" noChangeShapeType="1"/>
              <a:stCxn id="10" idx="4"/>
            </p:cNvCxnSpPr>
            <p:nvPr/>
          </p:nvCxnSpPr>
          <p:spPr bwMode="auto">
            <a:xfrm flipH="1">
              <a:off x="3115" y="2884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47"/>
            <p:cNvCxnSpPr>
              <a:cxnSpLocks noChangeAspect="1" noChangeShapeType="1"/>
              <a:stCxn id="10" idx="4"/>
            </p:cNvCxnSpPr>
            <p:nvPr/>
          </p:nvCxnSpPr>
          <p:spPr bwMode="auto">
            <a:xfrm>
              <a:off x="3267" y="2884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" name="TextBox 24"/>
          <p:cNvSpPr txBox="1"/>
          <p:nvPr/>
        </p:nvSpPr>
        <p:spPr>
          <a:xfrm>
            <a:off x="1803680" y="53288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2962" y="53288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33320" y="46718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2604" y="3680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1887" y="43465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2115" y="26871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i="1" dirty="0">
              <a:solidFill>
                <a:srgbClr val="FF0000"/>
              </a:solidFill>
            </a:endParaRPr>
          </a:p>
        </p:txBody>
      </p:sp>
      <p:grpSp>
        <p:nvGrpSpPr>
          <p:cNvPr id="38" name="Group 50"/>
          <p:cNvGrpSpPr>
            <a:grpSpLocks/>
          </p:cNvGrpSpPr>
          <p:nvPr/>
        </p:nvGrpSpPr>
        <p:grpSpPr bwMode="auto">
          <a:xfrm>
            <a:off x="5405698" y="3350959"/>
            <a:ext cx="1648207" cy="1988692"/>
            <a:chOff x="3267" y="2275"/>
            <a:chExt cx="760" cy="917"/>
          </a:xfrm>
        </p:grpSpPr>
        <p:sp>
          <p:nvSpPr>
            <p:cNvPr id="39" name="Oval 30"/>
            <p:cNvSpPr>
              <a:spLocks noChangeAspect="1" noChangeArrowheads="1"/>
            </p:cNvSpPr>
            <p:nvPr/>
          </p:nvSpPr>
          <p:spPr bwMode="auto">
            <a:xfrm>
              <a:off x="3494" y="2275"/>
              <a:ext cx="152" cy="152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i="1" dirty="0"/>
                <a:t>2</a:t>
              </a:r>
            </a:p>
          </p:txBody>
        </p:sp>
        <p:cxnSp>
          <p:nvCxnSpPr>
            <p:cNvPr id="42" name="AutoShape 43"/>
            <p:cNvCxnSpPr>
              <a:cxnSpLocks noChangeAspect="1" noChangeShapeType="1"/>
              <a:stCxn id="39" idx="4"/>
            </p:cNvCxnSpPr>
            <p:nvPr/>
          </p:nvCxnSpPr>
          <p:spPr bwMode="auto">
            <a:xfrm flipH="1">
              <a:off x="3267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45"/>
            <p:cNvCxnSpPr>
              <a:cxnSpLocks noChangeAspect="1" noChangeShapeType="1"/>
              <a:stCxn id="39" idx="4"/>
            </p:cNvCxnSpPr>
            <p:nvPr/>
          </p:nvCxnSpPr>
          <p:spPr bwMode="auto">
            <a:xfrm>
              <a:off x="3571" y="2427"/>
              <a:ext cx="304" cy="30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46"/>
            <p:cNvCxnSpPr>
              <a:cxnSpLocks noChangeAspect="1" noChangeShapeType="1"/>
            </p:cNvCxnSpPr>
            <p:nvPr/>
          </p:nvCxnSpPr>
          <p:spPr bwMode="auto">
            <a:xfrm flipH="1">
              <a:off x="3721" y="2889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47"/>
            <p:cNvCxnSpPr>
              <a:cxnSpLocks noChangeAspect="1" noChangeShapeType="1"/>
            </p:cNvCxnSpPr>
            <p:nvPr/>
          </p:nvCxnSpPr>
          <p:spPr bwMode="auto">
            <a:xfrm>
              <a:off x="3875" y="2886"/>
              <a:ext cx="152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" name="TextBox 45"/>
          <p:cNvSpPr txBox="1"/>
          <p:nvPr/>
        </p:nvSpPr>
        <p:spPr>
          <a:xfrm>
            <a:off x="6243779" y="53396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9084" y="53288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7397" y="47159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14137" y="3680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4855" y="43139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51" name="Oval 30"/>
          <p:cNvSpPr>
            <a:spLocks noChangeAspect="1" noChangeArrowheads="1"/>
          </p:cNvSpPr>
          <p:nvPr/>
        </p:nvSpPr>
        <p:spPr bwMode="auto">
          <a:xfrm>
            <a:off x="6559442" y="4346570"/>
            <a:ext cx="329641" cy="329642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200" i="1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267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6118334"/>
              </p:ext>
            </p:extLst>
          </p:nvPr>
        </p:nvGraphicFramePr>
        <p:xfrm>
          <a:off x="539553" y="1916832"/>
          <a:ext cx="8064894" cy="242923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3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15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Initialize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/>
                        <a:t>Selection</a:t>
                      </a:r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solidFill>
                            <a:srgbClr val="0000FF"/>
                          </a:solidFill>
                        </a:rPr>
                        <a:t>avg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</a:rPr>
                        <a:t>: O(n)</a:t>
                      </a:r>
                    </a:p>
                    <a:p>
                      <a:pPr algn="ctr"/>
                      <a:r>
                        <a:rPr lang="en-US" sz="2000" b="0" dirty="0">
                          <a:solidFill>
                            <a:srgbClr val="0000FF"/>
                          </a:solidFill>
                        </a:rPr>
                        <a:t>worst: O(n</a:t>
                      </a:r>
                      <a:r>
                        <a:rPr lang="en-US" sz="2000" b="0" baseline="30000" dirty="0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en-US" sz="2000" b="0" baseline="0" dirty="0">
                          <a:solidFill>
                            <a:srgbClr val="0000FF"/>
                          </a:solidFill>
                        </a:rPr>
                        <a:t>)</a:t>
                      </a:r>
                      <a:endParaRPr lang="en-US" sz="2000" b="0" dirty="0">
                        <a:solidFill>
                          <a:srgbClr val="0000F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Sorted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nlogn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/>
                        <a:t>Hashtable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Balanced</a:t>
                      </a:r>
                      <a:r>
                        <a:rPr lang="en-US" sz="2000" b="0" baseline="0" dirty="0"/>
                        <a:t> BST</a:t>
                      </a:r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nlogn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O(</a:t>
                      </a:r>
                      <a:r>
                        <a:rPr lang="en-US" sz="2000" b="0" dirty="0" err="1"/>
                        <a:t>logn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0000FF"/>
                          </a:solidFill>
                        </a:rPr>
                        <a:t>O(</a:t>
                      </a:r>
                      <a:r>
                        <a:rPr lang="en-US" sz="2000" b="0" dirty="0" err="1">
                          <a:solidFill>
                            <a:srgbClr val="0000FF"/>
                          </a:solidFill>
                        </a:rPr>
                        <a:t>logn</a:t>
                      </a:r>
                      <a:r>
                        <a:rPr lang="en-US" sz="2000" b="0" dirty="0">
                          <a:solidFill>
                            <a:srgbClr val="0000FF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276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1072</Words>
  <Application>Microsoft Office PowerPoint</Application>
  <PresentationFormat>全屏显示(4:3)</PresentationFormat>
  <Paragraphs>303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主题</vt:lpstr>
      <vt:lpstr>CSCI2520 Tutorial 8: Dynamic Selection</vt:lpstr>
      <vt:lpstr>Outline</vt:lpstr>
      <vt:lpstr>Dynamic Set</vt:lpstr>
      <vt:lpstr>Dynamic Set</vt:lpstr>
      <vt:lpstr>Dynamic Set</vt:lpstr>
      <vt:lpstr>Dynamic Set</vt:lpstr>
      <vt:lpstr>Dynamic Set</vt:lpstr>
      <vt:lpstr>Dynamic Set</vt:lpstr>
      <vt:lpstr>Selection Revisited</vt:lpstr>
      <vt:lpstr>Dynamic Selection</vt:lpstr>
      <vt:lpstr>Dynamic Selection</vt:lpstr>
      <vt:lpstr>Dynamic Selection</vt:lpstr>
      <vt:lpstr>Dynamic Selection</vt:lpstr>
      <vt:lpstr>Dynamic Selection</vt:lpstr>
      <vt:lpstr>Exercise 1</vt:lpstr>
      <vt:lpstr>Exercise 1 Solution</vt:lpstr>
      <vt:lpstr>Dynamic Selection</vt:lpstr>
      <vt:lpstr>Dynamic Selection</vt:lpstr>
      <vt:lpstr>Dynamic Selection</vt:lpstr>
      <vt:lpstr>Dynamic Selection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CSCI2520 Tutorial 1 (Week 2): C Programming Review</dc:title>
  <dc:creator>gjchen</dc:creator>
  <cp:lastModifiedBy>PAN, Zhenyu</cp:lastModifiedBy>
  <cp:revision>129</cp:revision>
  <dcterms:created xsi:type="dcterms:W3CDTF">2016-01-18T13:38:47Z</dcterms:created>
  <dcterms:modified xsi:type="dcterms:W3CDTF">2026-03-23T12:54:49Z</dcterms:modified>
</cp:coreProperties>
</file>