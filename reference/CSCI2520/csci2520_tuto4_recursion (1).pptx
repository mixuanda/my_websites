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78" r:id="rId4"/>
    <p:sldId id="279" r:id="rId5"/>
    <p:sldId id="280" r:id="rId6"/>
    <p:sldId id="290" r:id="rId7"/>
    <p:sldId id="281" r:id="rId8"/>
    <p:sldId id="282" r:id="rId9"/>
    <p:sldId id="283" r:id="rId10"/>
    <p:sldId id="284" r:id="rId11"/>
    <p:sldId id="285" r:id="rId12"/>
    <p:sldId id="287" r:id="rId13"/>
    <p:sldId id="277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D3B57B-3D39-DB49-86BB-66E057BB0E39}" v="3" dt="2025-02-20T09:16:13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>
      <p:cViewPr varScale="1">
        <p:scale>
          <a:sx n="152" d="100"/>
          <a:sy n="152" d="100"/>
        </p:scale>
        <p:origin x="1988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ui" userId="2acf357a-d887-4e08-95d2-f44b1823070d" providerId="ADAL" clId="{CCD3B57B-3D39-DB49-86BB-66E057BB0E39}"/>
    <pc:docChg chg="undo redo custSel addSld modSld">
      <pc:chgData name="LI, Hui" userId="2acf357a-d887-4e08-95d2-f44b1823070d" providerId="ADAL" clId="{CCD3B57B-3D39-DB49-86BB-66E057BB0E39}" dt="2025-02-20T09:17:21.378" v="200" actId="20577"/>
      <pc:docMkLst>
        <pc:docMk/>
      </pc:docMkLst>
      <pc:sldChg chg="modSp mod">
        <pc:chgData name="LI, Hui" userId="2acf357a-d887-4e08-95d2-f44b1823070d" providerId="ADAL" clId="{CCD3B57B-3D39-DB49-86BB-66E057BB0E39}" dt="2025-02-20T08:28:43.797" v="12" actId="20577"/>
        <pc:sldMkLst>
          <pc:docMk/>
          <pc:sldMk cId="1346080441" sldId="256"/>
        </pc:sldMkLst>
        <pc:spChg chg="mod">
          <ac:chgData name="LI, Hui" userId="2acf357a-d887-4e08-95d2-f44b1823070d" providerId="ADAL" clId="{CCD3B57B-3D39-DB49-86BB-66E057BB0E39}" dt="2025-02-20T08:28:43.797" v="12" actId="20577"/>
          <ac:spMkLst>
            <pc:docMk/>
            <pc:sldMk cId="1346080441" sldId="256"/>
            <ac:spMk id="3" creationId="{00000000-0000-0000-0000-000000000000}"/>
          </ac:spMkLst>
        </pc:spChg>
      </pc:sldChg>
      <pc:sldChg chg="addSp modSp mod">
        <pc:chgData name="LI, Hui" userId="2acf357a-d887-4e08-95d2-f44b1823070d" providerId="ADAL" clId="{CCD3B57B-3D39-DB49-86BB-66E057BB0E39}" dt="2025-02-20T09:17:21.378" v="200" actId="20577"/>
        <pc:sldMkLst>
          <pc:docMk/>
          <pc:sldMk cId="754348713" sldId="280"/>
        </pc:sldMkLst>
        <pc:spChg chg="mod">
          <ac:chgData name="LI, Hui" userId="2acf357a-d887-4e08-95d2-f44b1823070d" providerId="ADAL" clId="{CCD3B57B-3D39-DB49-86BB-66E057BB0E39}" dt="2025-02-20T09:13:56.619" v="30" actId="20577"/>
          <ac:spMkLst>
            <pc:docMk/>
            <pc:sldMk cId="754348713" sldId="280"/>
            <ac:spMk id="2" creationId="{00000000-0000-0000-0000-000000000000}"/>
          </ac:spMkLst>
        </pc:spChg>
        <pc:spChg chg="mod">
          <ac:chgData name="LI, Hui" userId="2acf357a-d887-4e08-95d2-f44b1823070d" providerId="ADAL" clId="{CCD3B57B-3D39-DB49-86BB-66E057BB0E39}" dt="2025-02-20T09:17:21.378" v="200" actId="20577"/>
          <ac:spMkLst>
            <pc:docMk/>
            <pc:sldMk cId="754348713" sldId="280"/>
            <ac:spMk id="3" creationId="{00000000-0000-0000-0000-000000000000}"/>
          </ac:spMkLst>
        </pc:spChg>
        <pc:picChg chg="add mod">
          <ac:chgData name="LI, Hui" userId="2acf357a-d887-4e08-95d2-f44b1823070d" providerId="ADAL" clId="{CCD3B57B-3D39-DB49-86BB-66E057BB0E39}" dt="2025-02-20T09:17:07.680" v="165" actId="1076"/>
          <ac:picMkLst>
            <pc:docMk/>
            <pc:sldMk cId="754348713" sldId="280"/>
            <ac:picMk id="5" creationId="{9CD823C4-AB55-1D3D-6FA3-14D3F70E6676}"/>
          </ac:picMkLst>
        </pc:picChg>
      </pc:sldChg>
      <pc:sldChg chg="add">
        <pc:chgData name="LI, Hui" userId="2acf357a-d887-4e08-95d2-f44b1823070d" providerId="ADAL" clId="{CCD3B57B-3D39-DB49-86BB-66E057BB0E39}" dt="2025-02-20T09:13:40.107" v="13"/>
        <pc:sldMkLst>
          <pc:docMk/>
          <pc:sldMk cId="3102583621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24543-D117-4FAE-B2D8-BA38168DA83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16CBC-8DC5-4156-9E82-CF8406BBC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55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690B-7D06-46FE-94B5-566ACCDEF74E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BF139-EB16-45F7-AA02-D50D33ACEEA8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19F07-A753-4261-BF3E-9441B8A17B22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48EF-EFA4-4D44-AE75-27789BC65F06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504D-101E-4444-9AC2-DFCC95FD0C58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218C7-8522-4F7A-A7B0-9CC705772B7C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2D35-8025-4B34-BC0D-FD4A78D50A3D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3380-AA6A-4EDD-829F-35712576EDC3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5708-6485-411A-B3EC-0E7FB65ABFF8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72BB-AF87-4268-B5D9-1D57EAB0199B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4A79-010C-44FA-9A0B-9DE03A2AA585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ECEA5-3B35-4223-AE68-2550CCCB80A1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CSCI2520 Tutorial 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ypan24@cse.cuhk.edu.h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CSCI2520 Tutorial</a:t>
            </a:r>
            <a:br>
              <a:rPr lang="en-US" dirty="0"/>
            </a:br>
            <a:r>
              <a:rPr lang="en-US" dirty="0"/>
              <a:t>Recursion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BB0B33B-E88A-2222-FF4F-149093298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Pan Zhenyu</a:t>
            </a:r>
          </a:p>
          <a:p>
            <a:r>
              <a:rPr lang="en-US" dirty="0">
                <a:hlinkClick r:id="rId3"/>
              </a:rPr>
              <a:t>zypan24@cse.cuhk.edu.hk</a:t>
            </a:r>
            <a:endParaRPr lang="en-US" dirty="0"/>
          </a:p>
          <a:p>
            <a:r>
              <a:rPr lang="en-US" dirty="0"/>
              <a:t>Slide Ack: modified based on the slides from Li Hui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0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  <a:p>
            <a:r>
              <a:rPr lang="en-US" dirty="0"/>
              <a:t>GCD of Two Integers</a:t>
            </a:r>
          </a:p>
          <a:p>
            <a:r>
              <a:rPr lang="en-US" altLang="zh-CN" dirty="0"/>
              <a:t>Hanota Problem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83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1143000"/>
          </a:xfrm>
        </p:spPr>
        <p:txBody>
          <a:bodyPr/>
          <a:lstStyle/>
          <a:p>
            <a:r>
              <a:rPr lang="en-US" dirty="0"/>
              <a:t>Recursive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A </a:t>
            </a:r>
            <a:r>
              <a:rPr lang="en-US" altLang="zh-TW" sz="2800" b="1" i="1" dirty="0">
                <a:solidFill>
                  <a:srgbClr val="FF0000"/>
                </a:solidFill>
              </a:rPr>
              <a:t>recursive function</a:t>
            </a:r>
            <a:r>
              <a:rPr lang="en-US" altLang="zh-TW" sz="2800" dirty="0"/>
              <a:t> is a function that makes a call to itself.</a:t>
            </a:r>
          </a:p>
          <a:p>
            <a:r>
              <a:rPr lang="en-US" altLang="zh-TW" sz="2800" dirty="0"/>
              <a:t>Any recursive function will include the following three basic elements.</a:t>
            </a:r>
          </a:p>
          <a:p>
            <a:pPr lvl="1"/>
            <a:r>
              <a:rPr lang="en-US" altLang="zh-TW" sz="2400" dirty="0"/>
              <a:t>A </a:t>
            </a:r>
            <a:r>
              <a:rPr lang="en-US" altLang="zh-TW" sz="2400" i="1" dirty="0">
                <a:solidFill>
                  <a:srgbClr val="0000FF"/>
                </a:solidFill>
              </a:rPr>
              <a:t>test</a:t>
            </a:r>
            <a:r>
              <a:rPr lang="en-US" altLang="zh-TW" sz="2400" dirty="0"/>
              <a:t> to stop or continue the recursion.</a:t>
            </a:r>
          </a:p>
          <a:p>
            <a:pPr lvl="1"/>
            <a:r>
              <a:rPr lang="en-US" altLang="zh-TW" sz="2400" dirty="0"/>
              <a:t>An </a:t>
            </a:r>
            <a:r>
              <a:rPr lang="en-US" altLang="zh-TW" sz="2400" i="1" dirty="0">
                <a:solidFill>
                  <a:srgbClr val="0000FF"/>
                </a:solidFill>
              </a:rPr>
              <a:t>end case</a:t>
            </a:r>
            <a:r>
              <a:rPr lang="en-US" altLang="zh-TW" sz="2400" dirty="0"/>
              <a:t> that terminates the recursion.</a:t>
            </a:r>
          </a:p>
          <a:p>
            <a:pPr lvl="1"/>
            <a:r>
              <a:rPr lang="en-US" altLang="zh-TW" sz="2400" dirty="0"/>
              <a:t>A </a:t>
            </a:r>
            <a:r>
              <a:rPr lang="en-US" altLang="zh-TW" sz="2400" i="1" dirty="0">
                <a:solidFill>
                  <a:srgbClr val="0000FF"/>
                </a:solidFill>
              </a:rPr>
              <a:t>recursive call</a:t>
            </a:r>
            <a:r>
              <a:rPr lang="en-US" altLang="zh-TW" sz="2400" dirty="0"/>
              <a:t> that continues the recursion.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3BADA8-D287-4FCA-B13A-06DE73BF0215}" type="slidenum">
              <a:rPr kumimoji="0" lang="en-US" altLang="zh-TW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0" lang="en-US" altLang="zh-TW" sz="140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471613" y="4487863"/>
            <a:ext cx="3493264" cy="120032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 err="1">
                <a:latin typeface="Courier New" pitchFamily="49" charset="0"/>
              </a:rPr>
              <a:t>func</a:t>
            </a:r>
            <a:r>
              <a:rPr lang="en-US" altLang="zh-CN" sz="1800" b="1" dirty="0">
                <a:latin typeface="Courier New" pitchFamily="49" charset="0"/>
              </a:rPr>
              <a:t> fact(n):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b="1" dirty="0">
                <a:latin typeface="Courier New" pitchFamily="49" charset="0"/>
              </a:rPr>
              <a:t>    if n == 0 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b="1" dirty="0">
                <a:latin typeface="Courier New" pitchFamily="49" charset="0"/>
              </a:rPr>
              <a:t>        return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b="1" dirty="0">
                <a:latin typeface="Courier New" pitchFamily="49" charset="0"/>
              </a:rPr>
              <a:t>    return n * fact(n-1)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7123113" y="4053236"/>
            <a:ext cx="1855787" cy="666750"/>
          </a:xfrm>
          <a:prstGeom prst="wedgeRoundRectCallout">
            <a:avLst>
              <a:gd name="adj1" fmla="val -213302"/>
              <a:gd name="adj2" fmla="val 79287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 </a:t>
            </a:r>
            <a:r>
              <a:rPr lang="en-US" altLang="zh-TW" sz="2000" i="1" dirty="0">
                <a:solidFill>
                  <a:srgbClr val="0000FF"/>
                </a:solidFill>
              </a:rPr>
              <a:t>test</a:t>
            </a:r>
            <a:r>
              <a:rPr lang="en-US" altLang="zh-TW" sz="2000" dirty="0"/>
              <a:t> to stop or continue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119813" y="4948238"/>
            <a:ext cx="3024187" cy="666750"/>
          </a:xfrm>
          <a:prstGeom prst="wedgeRoundRectCallout">
            <a:avLst>
              <a:gd name="adj1" fmla="val -121232"/>
              <a:gd name="adj2" fmla="val -8597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An </a:t>
            </a:r>
            <a:r>
              <a:rPr lang="en-US" altLang="zh-TW" sz="2000" i="1" dirty="0">
                <a:solidFill>
                  <a:srgbClr val="0000FF"/>
                </a:solidFill>
              </a:rPr>
              <a:t>end case</a:t>
            </a:r>
            <a:r>
              <a:rPr lang="en-US" altLang="zh-TW" sz="2000" dirty="0"/>
              <a:t> to terminate the recursion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272087" y="5911850"/>
            <a:ext cx="2438400" cy="666750"/>
          </a:xfrm>
          <a:prstGeom prst="wedgeRoundRectCallout">
            <a:avLst>
              <a:gd name="adj1" fmla="val -68296"/>
              <a:gd name="adj2" fmla="val -93569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 </a:t>
            </a:r>
            <a:r>
              <a:rPr lang="en-US" altLang="zh-TW" sz="2000" i="1" dirty="0">
                <a:solidFill>
                  <a:srgbClr val="0000FF"/>
                </a:solidFill>
              </a:rPr>
              <a:t>recursive call</a:t>
            </a:r>
            <a:r>
              <a:rPr lang="en-US" altLang="zh-TW" sz="2000" dirty="0"/>
              <a:t> to continue recursion</a:t>
            </a:r>
          </a:p>
        </p:txBody>
      </p:sp>
    </p:spTree>
    <p:extLst>
      <p:ext uri="{BB962C8B-B14F-4D97-AF65-F5344CB8AC3E}">
        <p14:creationId xmlns:p14="http://schemas.microsoft.com/office/powerpoint/2010/main" val="168805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800" b="1" i="1" dirty="0">
                <a:solidFill>
                  <a:srgbClr val="FF0000"/>
                </a:solidFill>
              </a:rPr>
              <a:t>Recursion</a:t>
            </a:r>
            <a:r>
              <a:rPr lang="en-US" altLang="zh-TW" sz="2800" dirty="0"/>
              <a:t> is a method where the solution to a problem depends on solutions to </a:t>
            </a:r>
            <a:r>
              <a:rPr lang="en-US" altLang="zh-TW" sz="2800" i="1" dirty="0">
                <a:solidFill>
                  <a:srgbClr val="0000FF"/>
                </a:solidFill>
              </a:rPr>
              <a:t>smaller instances of the same problem</a:t>
            </a:r>
            <a:r>
              <a:rPr lang="en-US" altLang="zh-TW" sz="2800" dirty="0"/>
              <a:t>.</a:t>
            </a:r>
          </a:p>
          <a:p>
            <a:r>
              <a:rPr lang="en-US" altLang="zh-TW" sz="2800" dirty="0"/>
              <a:t>Recursion usually leads to more </a:t>
            </a:r>
            <a:r>
              <a:rPr lang="en-US" altLang="zh-TW" sz="2800" i="1" dirty="0">
                <a:solidFill>
                  <a:srgbClr val="0000FF"/>
                </a:solidFill>
              </a:rPr>
              <a:t>elegant</a:t>
            </a:r>
            <a:r>
              <a:rPr lang="en-US" altLang="zh-TW" sz="2800" dirty="0"/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simpler</a:t>
            </a:r>
            <a:r>
              <a:rPr lang="en-US" altLang="zh-TW" sz="2800" dirty="0"/>
              <a:t> solutions, although it incurs larger memory and time overhead.</a:t>
            </a:r>
          </a:p>
          <a:p>
            <a:r>
              <a:rPr lang="en-US" altLang="zh-TW" sz="2800" dirty="0"/>
              <a:t>An important recursive problem-solving skill is </a:t>
            </a:r>
            <a:r>
              <a:rPr lang="en-US" altLang="zh-TW" sz="2800" b="1" i="1" dirty="0">
                <a:solidFill>
                  <a:srgbClr val="FF0000"/>
                </a:solidFill>
              </a:rPr>
              <a:t>divide-and-conquer</a:t>
            </a:r>
            <a:r>
              <a:rPr lang="en-US" altLang="zh-TW" sz="2800" dirty="0"/>
              <a:t>.</a:t>
            </a:r>
          </a:p>
          <a:p>
            <a:pPr lvl="1"/>
            <a:r>
              <a:rPr lang="en-US" altLang="zh-TW" sz="2400" i="1" dirty="0">
                <a:solidFill>
                  <a:srgbClr val="0000FF"/>
                </a:solidFill>
              </a:rPr>
              <a:t>Divide</a:t>
            </a:r>
            <a:r>
              <a:rPr lang="en-US" altLang="zh-TW" sz="2400" dirty="0"/>
              <a:t> the problem into smaller pieces.</a:t>
            </a:r>
          </a:p>
          <a:p>
            <a:pPr lvl="1"/>
            <a:r>
              <a:rPr lang="en-US" altLang="zh-TW" sz="2400" i="1" dirty="0">
                <a:solidFill>
                  <a:srgbClr val="0000FF"/>
                </a:solidFill>
              </a:rPr>
              <a:t>Tackle</a:t>
            </a:r>
            <a:r>
              <a:rPr lang="en-US" altLang="zh-TW" sz="2400" dirty="0"/>
              <a:t> each sub-task either directly or by recursion.</a:t>
            </a:r>
          </a:p>
          <a:p>
            <a:pPr lvl="1"/>
            <a:r>
              <a:rPr lang="en-US" altLang="zh-TW" sz="2400" i="1" dirty="0">
                <a:solidFill>
                  <a:srgbClr val="0000FF"/>
                </a:solidFill>
              </a:rPr>
              <a:t>Combine</a:t>
            </a:r>
            <a:r>
              <a:rPr lang="en-US" altLang="zh-TW" sz="2400" dirty="0"/>
              <a:t> the solutions of the parts to form the solution of the whole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311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</a:t>
            </a:r>
            <a:r>
              <a:rPr lang="zh-CN" altLang="en-US" dirty="0"/>
              <a:t> </a:t>
            </a:r>
            <a:r>
              <a:rPr lang="en-US" altLang="zh-CN" dirty="0"/>
              <a:t>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return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maximum</a:t>
            </a:r>
            <a:r>
              <a:rPr lang="zh-CN" altLang="en-US" dirty="0"/>
              <a:t> </a:t>
            </a:r>
            <a:r>
              <a:rPr lang="en-US" altLang="zh-CN" dirty="0"/>
              <a:t>element</a:t>
            </a:r>
            <a:r>
              <a:rPr lang="zh-CN" altLang="en-US" dirty="0"/>
              <a:t> </a:t>
            </a:r>
            <a:r>
              <a:rPr lang="en-US" altLang="zh-CN" dirty="0"/>
              <a:t>inside</a:t>
            </a:r>
            <a:r>
              <a:rPr lang="zh-CN" altLang="en-US" dirty="0"/>
              <a:t> </a:t>
            </a:r>
            <a:r>
              <a:rPr lang="en-US" altLang="zh-CN" dirty="0"/>
              <a:t>array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range</a:t>
            </a:r>
            <a:r>
              <a:rPr lang="zh-CN" altLang="en-US" dirty="0"/>
              <a:t> </a:t>
            </a:r>
            <a:r>
              <a:rPr lang="en-US" altLang="zh-CN" dirty="0"/>
              <a:t>[l,</a:t>
            </a:r>
            <a:r>
              <a:rPr lang="zh-CN" altLang="en-US" dirty="0"/>
              <a:t> </a:t>
            </a:r>
            <a:r>
              <a:rPr lang="en-US" altLang="zh-CN" dirty="0"/>
              <a:t>r)</a:t>
            </a:r>
            <a:br>
              <a:rPr lang="en-US" altLang="zh-CN" dirty="0"/>
            </a:br>
            <a:r>
              <a:rPr lang="en-US" altLang="zh-CN" dirty="0"/>
              <a:t>=&gt; max(a[l], a[l+1], …, a[r-1])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F7E2D72A-2189-2FA5-2BE9-0CFA6C494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645024"/>
            <a:ext cx="6192688" cy="279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4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BEBE-77D1-44F5-E6FA-4F89458E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80DC8-B3D8-FB1A-0A42-4393E083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Greatest Common Divisor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E7D5-3E79-2F3B-14D4-2AE6D91D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greatest common divisor (GCD) of </a:t>
            </a:r>
            <a:r>
              <a:rPr lang="en-US" i="1" dirty="0">
                <a:solidFill>
                  <a:srgbClr val="0000FF"/>
                </a:solidFill>
              </a:rPr>
              <a:t>two or more </a:t>
            </a:r>
            <a:r>
              <a:rPr lang="en-US" dirty="0"/>
              <a:t>integers, when at least one of them is not zero, is the largest positive integer that divides the numbers without a remainder.</a:t>
            </a:r>
          </a:p>
          <a:p>
            <a:r>
              <a:rPr lang="en-US" dirty="0"/>
              <a:t>For example, the GCD of 8 and 12 is 4.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0C52B-8ABE-3726-23BC-FA461EF5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258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 of Two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Observation: </a:t>
            </a:r>
            <a:r>
              <a:rPr lang="en-US" dirty="0" err="1"/>
              <a:t>gcd</a:t>
            </a:r>
            <a:r>
              <a:rPr lang="en-US" dirty="0"/>
              <a:t>(a, b) = </a:t>
            </a:r>
            <a:r>
              <a:rPr lang="en-US" dirty="0" err="1"/>
              <a:t>gcd</a:t>
            </a:r>
            <a:r>
              <a:rPr lang="en-US" dirty="0"/>
              <a:t>(a, </a:t>
            </a:r>
            <a:r>
              <a:rPr lang="en-US" dirty="0" err="1"/>
              <a:t>a+b</a:t>
            </a:r>
            <a:r>
              <a:rPr lang="en-US" dirty="0"/>
              <a:t>), because</a:t>
            </a:r>
          </a:p>
          <a:p>
            <a:pPr lvl="1"/>
            <a:r>
              <a:rPr lang="en-US" dirty="0"/>
              <a:t>A common divisor of a and b is also a common divisor of a and </a:t>
            </a:r>
            <a:r>
              <a:rPr lang="en-US" dirty="0" err="1"/>
              <a:t>a+b</a:t>
            </a:r>
            <a:endParaRPr lang="en-US" dirty="0"/>
          </a:p>
          <a:p>
            <a:pPr lvl="1"/>
            <a:r>
              <a:rPr lang="en-US" dirty="0"/>
              <a:t>A common divisor of a and </a:t>
            </a:r>
            <a:r>
              <a:rPr lang="en-US" dirty="0" err="1"/>
              <a:t>a+b</a:t>
            </a:r>
            <a:r>
              <a:rPr lang="en-US" dirty="0"/>
              <a:t> is also a common divisor of a and b</a:t>
            </a:r>
          </a:p>
          <a:p>
            <a:r>
              <a:rPr lang="en-US" dirty="0"/>
              <a:t>Question 1: how to reduce the problem size recursively?</a:t>
            </a:r>
          </a:p>
          <a:p>
            <a:r>
              <a:rPr lang="en-US" dirty="0"/>
              <a:t>Question 2: what is the end case?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515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 of Two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 case</a:t>
            </a:r>
          </a:p>
          <a:p>
            <a:pPr lvl="1"/>
            <a:r>
              <a:rPr lang="en-US" dirty="0" err="1"/>
              <a:t>gcd</a:t>
            </a:r>
            <a:r>
              <a:rPr lang="en-US" dirty="0"/>
              <a:t>(a, 0) = a</a:t>
            </a:r>
          </a:p>
          <a:p>
            <a:r>
              <a:rPr lang="en-US" dirty="0"/>
              <a:t>Recursive call</a:t>
            </a:r>
          </a:p>
          <a:p>
            <a:pPr lvl="1"/>
            <a:r>
              <a:rPr lang="en-US" dirty="0"/>
              <a:t>Assume without loss of generality that a&gt;b</a:t>
            </a:r>
          </a:p>
          <a:p>
            <a:pPr lvl="1"/>
            <a:r>
              <a:rPr lang="en-US" dirty="0"/>
              <a:t>Version 1: </a:t>
            </a:r>
            <a:r>
              <a:rPr lang="en-US" dirty="0" err="1"/>
              <a:t>gcd</a:t>
            </a:r>
            <a:r>
              <a:rPr lang="en-US" dirty="0"/>
              <a:t>(a, b) = </a:t>
            </a:r>
            <a:r>
              <a:rPr lang="en-US" dirty="0" err="1"/>
              <a:t>gcd</a:t>
            </a:r>
            <a:r>
              <a:rPr lang="en-US" dirty="0"/>
              <a:t>(b, a-b)</a:t>
            </a:r>
          </a:p>
          <a:p>
            <a:pPr lvl="1"/>
            <a:r>
              <a:rPr lang="en-US" dirty="0"/>
              <a:t>Version 2: </a:t>
            </a:r>
            <a:r>
              <a:rPr lang="en-US" dirty="0" err="1"/>
              <a:t>gcd</a:t>
            </a:r>
            <a:r>
              <a:rPr lang="en-US" dirty="0"/>
              <a:t>(a, b) = </a:t>
            </a:r>
            <a:r>
              <a:rPr lang="en-US" dirty="0" err="1"/>
              <a:t>gcd</a:t>
            </a:r>
            <a:r>
              <a:rPr lang="en-US" dirty="0"/>
              <a:t>(b, </a:t>
            </a:r>
            <a:r>
              <a:rPr lang="en-US" dirty="0" err="1"/>
              <a:t>a%b</a:t>
            </a:r>
            <a:r>
              <a:rPr lang="en-US" dirty="0"/>
              <a:t>)</a:t>
            </a:r>
          </a:p>
          <a:p>
            <a:r>
              <a:rPr lang="en-US" dirty="0"/>
              <a:t>For example, </a:t>
            </a:r>
            <a:r>
              <a:rPr lang="en-US" dirty="0" err="1"/>
              <a:t>gcd</a:t>
            </a:r>
            <a:r>
              <a:rPr lang="en-US" dirty="0"/>
              <a:t>(48, 18) = </a:t>
            </a:r>
            <a:r>
              <a:rPr lang="en-US" dirty="0" err="1"/>
              <a:t>gcd</a:t>
            </a:r>
            <a:r>
              <a:rPr lang="en-US" dirty="0"/>
              <a:t>(18, 12) = </a:t>
            </a:r>
            <a:r>
              <a:rPr lang="en-US" dirty="0" err="1"/>
              <a:t>gcd</a:t>
            </a:r>
            <a:r>
              <a:rPr lang="en-US" dirty="0"/>
              <a:t>(12, 6) = </a:t>
            </a:r>
            <a:r>
              <a:rPr lang="en-US" dirty="0" err="1"/>
              <a:t>gcd</a:t>
            </a:r>
            <a:r>
              <a:rPr lang="en-US" dirty="0"/>
              <a:t>(6, 0) = 6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360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 the implementation of the following function which calculates the GCD of two positive integers.</a:t>
            </a:r>
          </a:p>
          <a:p>
            <a:r>
              <a:rPr lang="en-US" dirty="0"/>
              <a:t>Hint: what if a&lt;b?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62335" y="4282062"/>
            <a:ext cx="5961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GCDOfTwoNum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b: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030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1723BD6-1C2D-202A-1068-F48E34DA6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86" y="1749338"/>
            <a:ext cx="7360028" cy="33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3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Hanota Problem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  <p:pic>
        <p:nvPicPr>
          <p:cNvPr id="8" name="图片 7" descr="图表, 箱线图&#10;&#10;AI 生成的内容可能不正确。">
            <a:extLst>
              <a:ext uri="{FF2B5EF4-FFF2-40B4-BE49-F238E27FC236}">
                <a16:creationId xmlns:a16="http://schemas.microsoft.com/office/drawing/2014/main" id="{D52FAA8F-E18E-A038-25F8-126CCDB9F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74" y="4221088"/>
            <a:ext cx="3760418" cy="1800200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955F43C9-DB50-BDB2-EECC-7805EA2B6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340768"/>
            <a:ext cx="6784895" cy="26493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3958E93-56C6-CFA8-7A9F-E768306B6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945" y="4634329"/>
            <a:ext cx="4219488" cy="84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540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Hanota Problem</a:t>
            </a:r>
            <a:r>
              <a:rPr lang="en-US" dirty="0"/>
              <a:t>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A2BE9487-23A5-2492-F01C-6906482DB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32" y="1556792"/>
            <a:ext cx="7615735" cy="391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61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4</a:t>
            </a:r>
            <a:endParaRPr lang="zh-CN" alt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Recursion</a:t>
            </a:r>
          </a:p>
          <a:p>
            <a:r>
              <a:rPr lang="en-US" dirty="0"/>
              <a:t>GCD of Two Integers</a:t>
            </a:r>
          </a:p>
          <a:p>
            <a:r>
              <a:rPr lang="en-US" altLang="zh-CN" dirty="0"/>
              <a:t>Hanota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2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555</Words>
  <Application>Microsoft Office PowerPoint</Application>
  <PresentationFormat>全屏显示(4:3)</PresentationFormat>
  <Paragraphs>72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Courier New</vt:lpstr>
      <vt:lpstr>Office 主题</vt:lpstr>
      <vt:lpstr>CSCI2520 Tutorial Recursion</vt:lpstr>
      <vt:lpstr>Outline</vt:lpstr>
      <vt:lpstr>Recursive Functions</vt:lpstr>
      <vt:lpstr>Recursion</vt:lpstr>
      <vt:lpstr>Maximum Element</vt:lpstr>
      <vt:lpstr>Greatest Common Divisor</vt:lpstr>
      <vt:lpstr>GCD of Two Integers</vt:lpstr>
      <vt:lpstr>GCD of Two Integers</vt:lpstr>
      <vt:lpstr>Exercise 1</vt:lpstr>
      <vt:lpstr>Exercise 1 Solution</vt:lpstr>
      <vt:lpstr>Hanota Problem</vt:lpstr>
      <vt:lpstr>Hanota Problem Solution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CSCI2520 Tutorial 1 (Week 2): C Programming Review</dc:title>
  <dc:creator>gjchen</dc:creator>
  <cp:lastModifiedBy>PAN, Zhenyu</cp:lastModifiedBy>
  <cp:revision>58</cp:revision>
  <dcterms:created xsi:type="dcterms:W3CDTF">2016-01-18T13:38:47Z</dcterms:created>
  <dcterms:modified xsi:type="dcterms:W3CDTF">2026-02-02T16:38:52Z</dcterms:modified>
</cp:coreProperties>
</file>