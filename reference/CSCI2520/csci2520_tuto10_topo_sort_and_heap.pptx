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4"/>
  </p:notesMasterIdLst>
  <p:sldIdLst>
    <p:sldId id="256" r:id="rId2"/>
    <p:sldId id="296" r:id="rId3"/>
    <p:sldId id="260" r:id="rId4"/>
    <p:sldId id="261" r:id="rId5"/>
    <p:sldId id="262" r:id="rId6"/>
    <p:sldId id="266" r:id="rId7"/>
    <p:sldId id="267" r:id="rId8"/>
    <p:sldId id="264" r:id="rId9"/>
    <p:sldId id="265" r:id="rId10"/>
    <p:sldId id="269" r:id="rId11"/>
    <p:sldId id="271" r:id="rId12"/>
    <p:sldId id="270" r:id="rId13"/>
    <p:sldId id="272" r:id="rId14"/>
    <p:sldId id="273" r:id="rId15"/>
    <p:sldId id="274" r:id="rId16"/>
    <p:sldId id="276" r:id="rId17"/>
    <p:sldId id="275" r:id="rId18"/>
    <p:sldId id="268" r:id="rId19"/>
    <p:sldId id="277" r:id="rId20"/>
    <p:sldId id="280" r:id="rId21"/>
    <p:sldId id="279" r:id="rId22"/>
    <p:sldId id="278" r:id="rId23"/>
    <p:sldId id="281" r:id="rId24"/>
    <p:sldId id="283" r:id="rId25"/>
    <p:sldId id="282" r:id="rId26"/>
    <p:sldId id="284" r:id="rId27"/>
    <p:sldId id="285" r:id="rId28"/>
    <p:sldId id="286" r:id="rId29"/>
    <p:sldId id="287" r:id="rId30"/>
    <p:sldId id="289" r:id="rId31"/>
    <p:sldId id="288" r:id="rId32"/>
    <p:sldId id="290" r:id="rId33"/>
    <p:sldId id="291" r:id="rId34"/>
    <p:sldId id="292" r:id="rId35"/>
    <p:sldId id="293" r:id="rId36"/>
    <p:sldId id="298" r:id="rId37"/>
    <p:sldId id="294" r:id="rId38"/>
    <p:sldId id="295" r:id="rId39"/>
    <p:sldId id="299" r:id="rId40"/>
    <p:sldId id="301" r:id="rId41"/>
    <p:sldId id="307" r:id="rId42"/>
    <p:sldId id="308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09" r:id="rId58"/>
    <p:sldId id="325" r:id="rId59"/>
    <p:sldId id="302" r:id="rId60"/>
    <p:sldId id="305" r:id="rId61"/>
    <p:sldId id="306" r:id="rId62"/>
    <p:sldId id="326" r:id="rId6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87260" autoAdjust="0"/>
  </p:normalViewPr>
  <p:slideViewPr>
    <p:cSldViewPr>
      <p:cViewPr varScale="1">
        <p:scale>
          <a:sx n="110" d="100"/>
          <a:sy n="110" d="100"/>
        </p:scale>
        <p:origin x="192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Hui" userId="2acf357a-d887-4e08-95d2-f44b1823070d" providerId="ADAL" clId="{BBEDFFEB-A396-A947-9847-E4B8A6709E72}"/>
    <pc:docChg chg="undo custSel modSld">
      <pc:chgData name="LI, Hui" userId="2acf357a-d887-4e08-95d2-f44b1823070d" providerId="ADAL" clId="{BBEDFFEB-A396-A947-9847-E4B8A6709E72}" dt="2025-04-10T09:11:29.123" v="26" actId="20577"/>
      <pc:docMkLst>
        <pc:docMk/>
      </pc:docMkLst>
      <pc:sldChg chg="modSp mod">
        <pc:chgData name="LI, Hui" userId="2acf357a-d887-4e08-95d2-f44b1823070d" providerId="ADAL" clId="{BBEDFFEB-A396-A947-9847-E4B8A6709E72}" dt="2025-04-10T09:11:29.123" v="26" actId="20577"/>
        <pc:sldMkLst>
          <pc:docMk/>
          <pc:sldMk cId="1346080441" sldId="256"/>
        </pc:sldMkLst>
        <pc:spChg chg="mod">
          <ac:chgData name="LI, Hui" userId="2acf357a-d887-4e08-95d2-f44b1823070d" providerId="ADAL" clId="{BBEDFFEB-A396-A947-9847-E4B8A6709E72}" dt="2025-04-10T09:11:29.123" v="26" actId="20577"/>
          <ac:spMkLst>
            <pc:docMk/>
            <pc:sldMk cId="1346080441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24543-D117-4FAE-B2D8-BA38168DA83B}" type="datetimeFigureOut">
              <a:rPr lang="en-US" smtClean="0"/>
              <a:t>4/10/25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D16CBC-8DC5-4156-9E82-CF8406BBC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44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43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94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D16CBC-8DC5-4156-9E82-CF8406BBCF0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40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D6296-0F5D-4EE3-BE7F-D8A5C1B8516B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347EB-52AD-41AC-9766-90DA8F7CD5D7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64D46-F0E9-4FFD-BFEF-4BFC38CA4D6D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DC6AD-51EE-4E25-8442-7FFE7F227F49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59822-B8A8-420D-B4E5-51E7CA60503D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0C7E-7BDE-4590-A9CB-7BB08282E6F1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6F30-A4FC-41EB-8B80-2B4F82E15353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7DB82-12F4-438C-8823-4C38142E1BD2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2B3E-1B49-459A-ADA2-5E592237ADEA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2408-40FB-4975-9F5C-427251E3DC9E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BE938-962A-49BE-B594-2A6258DE116B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5CF31-3DD7-44C0-BD77-21EBEA66B3C5}" type="datetime1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pqyin22@cse.cuhk.edu.h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course-schedule-ii/#/description" TargetMode="External"/><Relationship Id="rId2" Type="http://schemas.openxmlformats.org/officeDocument/2006/relationships/hyperlink" Target="https://leetcode.com/problems/course-schedule/#/description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CSCI2520 Tutorial 10:</a:t>
            </a:r>
            <a:br>
              <a:rPr lang="en-US" dirty="0"/>
            </a:br>
            <a:r>
              <a:rPr lang="en-US" altLang="zh-TW" dirty="0"/>
              <a:t>Topological Sort and Heap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991072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LI</a:t>
            </a:r>
            <a:r>
              <a:rPr lang="zh-CN" altLang="en-US" dirty="0"/>
              <a:t> </a:t>
            </a:r>
            <a:r>
              <a:rPr lang="en-US" altLang="zh-CN" dirty="0"/>
              <a:t>Hui</a:t>
            </a:r>
          </a:p>
          <a:p>
            <a:r>
              <a:rPr lang="en-US" altLang="zh-CN">
                <a:hlinkClick r:id="rId2"/>
              </a:rPr>
              <a:t>hli@</a:t>
            </a:r>
            <a:r>
              <a:rPr lang="en-US" altLang="zh-CN" dirty="0">
                <a:hlinkClick r:id="rId2"/>
              </a:rPr>
              <a:t>cse.cuhk.edu.hk</a:t>
            </a:r>
            <a:endParaRPr lang="en-US" altLang="zh-CN" dirty="0"/>
          </a:p>
          <a:p>
            <a:r>
              <a:rPr lang="en-US" dirty="0"/>
              <a:t>Slide Ack: modified based on the slides from CHEN </a:t>
            </a:r>
            <a:r>
              <a:rPr lang="en-US" dirty="0" err="1"/>
              <a:t>Gengjie</a:t>
            </a:r>
            <a:r>
              <a:rPr lang="en-US" dirty="0"/>
              <a:t> and LI Jinfeng</a:t>
            </a:r>
          </a:p>
        </p:txBody>
      </p:sp>
    </p:spTree>
    <p:extLst>
      <p:ext uri="{BB962C8B-B14F-4D97-AF65-F5344CB8AC3E}">
        <p14:creationId xmlns:p14="http://schemas.microsoft.com/office/powerpoint/2010/main" val="1346080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Topological Sort</a:t>
            </a:r>
          </a:p>
          <a:p>
            <a:pPr lvl="1"/>
            <a:r>
              <a:rPr lang="en-US" altLang="zh-CN" dirty="0"/>
              <a:t>Kahn's Algorithm</a:t>
            </a:r>
          </a:p>
          <a:p>
            <a:pPr lvl="1"/>
            <a:r>
              <a:rPr lang="en-US" altLang="zh-CN" dirty="0"/>
              <a:t>DFS-based Algorithm</a:t>
            </a:r>
          </a:p>
          <a:p>
            <a:r>
              <a:rPr lang="en-US" altLang="zh-CN" dirty="0"/>
              <a:t>Heap</a:t>
            </a:r>
          </a:p>
          <a:p>
            <a:pPr lvl="1"/>
            <a:r>
              <a:rPr lang="en-US" altLang="zh-CN" dirty="0"/>
              <a:t>Huffman Coding</a:t>
            </a:r>
          </a:p>
          <a:p>
            <a:pPr lvl="1"/>
            <a:r>
              <a:rPr lang="en-US" altLang="zh-CN" dirty="0"/>
              <a:t>Merge Sorted List</a:t>
            </a:r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93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Topological Sort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Given a DAG G = (V , E), find an ordering of V, such that, for each edge (u, v) ∈ E, u precedes v in the ordering. The ordering is called a </a:t>
            </a:r>
            <a:r>
              <a:rPr lang="en-US" altLang="zh-CN" b="1" dirty="0">
                <a:solidFill>
                  <a:srgbClr val="FF0000"/>
                </a:solidFill>
              </a:rPr>
              <a:t>topological order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5" name="Oval 4"/>
          <p:cNvSpPr/>
          <p:nvPr/>
        </p:nvSpPr>
        <p:spPr>
          <a:xfrm>
            <a:off x="1331640" y="465313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6" name="Oval 5"/>
          <p:cNvSpPr/>
          <p:nvPr/>
        </p:nvSpPr>
        <p:spPr>
          <a:xfrm>
            <a:off x="2195736" y="4005064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7" name="Oval 6"/>
          <p:cNvSpPr/>
          <p:nvPr/>
        </p:nvSpPr>
        <p:spPr>
          <a:xfrm>
            <a:off x="2195736" y="530120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/>
          <p:cNvSpPr/>
          <p:nvPr/>
        </p:nvSpPr>
        <p:spPr>
          <a:xfrm>
            <a:off x="3491880" y="4005064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9" name="Oval 8"/>
          <p:cNvSpPr/>
          <p:nvPr/>
        </p:nvSpPr>
        <p:spPr>
          <a:xfrm>
            <a:off x="3491880" y="530120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/>
          <p:cNvSpPr/>
          <p:nvPr/>
        </p:nvSpPr>
        <p:spPr>
          <a:xfrm>
            <a:off x="4427984" y="465313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12" name="Straight Arrow Connector 11"/>
          <p:cNvCxnSpPr>
            <a:stCxn id="5" idx="7"/>
            <a:endCxn id="6" idx="3"/>
          </p:cNvCxnSpPr>
          <p:nvPr/>
        </p:nvCxnSpPr>
        <p:spPr>
          <a:xfrm flipV="1">
            <a:off x="1761879" y="4435303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8" idx="2"/>
          </p:cNvCxnSpPr>
          <p:nvPr/>
        </p:nvCxnSpPr>
        <p:spPr>
          <a:xfrm>
            <a:off x="2699792" y="4257092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6"/>
            <a:endCxn id="9" idx="2"/>
          </p:cNvCxnSpPr>
          <p:nvPr/>
        </p:nvCxnSpPr>
        <p:spPr>
          <a:xfrm>
            <a:off x="2699792" y="5553236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5" idx="5"/>
            <a:endCxn id="7" idx="1"/>
          </p:cNvCxnSpPr>
          <p:nvPr/>
        </p:nvCxnSpPr>
        <p:spPr>
          <a:xfrm>
            <a:off x="1761879" y="5083375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3"/>
            <a:endCxn id="7" idx="7"/>
          </p:cNvCxnSpPr>
          <p:nvPr/>
        </p:nvCxnSpPr>
        <p:spPr>
          <a:xfrm flipH="1">
            <a:off x="2625975" y="4435303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4"/>
            <a:endCxn id="9" idx="0"/>
          </p:cNvCxnSpPr>
          <p:nvPr/>
        </p:nvCxnSpPr>
        <p:spPr>
          <a:xfrm>
            <a:off x="3743908" y="4509120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6" idx="4"/>
            <a:endCxn id="7" idx="0"/>
          </p:cNvCxnSpPr>
          <p:nvPr/>
        </p:nvCxnSpPr>
        <p:spPr>
          <a:xfrm>
            <a:off x="2447764" y="4509120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5"/>
            <a:endCxn id="10" idx="1"/>
          </p:cNvCxnSpPr>
          <p:nvPr/>
        </p:nvCxnSpPr>
        <p:spPr>
          <a:xfrm>
            <a:off x="3922119" y="4435303"/>
            <a:ext cx="579682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358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Topological Sort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Any ordering in which all the arrows go to the right is a valid solution (may not unique).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5" name="Oval 4"/>
          <p:cNvSpPr/>
          <p:nvPr/>
        </p:nvSpPr>
        <p:spPr>
          <a:xfrm>
            <a:off x="1331640" y="350100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6" name="Oval 5"/>
          <p:cNvSpPr/>
          <p:nvPr/>
        </p:nvSpPr>
        <p:spPr>
          <a:xfrm>
            <a:off x="2195736" y="285293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7" name="Oval 6"/>
          <p:cNvSpPr/>
          <p:nvPr/>
        </p:nvSpPr>
        <p:spPr>
          <a:xfrm>
            <a:off x="2195736" y="414908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/>
          <p:cNvSpPr/>
          <p:nvPr/>
        </p:nvSpPr>
        <p:spPr>
          <a:xfrm>
            <a:off x="3491880" y="285293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9" name="Oval 8"/>
          <p:cNvSpPr/>
          <p:nvPr/>
        </p:nvSpPr>
        <p:spPr>
          <a:xfrm>
            <a:off x="3491880" y="414908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/>
          <p:cNvSpPr/>
          <p:nvPr/>
        </p:nvSpPr>
        <p:spPr>
          <a:xfrm>
            <a:off x="4427984" y="350100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12" name="Straight Arrow Connector 11"/>
          <p:cNvCxnSpPr>
            <a:stCxn id="5" idx="7"/>
            <a:endCxn id="6" idx="3"/>
          </p:cNvCxnSpPr>
          <p:nvPr/>
        </p:nvCxnSpPr>
        <p:spPr>
          <a:xfrm flipV="1">
            <a:off x="1761879" y="3283175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8" idx="2"/>
          </p:cNvCxnSpPr>
          <p:nvPr/>
        </p:nvCxnSpPr>
        <p:spPr>
          <a:xfrm>
            <a:off x="2699792" y="3104964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6"/>
            <a:endCxn id="9" idx="2"/>
          </p:cNvCxnSpPr>
          <p:nvPr/>
        </p:nvCxnSpPr>
        <p:spPr>
          <a:xfrm>
            <a:off x="2699792" y="440110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5" idx="5"/>
            <a:endCxn id="7" idx="1"/>
          </p:cNvCxnSpPr>
          <p:nvPr/>
        </p:nvCxnSpPr>
        <p:spPr>
          <a:xfrm>
            <a:off x="1761879" y="3931247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3"/>
            <a:endCxn id="7" idx="7"/>
          </p:cNvCxnSpPr>
          <p:nvPr/>
        </p:nvCxnSpPr>
        <p:spPr>
          <a:xfrm flipH="1">
            <a:off x="2625975" y="3283175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4"/>
            <a:endCxn id="9" idx="0"/>
          </p:cNvCxnSpPr>
          <p:nvPr/>
        </p:nvCxnSpPr>
        <p:spPr>
          <a:xfrm>
            <a:off x="3743908" y="335699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6" idx="4"/>
            <a:endCxn id="7" idx="0"/>
          </p:cNvCxnSpPr>
          <p:nvPr/>
        </p:nvCxnSpPr>
        <p:spPr>
          <a:xfrm>
            <a:off x="2447764" y="335699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5"/>
            <a:endCxn id="10" idx="1"/>
          </p:cNvCxnSpPr>
          <p:nvPr/>
        </p:nvCxnSpPr>
        <p:spPr>
          <a:xfrm>
            <a:off x="3922119" y="3283175"/>
            <a:ext cx="579682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770719" y="4768923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23" name="Oval 22"/>
          <p:cNvSpPr/>
          <p:nvPr/>
        </p:nvSpPr>
        <p:spPr>
          <a:xfrm>
            <a:off x="5459424" y="4768923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28" name="Oval 27"/>
          <p:cNvSpPr/>
          <p:nvPr/>
        </p:nvSpPr>
        <p:spPr>
          <a:xfrm>
            <a:off x="6140680" y="4768923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30" name="Oval 29"/>
          <p:cNvSpPr/>
          <p:nvPr/>
        </p:nvSpPr>
        <p:spPr>
          <a:xfrm>
            <a:off x="6824756" y="4768923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32" name="Oval 31"/>
          <p:cNvSpPr/>
          <p:nvPr/>
        </p:nvSpPr>
        <p:spPr>
          <a:xfrm>
            <a:off x="7508832" y="4768923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34" name="Oval 33"/>
          <p:cNvSpPr/>
          <p:nvPr/>
        </p:nvSpPr>
        <p:spPr>
          <a:xfrm>
            <a:off x="8192908" y="4768923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35" name="Curved Connector 34"/>
          <p:cNvCxnSpPr>
            <a:stCxn id="21" idx="0"/>
            <a:endCxn id="30" idx="0"/>
          </p:cNvCxnSpPr>
          <p:nvPr/>
        </p:nvCxnSpPr>
        <p:spPr>
          <a:xfrm rot="5400000" flipH="1" flipV="1">
            <a:off x="6049765" y="3741905"/>
            <a:ext cx="12700" cy="2054037"/>
          </a:xfrm>
          <a:prstGeom prst="curvedConnector3">
            <a:avLst>
              <a:gd name="adj1" fmla="val 4232433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23" idx="0"/>
            <a:endCxn id="30" idx="0"/>
          </p:cNvCxnSpPr>
          <p:nvPr/>
        </p:nvCxnSpPr>
        <p:spPr>
          <a:xfrm rot="5400000" flipH="1" flipV="1">
            <a:off x="6394118" y="4086257"/>
            <a:ext cx="12700" cy="1365332"/>
          </a:xfrm>
          <a:prstGeom prst="curvedConnector3">
            <a:avLst>
              <a:gd name="adj1" fmla="val 2578378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1" idx="6"/>
            <a:endCxn id="23" idx="2"/>
          </p:cNvCxnSpPr>
          <p:nvPr/>
        </p:nvCxnSpPr>
        <p:spPr>
          <a:xfrm>
            <a:off x="5274775" y="5020951"/>
            <a:ext cx="18464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3" idx="6"/>
            <a:endCxn id="28" idx="2"/>
          </p:cNvCxnSpPr>
          <p:nvPr/>
        </p:nvCxnSpPr>
        <p:spPr>
          <a:xfrm>
            <a:off x="5963480" y="5020951"/>
            <a:ext cx="177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28" idx="6"/>
            <a:endCxn id="30" idx="2"/>
          </p:cNvCxnSpPr>
          <p:nvPr/>
        </p:nvCxnSpPr>
        <p:spPr>
          <a:xfrm>
            <a:off x="6644736" y="5020951"/>
            <a:ext cx="1800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30" idx="6"/>
            <a:endCxn id="32" idx="2"/>
          </p:cNvCxnSpPr>
          <p:nvPr/>
        </p:nvCxnSpPr>
        <p:spPr>
          <a:xfrm>
            <a:off x="7328812" y="5020951"/>
            <a:ext cx="1800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urved Connector 59"/>
          <p:cNvCxnSpPr>
            <a:stCxn id="28" idx="0"/>
            <a:endCxn id="32" idx="0"/>
          </p:cNvCxnSpPr>
          <p:nvPr/>
        </p:nvCxnSpPr>
        <p:spPr>
          <a:xfrm rot="5400000" flipH="1" flipV="1">
            <a:off x="7076784" y="4084847"/>
            <a:ext cx="12700" cy="1368152"/>
          </a:xfrm>
          <a:prstGeom prst="curvedConnector3">
            <a:avLst>
              <a:gd name="adj1" fmla="val 2481079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urved Connector 62"/>
          <p:cNvCxnSpPr>
            <a:stCxn id="28" idx="0"/>
            <a:endCxn id="34" idx="0"/>
          </p:cNvCxnSpPr>
          <p:nvPr/>
        </p:nvCxnSpPr>
        <p:spPr>
          <a:xfrm rot="5400000" flipH="1" flipV="1">
            <a:off x="7418822" y="3742809"/>
            <a:ext cx="12700" cy="2052228"/>
          </a:xfrm>
          <a:prstGeom prst="curvedConnector3">
            <a:avLst>
              <a:gd name="adj1" fmla="val 2967567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4799199" y="5892999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67" name="Oval 66"/>
          <p:cNvSpPr/>
          <p:nvPr/>
        </p:nvSpPr>
        <p:spPr>
          <a:xfrm>
            <a:off x="5487904" y="5892999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68" name="Oval 67"/>
          <p:cNvSpPr/>
          <p:nvPr/>
        </p:nvSpPr>
        <p:spPr>
          <a:xfrm>
            <a:off x="6169160" y="5892999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69" name="Oval 68"/>
          <p:cNvSpPr/>
          <p:nvPr/>
        </p:nvSpPr>
        <p:spPr>
          <a:xfrm>
            <a:off x="6853236" y="5892999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70" name="Oval 69"/>
          <p:cNvSpPr/>
          <p:nvPr/>
        </p:nvSpPr>
        <p:spPr>
          <a:xfrm>
            <a:off x="7537312" y="5892999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sp>
        <p:nvSpPr>
          <p:cNvPr id="71" name="Oval 70"/>
          <p:cNvSpPr/>
          <p:nvPr/>
        </p:nvSpPr>
        <p:spPr>
          <a:xfrm>
            <a:off x="8221388" y="5892999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cxnSp>
        <p:nvCxnSpPr>
          <p:cNvPr id="72" name="Curved Connector 71"/>
          <p:cNvCxnSpPr>
            <a:stCxn id="66" idx="0"/>
            <a:endCxn id="69" idx="0"/>
          </p:cNvCxnSpPr>
          <p:nvPr/>
        </p:nvCxnSpPr>
        <p:spPr>
          <a:xfrm rot="5400000" flipH="1" flipV="1">
            <a:off x="6078245" y="4865981"/>
            <a:ext cx="12700" cy="2054037"/>
          </a:xfrm>
          <a:prstGeom prst="curvedConnector3">
            <a:avLst>
              <a:gd name="adj1" fmla="val 4232433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urved Connector 72"/>
          <p:cNvCxnSpPr>
            <a:stCxn id="67" idx="0"/>
            <a:endCxn id="69" idx="0"/>
          </p:cNvCxnSpPr>
          <p:nvPr/>
        </p:nvCxnSpPr>
        <p:spPr>
          <a:xfrm rot="5400000" flipH="1" flipV="1">
            <a:off x="6422598" y="5210333"/>
            <a:ext cx="12700" cy="1365332"/>
          </a:xfrm>
          <a:prstGeom prst="curvedConnector3">
            <a:avLst>
              <a:gd name="adj1" fmla="val 2578378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66" idx="6"/>
            <a:endCxn id="67" idx="2"/>
          </p:cNvCxnSpPr>
          <p:nvPr/>
        </p:nvCxnSpPr>
        <p:spPr>
          <a:xfrm>
            <a:off x="5303255" y="6145027"/>
            <a:ext cx="18464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67" idx="6"/>
            <a:endCxn id="68" idx="2"/>
          </p:cNvCxnSpPr>
          <p:nvPr/>
        </p:nvCxnSpPr>
        <p:spPr>
          <a:xfrm>
            <a:off x="5991960" y="6145027"/>
            <a:ext cx="177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68" idx="6"/>
            <a:endCxn id="69" idx="2"/>
          </p:cNvCxnSpPr>
          <p:nvPr/>
        </p:nvCxnSpPr>
        <p:spPr>
          <a:xfrm>
            <a:off x="6673216" y="6145027"/>
            <a:ext cx="1800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Curved Connector 77"/>
          <p:cNvCxnSpPr>
            <a:stCxn id="68" idx="0"/>
            <a:endCxn id="70" idx="0"/>
          </p:cNvCxnSpPr>
          <p:nvPr/>
        </p:nvCxnSpPr>
        <p:spPr>
          <a:xfrm rot="5400000" flipH="1" flipV="1">
            <a:off x="7105264" y="5208923"/>
            <a:ext cx="12700" cy="1368152"/>
          </a:xfrm>
          <a:prstGeom prst="curvedConnector3">
            <a:avLst>
              <a:gd name="adj1" fmla="val 2481079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Curved Connector 78"/>
          <p:cNvCxnSpPr>
            <a:stCxn id="68" idx="0"/>
            <a:endCxn id="71" idx="0"/>
          </p:cNvCxnSpPr>
          <p:nvPr/>
        </p:nvCxnSpPr>
        <p:spPr>
          <a:xfrm rot="5400000" flipH="1" flipV="1">
            <a:off x="7447302" y="4866885"/>
            <a:ext cx="12700" cy="2052228"/>
          </a:xfrm>
          <a:prstGeom prst="curvedConnector3">
            <a:avLst>
              <a:gd name="adj1" fmla="val 2967567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urved Connector 82"/>
          <p:cNvCxnSpPr>
            <a:stCxn id="69" idx="0"/>
            <a:endCxn id="71" idx="0"/>
          </p:cNvCxnSpPr>
          <p:nvPr/>
        </p:nvCxnSpPr>
        <p:spPr>
          <a:xfrm rot="5400000" flipH="1" flipV="1">
            <a:off x="7789340" y="5208923"/>
            <a:ext cx="12700" cy="1368152"/>
          </a:xfrm>
          <a:prstGeom prst="curvedConnector3">
            <a:avLst>
              <a:gd name="adj1" fmla="val 2286488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1921120" y="5206178"/>
            <a:ext cx="26178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Both are valid!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59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Topological Sort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Any ordering in which an arrow goes to the </a:t>
            </a:r>
            <a:r>
              <a:rPr lang="en-US" altLang="zh-CN" dirty="0">
                <a:solidFill>
                  <a:srgbClr val="FF0000"/>
                </a:solidFill>
              </a:rPr>
              <a:t>left</a:t>
            </a:r>
            <a:r>
              <a:rPr lang="en-US" altLang="zh-CN" dirty="0"/>
              <a:t> is not a valid solution.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5" name="Oval 4"/>
          <p:cNvSpPr/>
          <p:nvPr/>
        </p:nvSpPr>
        <p:spPr>
          <a:xfrm>
            <a:off x="1331640" y="350100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6" name="Oval 5"/>
          <p:cNvSpPr/>
          <p:nvPr/>
        </p:nvSpPr>
        <p:spPr>
          <a:xfrm>
            <a:off x="2195736" y="285293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7" name="Oval 6"/>
          <p:cNvSpPr/>
          <p:nvPr/>
        </p:nvSpPr>
        <p:spPr>
          <a:xfrm>
            <a:off x="2195736" y="414908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/>
          <p:cNvSpPr/>
          <p:nvPr/>
        </p:nvSpPr>
        <p:spPr>
          <a:xfrm>
            <a:off x="3491880" y="285293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9" name="Oval 8"/>
          <p:cNvSpPr/>
          <p:nvPr/>
        </p:nvSpPr>
        <p:spPr>
          <a:xfrm>
            <a:off x="3491880" y="414908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/>
          <p:cNvSpPr/>
          <p:nvPr/>
        </p:nvSpPr>
        <p:spPr>
          <a:xfrm>
            <a:off x="4427984" y="350100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12" name="Straight Arrow Connector 11"/>
          <p:cNvCxnSpPr>
            <a:stCxn id="5" idx="7"/>
            <a:endCxn id="6" idx="3"/>
          </p:cNvCxnSpPr>
          <p:nvPr/>
        </p:nvCxnSpPr>
        <p:spPr>
          <a:xfrm flipV="1">
            <a:off x="1761879" y="3283175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8" idx="2"/>
          </p:cNvCxnSpPr>
          <p:nvPr/>
        </p:nvCxnSpPr>
        <p:spPr>
          <a:xfrm>
            <a:off x="2699792" y="3104964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6"/>
            <a:endCxn id="9" idx="2"/>
          </p:cNvCxnSpPr>
          <p:nvPr/>
        </p:nvCxnSpPr>
        <p:spPr>
          <a:xfrm>
            <a:off x="2699792" y="440110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5" idx="5"/>
            <a:endCxn id="7" idx="1"/>
          </p:cNvCxnSpPr>
          <p:nvPr/>
        </p:nvCxnSpPr>
        <p:spPr>
          <a:xfrm>
            <a:off x="1761879" y="3931247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3"/>
            <a:endCxn id="7" idx="7"/>
          </p:cNvCxnSpPr>
          <p:nvPr/>
        </p:nvCxnSpPr>
        <p:spPr>
          <a:xfrm flipH="1">
            <a:off x="2625975" y="3283175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4"/>
            <a:endCxn id="9" idx="0"/>
          </p:cNvCxnSpPr>
          <p:nvPr/>
        </p:nvCxnSpPr>
        <p:spPr>
          <a:xfrm>
            <a:off x="3743908" y="335699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6" idx="4"/>
            <a:endCxn id="7" idx="0"/>
          </p:cNvCxnSpPr>
          <p:nvPr/>
        </p:nvCxnSpPr>
        <p:spPr>
          <a:xfrm>
            <a:off x="2447764" y="335699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5"/>
            <a:endCxn id="10" idx="1"/>
          </p:cNvCxnSpPr>
          <p:nvPr/>
        </p:nvCxnSpPr>
        <p:spPr>
          <a:xfrm>
            <a:off x="3922119" y="3283175"/>
            <a:ext cx="579682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770719" y="530120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23" name="Oval 22"/>
          <p:cNvSpPr/>
          <p:nvPr/>
        </p:nvSpPr>
        <p:spPr>
          <a:xfrm>
            <a:off x="5459424" y="530120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28" name="Oval 27"/>
          <p:cNvSpPr/>
          <p:nvPr/>
        </p:nvSpPr>
        <p:spPr>
          <a:xfrm>
            <a:off x="6140680" y="530120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30" name="Oval 29"/>
          <p:cNvSpPr/>
          <p:nvPr/>
        </p:nvSpPr>
        <p:spPr>
          <a:xfrm>
            <a:off x="7524328" y="530120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32" name="Oval 31"/>
          <p:cNvSpPr/>
          <p:nvPr/>
        </p:nvSpPr>
        <p:spPr>
          <a:xfrm>
            <a:off x="6839339" y="530120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34" name="Oval 33"/>
          <p:cNvSpPr/>
          <p:nvPr/>
        </p:nvSpPr>
        <p:spPr>
          <a:xfrm>
            <a:off x="8192908" y="530120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35" name="Curved Connector 34"/>
          <p:cNvCxnSpPr>
            <a:stCxn id="21" idx="0"/>
            <a:endCxn id="30" idx="0"/>
          </p:cNvCxnSpPr>
          <p:nvPr/>
        </p:nvCxnSpPr>
        <p:spPr>
          <a:xfrm rot="5400000" flipH="1" flipV="1">
            <a:off x="6399551" y="3924404"/>
            <a:ext cx="12700" cy="2753609"/>
          </a:xfrm>
          <a:prstGeom prst="curvedConnector3">
            <a:avLst>
              <a:gd name="adj1" fmla="val 4427024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23" idx="0"/>
            <a:endCxn id="30" idx="0"/>
          </p:cNvCxnSpPr>
          <p:nvPr/>
        </p:nvCxnSpPr>
        <p:spPr>
          <a:xfrm rot="5400000" flipH="1" flipV="1">
            <a:off x="6743904" y="4268756"/>
            <a:ext cx="12700" cy="2064904"/>
          </a:xfrm>
          <a:prstGeom prst="curvedConnector3">
            <a:avLst>
              <a:gd name="adj1" fmla="val 3162165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1" idx="6"/>
            <a:endCxn id="23" idx="2"/>
          </p:cNvCxnSpPr>
          <p:nvPr/>
        </p:nvCxnSpPr>
        <p:spPr>
          <a:xfrm>
            <a:off x="5274775" y="5553236"/>
            <a:ext cx="18464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3" idx="6"/>
            <a:endCxn id="28" idx="2"/>
          </p:cNvCxnSpPr>
          <p:nvPr/>
        </p:nvCxnSpPr>
        <p:spPr>
          <a:xfrm>
            <a:off x="5963480" y="5553236"/>
            <a:ext cx="1772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urved Connector 62"/>
          <p:cNvCxnSpPr>
            <a:stCxn id="28" idx="0"/>
            <a:endCxn id="34" idx="0"/>
          </p:cNvCxnSpPr>
          <p:nvPr/>
        </p:nvCxnSpPr>
        <p:spPr>
          <a:xfrm rot="5400000" flipH="1" flipV="1">
            <a:off x="7418822" y="4275094"/>
            <a:ext cx="12700" cy="2052228"/>
          </a:xfrm>
          <a:prstGeom prst="curvedConnector3">
            <a:avLst>
              <a:gd name="adj1" fmla="val 2967567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978059" y="5257800"/>
            <a:ext cx="14141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Invalid!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cxnSp>
        <p:nvCxnSpPr>
          <p:cNvPr id="52" name="Straight Arrow Connector 51"/>
          <p:cNvCxnSpPr>
            <a:stCxn id="28" idx="6"/>
            <a:endCxn id="32" idx="2"/>
          </p:cNvCxnSpPr>
          <p:nvPr/>
        </p:nvCxnSpPr>
        <p:spPr>
          <a:xfrm>
            <a:off x="6644736" y="5553236"/>
            <a:ext cx="19460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Curved Connector 58"/>
          <p:cNvCxnSpPr>
            <a:stCxn id="28" idx="0"/>
            <a:endCxn id="30" idx="0"/>
          </p:cNvCxnSpPr>
          <p:nvPr/>
        </p:nvCxnSpPr>
        <p:spPr>
          <a:xfrm rot="5400000" flipH="1" flipV="1">
            <a:off x="7084532" y="4609384"/>
            <a:ext cx="12700" cy="1383648"/>
          </a:xfrm>
          <a:prstGeom prst="curved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30" idx="2"/>
            <a:endCxn id="32" idx="6"/>
          </p:cNvCxnSpPr>
          <p:nvPr/>
        </p:nvCxnSpPr>
        <p:spPr>
          <a:xfrm flipH="1">
            <a:off x="7343395" y="5553236"/>
            <a:ext cx="18093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985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Toposort</a:t>
            </a:r>
            <a:r>
              <a:rPr lang="en-US" altLang="zh-CN" dirty="0"/>
              <a:t> Examples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Getting dressed</a:t>
            </a:r>
          </a:p>
          <a:p>
            <a:pPr lvl="1"/>
            <a:r>
              <a:rPr lang="en-US" altLang="zh-CN" sz="2400" dirty="0"/>
              <a:t>Certain garments must be donned before others (e.g., socks before shoes). </a:t>
            </a:r>
          </a:p>
          <a:p>
            <a:pPr lvl="1"/>
            <a:r>
              <a:rPr lang="en-US" altLang="zh-CN" sz="2400" dirty="0"/>
              <a:t>Other items may be put on in any order (e.g., socks and pants).</a:t>
            </a:r>
            <a:endParaRPr lang="zh-CN" alt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9" r="5406"/>
          <a:stretch/>
        </p:blipFill>
        <p:spPr>
          <a:xfrm>
            <a:off x="4572000" y="1772816"/>
            <a:ext cx="4608512" cy="26147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5229200"/>
            <a:ext cx="7690274" cy="68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713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Toposort</a:t>
            </a:r>
            <a:r>
              <a:rPr lang="en-US" altLang="zh-CN" dirty="0"/>
              <a:t> Examples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Taking courses</a:t>
            </a:r>
          </a:p>
          <a:p>
            <a:pPr lvl="1"/>
            <a:r>
              <a:rPr lang="en-US" altLang="zh-CN" dirty="0"/>
              <a:t>In order to take a course, you must take </a:t>
            </a:r>
            <a:r>
              <a:rPr lang="en-US" altLang="zh-CN" dirty="0">
                <a:solidFill>
                  <a:srgbClr val="FF0000"/>
                </a:solidFill>
              </a:rPr>
              <a:t>all</a:t>
            </a:r>
            <a:r>
              <a:rPr lang="en-US" altLang="zh-CN" dirty="0"/>
              <a:t> of its prerequisites first</a:t>
            </a:r>
          </a:p>
          <a:p>
            <a:r>
              <a:rPr lang="en-US" altLang="zh-CN" dirty="0"/>
              <a:t>In computer science,</a:t>
            </a:r>
          </a:p>
          <a:p>
            <a:pPr lvl="1"/>
            <a:r>
              <a:rPr lang="en-US" altLang="zh-CN" dirty="0"/>
              <a:t>Instruction scheduling</a:t>
            </a:r>
          </a:p>
          <a:p>
            <a:pPr lvl="1"/>
            <a:r>
              <a:rPr lang="en-US" altLang="zh-CN" dirty="0"/>
              <a:t>Determining the order of compilation tasks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266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DAG?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directed graph with a cycle cannot be topologically sorted.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/>
              <a:t>Question: why? Any ordering of B, C and D causes at least an arrow going to the left.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5" name="Oval 4"/>
          <p:cNvSpPr/>
          <p:nvPr/>
        </p:nvSpPr>
        <p:spPr>
          <a:xfrm>
            <a:off x="1331640" y="350100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6" name="Oval 5"/>
          <p:cNvSpPr/>
          <p:nvPr/>
        </p:nvSpPr>
        <p:spPr>
          <a:xfrm>
            <a:off x="2195736" y="285293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7" name="Oval 6"/>
          <p:cNvSpPr/>
          <p:nvPr/>
        </p:nvSpPr>
        <p:spPr>
          <a:xfrm>
            <a:off x="2195736" y="414908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/>
          <p:cNvSpPr/>
          <p:nvPr/>
        </p:nvSpPr>
        <p:spPr>
          <a:xfrm>
            <a:off x="3491880" y="285293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9" name="Oval 8"/>
          <p:cNvSpPr/>
          <p:nvPr/>
        </p:nvSpPr>
        <p:spPr>
          <a:xfrm>
            <a:off x="3491880" y="414908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/>
          <p:cNvSpPr/>
          <p:nvPr/>
        </p:nvSpPr>
        <p:spPr>
          <a:xfrm>
            <a:off x="4427984" y="350100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11" name="Straight Arrow Connector 10"/>
          <p:cNvCxnSpPr>
            <a:stCxn id="5" idx="7"/>
            <a:endCxn id="6" idx="3"/>
          </p:cNvCxnSpPr>
          <p:nvPr/>
        </p:nvCxnSpPr>
        <p:spPr>
          <a:xfrm flipV="1">
            <a:off x="1761879" y="3283175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6"/>
            <a:endCxn id="8" idx="2"/>
          </p:cNvCxnSpPr>
          <p:nvPr/>
        </p:nvCxnSpPr>
        <p:spPr>
          <a:xfrm>
            <a:off x="2699792" y="3104964"/>
            <a:ext cx="79208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6"/>
            <a:endCxn id="9" idx="2"/>
          </p:cNvCxnSpPr>
          <p:nvPr/>
        </p:nvCxnSpPr>
        <p:spPr>
          <a:xfrm>
            <a:off x="2699792" y="440110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7" idx="1"/>
          </p:cNvCxnSpPr>
          <p:nvPr/>
        </p:nvCxnSpPr>
        <p:spPr>
          <a:xfrm>
            <a:off x="1761879" y="3931247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7" idx="7"/>
          </p:cNvCxnSpPr>
          <p:nvPr/>
        </p:nvCxnSpPr>
        <p:spPr>
          <a:xfrm flipH="1">
            <a:off x="2625975" y="3283175"/>
            <a:ext cx="939722" cy="9397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4"/>
            <a:endCxn id="9" idx="0"/>
          </p:cNvCxnSpPr>
          <p:nvPr/>
        </p:nvCxnSpPr>
        <p:spPr>
          <a:xfrm>
            <a:off x="3743908" y="335699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5"/>
            <a:endCxn id="10" idx="1"/>
          </p:cNvCxnSpPr>
          <p:nvPr/>
        </p:nvCxnSpPr>
        <p:spPr>
          <a:xfrm>
            <a:off x="3922119" y="3283175"/>
            <a:ext cx="579682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7" idx="0"/>
            <a:endCxn id="6" idx="4"/>
          </p:cNvCxnSpPr>
          <p:nvPr/>
        </p:nvCxnSpPr>
        <p:spPr>
          <a:xfrm flipV="1">
            <a:off x="2447764" y="3356992"/>
            <a:ext cx="0" cy="7920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1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do it?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Hints:</a:t>
            </a:r>
          </a:p>
          <a:p>
            <a:pPr lvl="1"/>
            <a:r>
              <a:rPr lang="en-US" altLang="zh-CN" dirty="0"/>
              <a:t>Which one can be safely put as the first?</a:t>
            </a:r>
          </a:p>
          <a:p>
            <a:pPr lvl="1"/>
            <a:r>
              <a:rPr lang="en-US" altLang="zh-CN" dirty="0"/>
              <a:t>Or, DFS?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5" name="Oval 4"/>
          <p:cNvSpPr/>
          <p:nvPr/>
        </p:nvSpPr>
        <p:spPr>
          <a:xfrm>
            <a:off x="2843808" y="458112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6" name="Oval 5"/>
          <p:cNvSpPr/>
          <p:nvPr/>
        </p:nvSpPr>
        <p:spPr>
          <a:xfrm>
            <a:off x="3707904" y="393305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7" name="Oval 6"/>
          <p:cNvSpPr/>
          <p:nvPr/>
        </p:nvSpPr>
        <p:spPr>
          <a:xfrm>
            <a:off x="3707904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/>
          <p:cNvSpPr/>
          <p:nvPr/>
        </p:nvSpPr>
        <p:spPr>
          <a:xfrm>
            <a:off x="5004048" y="393305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9" name="Oval 8"/>
          <p:cNvSpPr/>
          <p:nvPr/>
        </p:nvSpPr>
        <p:spPr>
          <a:xfrm>
            <a:off x="5004048" y="52292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/>
          <p:cNvSpPr/>
          <p:nvPr/>
        </p:nvSpPr>
        <p:spPr>
          <a:xfrm>
            <a:off x="5940152" y="458112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11" name="Straight Arrow Connector 10"/>
          <p:cNvCxnSpPr>
            <a:stCxn id="5" idx="7"/>
            <a:endCxn id="6" idx="3"/>
          </p:cNvCxnSpPr>
          <p:nvPr/>
        </p:nvCxnSpPr>
        <p:spPr>
          <a:xfrm flipV="1">
            <a:off x="3274047" y="4363295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6"/>
            <a:endCxn id="8" idx="2"/>
          </p:cNvCxnSpPr>
          <p:nvPr/>
        </p:nvCxnSpPr>
        <p:spPr>
          <a:xfrm>
            <a:off x="4211960" y="4185084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6"/>
            <a:endCxn id="9" idx="2"/>
          </p:cNvCxnSpPr>
          <p:nvPr/>
        </p:nvCxnSpPr>
        <p:spPr>
          <a:xfrm>
            <a:off x="4211960" y="548122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7" idx="1"/>
          </p:cNvCxnSpPr>
          <p:nvPr/>
        </p:nvCxnSpPr>
        <p:spPr>
          <a:xfrm>
            <a:off x="3274047" y="5011367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7" idx="7"/>
          </p:cNvCxnSpPr>
          <p:nvPr/>
        </p:nvCxnSpPr>
        <p:spPr>
          <a:xfrm flipH="1">
            <a:off x="4138143" y="4363295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4"/>
            <a:endCxn id="9" idx="0"/>
          </p:cNvCxnSpPr>
          <p:nvPr/>
        </p:nvCxnSpPr>
        <p:spPr>
          <a:xfrm>
            <a:off x="5256076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4"/>
            <a:endCxn id="7" idx="0"/>
          </p:cNvCxnSpPr>
          <p:nvPr/>
        </p:nvCxnSpPr>
        <p:spPr>
          <a:xfrm>
            <a:off x="3959932" y="4437112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5"/>
            <a:endCxn id="10" idx="1"/>
          </p:cNvCxnSpPr>
          <p:nvPr/>
        </p:nvCxnSpPr>
        <p:spPr>
          <a:xfrm>
            <a:off x="5434287" y="4363295"/>
            <a:ext cx="579682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214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Kahn's Algorithm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Choose vertices in the same order as the eventual topological sort</a:t>
            </a:r>
          </a:p>
          <a:p>
            <a:r>
              <a:rPr lang="en-US" altLang="zh-CN" dirty="0"/>
              <a:t>Recursively find vertices without incoming edges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73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Kahn's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5" name="Oval 4"/>
          <p:cNvSpPr/>
          <p:nvPr/>
        </p:nvSpPr>
        <p:spPr>
          <a:xfrm>
            <a:off x="755576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1619672" y="278092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7" name="Oval 6"/>
          <p:cNvSpPr/>
          <p:nvPr/>
        </p:nvSpPr>
        <p:spPr>
          <a:xfrm>
            <a:off x="1619672" y="407707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/>
          <p:cNvSpPr/>
          <p:nvPr/>
        </p:nvSpPr>
        <p:spPr>
          <a:xfrm>
            <a:off x="2915816" y="278092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9" name="Oval 8"/>
          <p:cNvSpPr/>
          <p:nvPr/>
        </p:nvSpPr>
        <p:spPr>
          <a:xfrm>
            <a:off x="2915816" y="407707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/>
          <p:cNvSpPr/>
          <p:nvPr/>
        </p:nvSpPr>
        <p:spPr>
          <a:xfrm>
            <a:off x="3851920" y="34290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11" name="Straight Arrow Connector 10"/>
          <p:cNvCxnSpPr>
            <a:stCxn id="5" idx="7"/>
            <a:endCxn id="6" idx="3"/>
          </p:cNvCxnSpPr>
          <p:nvPr/>
        </p:nvCxnSpPr>
        <p:spPr>
          <a:xfrm flipV="1">
            <a:off x="1185815" y="3211167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6"/>
            <a:endCxn id="8" idx="2"/>
          </p:cNvCxnSpPr>
          <p:nvPr/>
        </p:nvCxnSpPr>
        <p:spPr>
          <a:xfrm>
            <a:off x="2123728" y="3032956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6"/>
            <a:endCxn id="9" idx="2"/>
          </p:cNvCxnSpPr>
          <p:nvPr/>
        </p:nvCxnSpPr>
        <p:spPr>
          <a:xfrm>
            <a:off x="2123728" y="4329100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7" idx="1"/>
          </p:cNvCxnSpPr>
          <p:nvPr/>
        </p:nvCxnSpPr>
        <p:spPr>
          <a:xfrm>
            <a:off x="1185815" y="3859239"/>
            <a:ext cx="507674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7" idx="7"/>
          </p:cNvCxnSpPr>
          <p:nvPr/>
        </p:nvCxnSpPr>
        <p:spPr>
          <a:xfrm flipH="1">
            <a:off x="2049911" y="3211167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4"/>
            <a:endCxn id="9" idx="0"/>
          </p:cNvCxnSpPr>
          <p:nvPr/>
        </p:nvCxnSpPr>
        <p:spPr>
          <a:xfrm>
            <a:off x="3167844" y="3284984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4"/>
            <a:endCxn id="7" idx="0"/>
          </p:cNvCxnSpPr>
          <p:nvPr/>
        </p:nvCxnSpPr>
        <p:spPr>
          <a:xfrm>
            <a:off x="1871700" y="3284984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5"/>
            <a:endCxn id="10" idx="1"/>
          </p:cNvCxnSpPr>
          <p:nvPr/>
        </p:nvCxnSpPr>
        <p:spPr>
          <a:xfrm>
            <a:off x="3346055" y="3211167"/>
            <a:ext cx="579682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AutoShape 5"/>
          <p:cNvSpPr>
            <a:spLocks noChangeArrowheads="1"/>
          </p:cNvSpPr>
          <p:nvPr/>
        </p:nvSpPr>
        <p:spPr bwMode="auto">
          <a:xfrm>
            <a:off x="395536" y="1643423"/>
            <a:ext cx="3096344" cy="340519"/>
          </a:xfrm>
          <a:prstGeom prst="wedgeRoundRectCallout">
            <a:avLst>
              <a:gd name="adj1" fmla="val -30835"/>
              <a:gd name="adj2" fmla="val 463304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A has no incoming vertex</a:t>
            </a:r>
          </a:p>
        </p:txBody>
      </p:sp>
    </p:spTree>
    <p:extLst>
      <p:ext uri="{BB962C8B-B14F-4D97-AF65-F5344CB8AC3E}">
        <p14:creationId xmlns:p14="http://schemas.microsoft.com/office/powerpoint/2010/main" val="545924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Kahn's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20" name="Oval 19"/>
          <p:cNvSpPr/>
          <p:nvPr/>
        </p:nvSpPr>
        <p:spPr>
          <a:xfrm>
            <a:off x="6019800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1619672" y="27809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1619672" y="407707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23" name="Oval 22"/>
          <p:cNvSpPr/>
          <p:nvPr/>
        </p:nvSpPr>
        <p:spPr>
          <a:xfrm>
            <a:off x="2915816" y="278092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24" name="Oval 23"/>
          <p:cNvSpPr/>
          <p:nvPr/>
        </p:nvSpPr>
        <p:spPr>
          <a:xfrm>
            <a:off x="2915816" y="407707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25" name="Oval 24"/>
          <p:cNvSpPr/>
          <p:nvPr/>
        </p:nvSpPr>
        <p:spPr>
          <a:xfrm>
            <a:off x="3851920" y="34290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27" name="Straight Arrow Connector 26"/>
          <p:cNvCxnSpPr>
            <a:stCxn id="21" idx="6"/>
            <a:endCxn id="23" idx="2"/>
          </p:cNvCxnSpPr>
          <p:nvPr/>
        </p:nvCxnSpPr>
        <p:spPr>
          <a:xfrm>
            <a:off x="2123728" y="3032956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2" idx="6"/>
            <a:endCxn id="24" idx="2"/>
          </p:cNvCxnSpPr>
          <p:nvPr/>
        </p:nvCxnSpPr>
        <p:spPr>
          <a:xfrm>
            <a:off x="2123728" y="4329100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3"/>
            <a:endCxn id="22" idx="7"/>
          </p:cNvCxnSpPr>
          <p:nvPr/>
        </p:nvCxnSpPr>
        <p:spPr>
          <a:xfrm flipH="1">
            <a:off x="2049911" y="3211167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3" idx="4"/>
            <a:endCxn id="24" idx="0"/>
          </p:cNvCxnSpPr>
          <p:nvPr/>
        </p:nvCxnSpPr>
        <p:spPr>
          <a:xfrm>
            <a:off x="3167844" y="3284984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1" idx="4"/>
            <a:endCxn id="22" idx="0"/>
          </p:cNvCxnSpPr>
          <p:nvPr/>
        </p:nvCxnSpPr>
        <p:spPr>
          <a:xfrm>
            <a:off x="1871700" y="3284984"/>
            <a:ext cx="0" cy="79208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3" idx="5"/>
            <a:endCxn id="25" idx="1"/>
          </p:cNvCxnSpPr>
          <p:nvPr/>
        </p:nvCxnSpPr>
        <p:spPr>
          <a:xfrm>
            <a:off x="3346055" y="3211167"/>
            <a:ext cx="579682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843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Kahn's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20" name="Oval 19"/>
          <p:cNvSpPr/>
          <p:nvPr/>
        </p:nvSpPr>
        <p:spPr>
          <a:xfrm>
            <a:off x="6019800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6584329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1619672" y="407707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23" name="Oval 22"/>
          <p:cNvSpPr/>
          <p:nvPr/>
        </p:nvSpPr>
        <p:spPr>
          <a:xfrm>
            <a:off x="2915816" y="278092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2915816" y="407707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25" name="Oval 24"/>
          <p:cNvSpPr/>
          <p:nvPr/>
        </p:nvSpPr>
        <p:spPr>
          <a:xfrm>
            <a:off x="3851920" y="342900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28" name="Straight Arrow Connector 27"/>
          <p:cNvCxnSpPr>
            <a:stCxn id="22" idx="6"/>
            <a:endCxn id="24" idx="2"/>
          </p:cNvCxnSpPr>
          <p:nvPr/>
        </p:nvCxnSpPr>
        <p:spPr>
          <a:xfrm>
            <a:off x="2123728" y="4329100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3"/>
            <a:endCxn id="22" idx="7"/>
          </p:cNvCxnSpPr>
          <p:nvPr/>
        </p:nvCxnSpPr>
        <p:spPr>
          <a:xfrm flipH="1">
            <a:off x="2049911" y="3211167"/>
            <a:ext cx="939722" cy="939722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3" idx="4"/>
            <a:endCxn id="24" idx="0"/>
          </p:cNvCxnSpPr>
          <p:nvPr/>
        </p:nvCxnSpPr>
        <p:spPr>
          <a:xfrm>
            <a:off x="3167844" y="3284984"/>
            <a:ext cx="0" cy="792088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3" idx="5"/>
            <a:endCxn id="25" idx="1"/>
          </p:cNvCxnSpPr>
          <p:nvPr/>
        </p:nvCxnSpPr>
        <p:spPr>
          <a:xfrm>
            <a:off x="3346055" y="3211167"/>
            <a:ext cx="579682" cy="29165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825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Kahn's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20" name="Oval 19"/>
          <p:cNvSpPr/>
          <p:nvPr/>
        </p:nvSpPr>
        <p:spPr>
          <a:xfrm>
            <a:off x="6019800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6584329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1619672" y="407707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23" name="Oval 22"/>
          <p:cNvSpPr/>
          <p:nvPr/>
        </p:nvSpPr>
        <p:spPr>
          <a:xfrm>
            <a:off x="7148858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2915816" y="407707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25" name="Oval 24"/>
          <p:cNvSpPr/>
          <p:nvPr/>
        </p:nvSpPr>
        <p:spPr>
          <a:xfrm>
            <a:off x="3851920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F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cxnSp>
        <p:nvCxnSpPr>
          <p:cNvPr id="28" name="Straight Arrow Connector 27"/>
          <p:cNvCxnSpPr>
            <a:stCxn id="22" idx="6"/>
            <a:endCxn id="24" idx="2"/>
          </p:cNvCxnSpPr>
          <p:nvPr/>
        </p:nvCxnSpPr>
        <p:spPr>
          <a:xfrm>
            <a:off x="2123728" y="4329100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AutoShape 5"/>
          <p:cNvSpPr>
            <a:spLocks noChangeArrowheads="1"/>
          </p:cNvSpPr>
          <p:nvPr/>
        </p:nvSpPr>
        <p:spPr bwMode="auto">
          <a:xfrm>
            <a:off x="1691680" y="2236576"/>
            <a:ext cx="1656184" cy="340519"/>
          </a:xfrm>
          <a:prstGeom prst="wedgeRoundRectCallout">
            <a:avLst>
              <a:gd name="adj1" fmla="val -38730"/>
              <a:gd name="adj2" fmla="val 485076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Both are OK</a:t>
            </a:r>
          </a:p>
        </p:txBody>
      </p:sp>
      <p:sp>
        <p:nvSpPr>
          <p:cNvPr id="18" name="AutoShape 5"/>
          <p:cNvSpPr>
            <a:spLocks noChangeArrowheads="1"/>
          </p:cNvSpPr>
          <p:nvPr/>
        </p:nvSpPr>
        <p:spPr bwMode="auto">
          <a:xfrm>
            <a:off x="1691680" y="2224385"/>
            <a:ext cx="1656184" cy="340519"/>
          </a:xfrm>
          <a:prstGeom prst="wedgeRoundRectCallout">
            <a:avLst>
              <a:gd name="adj1" fmla="val 84376"/>
              <a:gd name="adj2" fmla="val 314522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Both are OK</a:t>
            </a:r>
          </a:p>
        </p:txBody>
      </p:sp>
    </p:spTree>
    <p:extLst>
      <p:ext uri="{BB962C8B-B14F-4D97-AF65-F5344CB8AC3E}">
        <p14:creationId xmlns:p14="http://schemas.microsoft.com/office/powerpoint/2010/main" val="417649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Kahn's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20" name="Oval 19"/>
          <p:cNvSpPr/>
          <p:nvPr/>
        </p:nvSpPr>
        <p:spPr>
          <a:xfrm>
            <a:off x="6019800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6584329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1619672" y="4077072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7148858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2915816" y="407707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25" name="Oval 24"/>
          <p:cNvSpPr/>
          <p:nvPr/>
        </p:nvSpPr>
        <p:spPr>
          <a:xfrm>
            <a:off x="7713387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F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cxnSp>
        <p:nvCxnSpPr>
          <p:cNvPr id="28" name="Straight Arrow Connector 27"/>
          <p:cNvCxnSpPr>
            <a:stCxn id="22" idx="6"/>
            <a:endCxn id="24" idx="2"/>
          </p:cNvCxnSpPr>
          <p:nvPr/>
        </p:nvCxnSpPr>
        <p:spPr>
          <a:xfrm>
            <a:off x="2123728" y="4329100"/>
            <a:ext cx="792088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2245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Kahn's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20" name="Oval 19"/>
          <p:cNvSpPr/>
          <p:nvPr/>
        </p:nvSpPr>
        <p:spPr>
          <a:xfrm>
            <a:off x="6019800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6584329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8277916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7148858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2915816" y="407707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25" name="Oval 24"/>
          <p:cNvSpPr/>
          <p:nvPr/>
        </p:nvSpPr>
        <p:spPr>
          <a:xfrm>
            <a:off x="7713387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F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262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Kahn's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20" name="Oval 19"/>
          <p:cNvSpPr/>
          <p:nvPr/>
        </p:nvSpPr>
        <p:spPr>
          <a:xfrm>
            <a:off x="2961956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3526485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5220072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4091014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5784601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4655543" y="3429000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F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042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Kahn's Algorithm Pseudocode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000" dirty="0"/>
              <a:t>L ← Empty list that will contain the sorted elements</a:t>
            </a:r>
          </a:p>
          <a:p>
            <a:pPr marL="0" indent="0">
              <a:buNone/>
            </a:pPr>
            <a:r>
              <a:rPr lang="en-US" altLang="zh-CN" sz="2000" dirty="0"/>
              <a:t>S ← Set of all nodes with no incoming edges</a:t>
            </a:r>
          </a:p>
          <a:p>
            <a:pPr marL="0" indent="0">
              <a:buNone/>
            </a:pPr>
            <a:r>
              <a:rPr lang="en-US" altLang="zh-CN" sz="2000" b="1" dirty="0"/>
              <a:t>while</a:t>
            </a:r>
            <a:r>
              <a:rPr lang="en-US" altLang="zh-CN" sz="2000" dirty="0"/>
              <a:t> S is non-empty do</a:t>
            </a:r>
          </a:p>
          <a:p>
            <a:pPr marL="0" indent="0">
              <a:buNone/>
            </a:pPr>
            <a:r>
              <a:rPr lang="en-US" altLang="zh-CN" sz="2000" dirty="0"/>
              <a:t>        remove a node n from S</a:t>
            </a:r>
          </a:p>
          <a:p>
            <a:pPr marL="0" indent="0">
              <a:buNone/>
            </a:pPr>
            <a:r>
              <a:rPr lang="en-US" altLang="zh-CN" sz="2000" dirty="0"/>
              <a:t>        add n to tail of L</a:t>
            </a:r>
          </a:p>
          <a:p>
            <a:pPr marL="0" indent="0">
              <a:buNone/>
            </a:pPr>
            <a:r>
              <a:rPr lang="en-US" altLang="zh-CN" sz="2000" dirty="0"/>
              <a:t>        </a:t>
            </a:r>
            <a:r>
              <a:rPr lang="en-US" altLang="zh-CN" sz="2000" b="1" dirty="0"/>
              <a:t>for</a:t>
            </a:r>
            <a:r>
              <a:rPr lang="en-US" altLang="zh-CN" sz="2000" dirty="0"/>
              <a:t> each node m with an edge e from n to m </a:t>
            </a:r>
            <a:r>
              <a:rPr lang="en-US" altLang="zh-CN" sz="2000" b="1" dirty="0"/>
              <a:t>do</a:t>
            </a:r>
          </a:p>
          <a:p>
            <a:pPr marL="0" indent="0">
              <a:buNone/>
            </a:pPr>
            <a:r>
              <a:rPr lang="en-US" altLang="zh-CN" sz="2000" dirty="0"/>
              <a:t>                remove edge e from the graph</a:t>
            </a:r>
          </a:p>
          <a:p>
            <a:pPr marL="0" indent="0">
              <a:buNone/>
            </a:pPr>
            <a:r>
              <a:rPr lang="en-US" altLang="zh-CN" sz="2000" dirty="0"/>
              <a:t>                </a:t>
            </a:r>
            <a:r>
              <a:rPr lang="en-US" altLang="zh-CN" sz="2000" b="1" dirty="0"/>
              <a:t>if</a:t>
            </a:r>
            <a:r>
              <a:rPr lang="en-US" altLang="zh-CN" sz="2000" dirty="0"/>
              <a:t> m has no other incoming edges then</a:t>
            </a:r>
          </a:p>
          <a:p>
            <a:pPr marL="0" indent="0">
              <a:buNone/>
            </a:pPr>
            <a:r>
              <a:rPr lang="en-US" altLang="zh-CN" sz="2000" dirty="0"/>
              <a:t>                        insert m into S</a:t>
            </a:r>
          </a:p>
          <a:p>
            <a:pPr marL="0" indent="0"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if</a:t>
            </a:r>
            <a:r>
              <a:rPr lang="en-US" altLang="zh-CN" sz="2000" dirty="0">
                <a:solidFill>
                  <a:srgbClr val="FF0000"/>
                </a:solidFill>
              </a:rPr>
              <a:t> graph has edges then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        return error (graph has at least one cycle)</a:t>
            </a:r>
          </a:p>
          <a:p>
            <a:pPr marL="0" indent="0">
              <a:buNone/>
            </a:pPr>
            <a:r>
              <a:rPr lang="en-US" altLang="zh-CN" sz="2000" b="1" dirty="0"/>
              <a:t>else </a:t>
            </a:r>
          </a:p>
          <a:p>
            <a:pPr marL="0" indent="0">
              <a:buNone/>
            </a:pPr>
            <a:r>
              <a:rPr lang="en-US" altLang="zh-CN" sz="2000" dirty="0"/>
              <a:t>        return L (a topologically sorted order)</a:t>
            </a:r>
            <a:endParaRPr lang="zh-CN" alt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732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Kahn's Algorithm Details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How to obtain in-degree information? Go through all edges in each round?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171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Kahn's Algorithm Details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How to obtain in-degree information? Go through all edges in each round? We can record and maintain an in-degree array…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95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Kahn's Algorithm Details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Which graph representation fits this algorithm better, adjacency matrix or adjacency list?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508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Kahn's Algorithm Details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Which graph representation fits this algorithm better, adjacency matrix or adjacency list? Adjacency list!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682838"/>
              </p:ext>
            </p:extLst>
          </p:nvPr>
        </p:nvGraphicFramePr>
        <p:xfrm>
          <a:off x="460375" y="3191283"/>
          <a:ext cx="8226425" cy="3145216"/>
        </p:xfrm>
        <a:graphic>
          <a:graphicData uri="http://schemas.openxmlformats.org/drawingml/2006/table">
            <a:tbl>
              <a:tblPr/>
              <a:tblGrid>
                <a:gridCol w="367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6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9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070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680" marB="4568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Adjacency matrix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Adjacency list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922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Is there an edge from </a:t>
                      </a: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v</a:t>
                      </a:r>
                      <a:r>
                        <a:rPr kumimoji="1" lang="en-US" altLang="zh-TW" sz="24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i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 to </a:t>
                      </a:r>
                      <a:r>
                        <a:rPr kumimoji="1" lang="en-US" altLang="zh-TW" sz="2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v</a:t>
                      </a:r>
                      <a:r>
                        <a:rPr kumimoji="1" lang="en-US" altLang="zh-TW" sz="24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j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?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M[</a:t>
                      </a:r>
                      <a:r>
                        <a:rPr kumimoji="1" lang="en-US" altLang="zh-TW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i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][j] == 1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mmi10" pitchFamily="34" charset="0"/>
                          <a:ea typeface="新細明體" pitchFamily="18" charset="-120"/>
                        </a:rPr>
                        <a:t>O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(1)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Traverse </a:t>
                      </a: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L[i]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mmi10" pitchFamily="34" charset="0"/>
                          <a:ea typeface="新細明體" pitchFamily="18" charset="-120"/>
                        </a:rPr>
                        <a:t>O</a:t>
                      </a: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(</a:t>
                      </a:r>
                      <a:r>
                        <a:rPr kumimoji="1" lang="en-US" altLang="zh-TW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d</a:t>
                      </a: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)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922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Find all vertices adjacent to </a:t>
                      </a: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v</a:t>
                      </a:r>
                      <a:r>
                        <a:rPr kumimoji="1" lang="en-US" altLang="zh-TW" sz="2400" b="0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i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.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Traverse row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mmi10" pitchFamily="34" charset="0"/>
                          <a:ea typeface="新細明體" pitchFamily="18" charset="-120"/>
                        </a:rPr>
                        <a:t>O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(</a:t>
                      </a: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)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Traverse 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L[</a:t>
                      </a:r>
                      <a:r>
                        <a:rPr kumimoji="1" lang="en-US" altLang="zh-TW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i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mmi10" pitchFamily="34" charset="0"/>
                          <a:ea typeface="新細明體" pitchFamily="18" charset="-120"/>
                        </a:rPr>
                        <a:t>O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(</a:t>
                      </a: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d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)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922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How many edges are there in a graph?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Traverse 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mmi10" pitchFamily="34" charset="0"/>
                          <a:ea typeface="新細明體" pitchFamily="18" charset="-120"/>
                        </a:rPr>
                        <a:t>O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(</a:t>
                      </a: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</a:t>
                      </a:r>
                      <a:r>
                        <a:rPr kumimoji="1" lang="en-US" altLang="zh-TW" sz="24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)</a:t>
                      </a:r>
                    </a:p>
                  </a:txBody>
                  <a:tcPr marT="45680" marB="4568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Arial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Traverse 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mmi10" pitchFamily="34" charset="0"/>
                          <a:ea typeface="新細明體" pitchFamily="18" charset="-120"/>
                        </a:rPr>
                        <a:t>O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(</a:t>
                      </a: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 + </a:t>
                      </a:r>
                      <a:r>
                        <a:rPr kumimoji="1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e</a:t>
                      </a: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)</a:t>
                      </a:r>
                    </a:p>
                  </a:txBody>
                  <a:tcPr marT="45680" marB="456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264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DFS-based Algorithm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Initiate DFS from arbitrary unvisited vertice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en-US" altLang="zh-CN" dirty="0"/>
              <a:t> until all vertices are visited.</a:t>
            </a:r>
          </a:p>
          <a:p>
            <a:r>
              <a:rPr lang="en-US" altLang="zh-CN" dirty="0"/>
              <a:t>Add a vertex into the front of the output list when its DFS is </a:t>
            </a:r>
            <a:r>
              <a:rPr lang="en-US" altLang="zh-CN" dirty="0">
                <a:solidFill>
                  <a:srgbClr val="FF0000"/>
                </a:solidFill>
              </a:rPr>
              <a:t>finished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21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DFS-based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5" name="Oval 4"/>
          <p:cNvSpPr/>
          <p:nvPr/>
        </p:nvSpPr>
        <p:spPr>
          <a:xfrm>
            <a:off x="755576" y="263691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6" name="Oval 5"/>
          <p:cNvSpPr/>
          <p:nvPr/>
        </p:nvSpPr>
        <p:spPr>
          <a:xfrm>
            <a:off x="1619672" y="1988840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B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619672" y="3284984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/>
          <p:cNvSpPr/>
          <p:nvPr/>
        </p:nvSpPr>
        <p:spPr>
          <a:xfrm>
            <a:off x="2915816" y="1988840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9" name="Oval 8"/>
          <p:cNvSpPr/>
          <p:nvPr/>
        </p:nvSpPr>
        <p:spPr>
          <a:xfrm>
            <a:off x="2915816" y="3284984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/>
          <p:cNvSpPr/>
          <p:nvPr/>
        </p:nvSpPr>
        <p:spPr>
          <a:xfrm>
            <a:off x="3851920" y="263691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11" name="Straight Arrow Connector 10"/>
          <p:cNvCxnSpPr>
            <a:stCxn id="5" idx="7"/>
            <a:endCxn id="6" idx="3"/>
          </p:cNvCxnSpPr>
          <p:nvPr/>
        </p:nvCxnSpPr>
        <p:spPr>
          <a:xfrm flipV="1">
            <a:off x="1185815" y="2419079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6"/>
            <a:endCxn id="8" idx="2"/>
          </p:cNvCxnSpPr>
          <p:nvPr/>
        </p:nvCxnSpPr>
        <p:spPr>
          <a:xfrm>
            <a:off x="2123728" y="224086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6"/>
            <a:endCxn id="9" idx="2"/>
          </p:cNvCxnSpPr>
          <p:nvPr/>
        </p:nvCxnSpPr>
        <p:spPr>
          <a:xfrm>
            <a:off x="2123728" y="3537012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7" idx="1"/>
          </p:cNvCxnSpPr>
          <p:nvPr/>
        </p:nvCxnSpPr>
        <p:spPr>
          <a:xfrm>
            <a:off x="1185815" y="3067151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7" idx="7"/>
          </p:cNvCxnSpPr>
          <p:nvPr/>
        </p:nvCxnSpPr>
        <p:spPr>
          <a:xfrm flipH="1">
            <a:off x="2049911" y="2419079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4"/>
            <a:endCxn id="9" idx="0"/>
          </p:cNvCxnSpPr>
          <p:nvPr/>
        </p:nvCxnSpPr>
        <p:spPr>
          <a:xfrm>
            <a:off x="3167844" y="2492896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4"/>
            <a:endCxn id="7" idx="0"/>
          </p:cNvCxnSpPr>
          <p:nvPr/>
        </p:nvCxnSpPr>
        <p:spPr>
          <a:xfrm>
            <a:off x="1871700" y="2492896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5"/>
            <a:endCxn id="10" idx="1"/>
          </p:cNvCxnSpPr>
          <p:nvPr/>
        </p:nvCxnSpPr>
        <p:spPr>
          <a:xfrm>
            <a:off x="3346055" y="2419079"/>
            <a:ext cx="579682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4892454" y="1790406"/>
            <a:ext cx="1292020" cy="517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en-US" altLang="zh-CN" sz="2400" b="1" dirty="0" err="1">
                <a:latin typeface="Courier New" panose="02070309020205020404" pitchFamily="49" charset="0"/>
                <a:ea typeface="宋体" panose="02010600030101010101" pitchFamily="2" charset="-122"/>
              </a:rPr>
              <a:t>dfs</a:t>
            </a:r>
            <a:r>
              <a:rPr kumimoji="0"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(B)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38" y="5013176"/>
            <a:ext cx="1939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Output List:</a:t>
            </a:r>
            <a:endParaRPr lang="zh-CN" altLang="en-US" sz="2800" b="1" dirty="0"/>
          </a:p>
        </p:txBody>
      </p:sp>
      <p:sp>
        <p:nvSpPr>
          <p:cNvPr id="21" name="AutoShape 5"/>
          <p:cNvSpPr>
            <a:spLocks noChangeArrowheads="1"/>
          </p:cNvSpPr>
          <p:nvPr/>
        </p:nvSpPr>
        <p:spPr bwMode="auto">
          <a:xfrm>
            <a:off x="1013405" y="1272718"/>
            <a:ext cx="2448273" cy="340519"/>
          </a:xfrm>
          <a:prstGeom prst="wedgeRoundRectCallout">
            <a:avLst>
              <a:gd name="adj1" fmla="val -15415"/>
              <a:gd name="adj2" fmla="val 162112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Initiate DFS from B</a:t>
            </a:r>
          </a:p>
        </p:txBody>
      </p:sp>
    </p:spTree>
    <p:extLst>
      <p:ext uri="{BB962C8B-B14F-4D97-AF65-F5344CB8AC3E}">
        <p14:creationId xmlns:p14="http://schemas.microsoft.com/office/powerpoint/2010/main" val="390359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DFS-based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5" name="Oval 4"/>
          <p:cNvSpPr/>
          <p:nvPr/>
        </p:nvSpPr>
        <p:spPr>
          <a:xfrm>
            <a:off x="755576" y="263691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6" name="Oval 5"/>
          <p:cNvSpPr/>
          <p:nvPr/>
        </p:nvSpPr>
        <p:spPr>
          <a:xfrm>
            <a:off x="1619672" y="1988840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B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619672" y="3284984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/>
          <p:cNvSpPr/>
          <p:nvPr/>
        </p:nvSpPr>
        <p:spPr>
          <a:xfrm>
            <a:off x="2915816" y="1988840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C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915816" y="3284984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/>
          <p:cNvSpPr/>
          <p:nvPr/>
        </p:nvSpPr>
        <p:spPr>
          <a:xfrm>
            <a:off x="3851920" y="263691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cxnSp>
        <p:nvCxnSpPr>
          <p:cNvPr id="11" name="Straight Arrow Connector 10"/>
          <p:cNvCxnSpPr>
            <a:stCxn id="5" idx="7"/>
            <a:endCxn id="6" idx="3"/>
          </p:cNvCxnSpPr>
          <p:nvPr/>
        </p:nvCxnSpPr>
        <p:spPr>
          <a:xfrm flipV="1">
            <a:off x="1185815" y="2419079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6"/>
            <a:endCxn id="8" idx="2"/>
          </p:cNvCxnSpPr>
          <p:nvPr/>
        </p:nvCxnSpPr>
        <p:spPr>
          <a:xfrm>
            <a:off x="2123728" y="224086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6"/>
            <a:endCxn id="9" idx="2"/>
          </p:cNvCxnSpPr>
          <p:nvPr/>
        </p:nvCxnSpPr>
        <p:spPr>
          <a:xfrm>
            <a:off x="2123728" y="3537012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7" idx="1"/>
          </p:cNvCxnSpPr>
          <p:nvPr/>
        </p:nvCxnSpPr>
        <p:spPr>
          <a:xfrm>
            <a:off x="1185815" y="3067151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7" idx="7"/>
          </p:cNvCxnSpPr>
          <p:nvPr/>
        </p:nvCxnSpPr>
        <p:spPr>
          <a:xfrm flipH="1">
            <a:off x="2049911" y="2419079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4"/>
            <a:endCxn id="9" idx="0"/>
          </p:cNvCxnSpPr>
          <p:nvPr/>
        </p:nvCxnSpPr>
        <p:spPr>
          <a:xfrm>
            <a:off x="3167844" y="2492896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4"/>
            <a:endCxn id="7" idx="0"/>
          </p:cNvCxnSpPr>
          <p:nvPr/>
        </p:nvCxnSpPr>
        <p:spPr>
          <a:xfrm>
            <a:off x="1871700" y="2492896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5"/>
            <a:endCxn id="10" idx="1"/>
          </p:cNvCxnSpPr>
          <p:nvPr/>
        </p:nvCxnSpPr>
        <p:spPr>
          <a:xfrm>
            <a:off x="3346055" y="2419079"/>
            <a:ext cx="579682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4892454" y="1790406"/>
            <a:ext cx="1660711" cy="979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en-US" altLang="zh-CN" sz="2400" b="1" dirty="0" err="1">
                <a:latin typeface="Courier New" panose="02070309020205020404" pitchFamily="49" charset="0"/>
                <a:ea typeface="宋体" panose="02010600030101010101" pitchFamily="2" charset="-122"/>
              </a:rPr>
              <a:t>dfs</a:t>
            </a:r>
            <a:r>
              <a:rPr kumimoji="0"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(B)</a:t>
            </a:r>
          </a:p>
          <a:p>
            <a:pPr>
              <a:lnSpc>
                <a:spcPct val="120000"/>
              </a:lnSpc>
            </a:pPr>
            <a:r>
              <a:rPr kumimoji="0"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  </a:t>
            </a:r>
            <a:r>
              <a:rPr kumimoji="0" lang="en-US" altLang="zh-CN" sz="2400" b="1" dirty="0" err="1">
                <a:latin typeface="Courier New" panose="02070309020205020404" pitchFamily="49" charset="0"/>
                <a:ea typeface="宋体" panose="02010600030101010101" pitchFamily="2" charset="-122"/>
              </a:rPr>
              <a:t>dfs</a:t>
            </a:r>
            <a:r>
              <a:rPr kumimoji="0"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(C)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38" y="5013176"/>
            <a:ext cx="1939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Output List: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04525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DFS-based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5" name="Oval 4"/>
          <p:cNvSpPr/>
          <p:nvPr/>
        </p:nvSpPr>
        <p:spPr>
          <a:xfrm>
            <a:off x="755576" y="263691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6" name="Oval 5"/>
          <p:cNvSpPr/>
          <p:nvPr/>
        </p:nvSpPr>
        <p:spPr>
          <a:xfrm>
            <a:off x="1619672" y="1988840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B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619672" y="3284984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/>
          <p:cNvSpPr/>
          <p:nvPr/>
        </p:nvSpPr>
        <p:spPr>
          <a:xfrm>
            <a:off x="2915816" y="1988840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C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915816" y="3284984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/>
          <p:cNvSpPr/>
          <p:nvPr/>
        </p:nvSpPr>
        <p:spPr>
          <a:xfrm>
            <a:off x="3851920" y="2636912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F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/>
          <p:cNvCxnSpPr>
            <a:stCxn id="5" idx="7"/>
            <a:endCxn id="6" idx="3"/>
          </p:cNvCxnSpPr>
          <p:nvPr/>
        </p:nvCxnSpPr>
        <p:spPr>
          <a:xfrm flipV="1">
            <a:off x="1185815" y="2419079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6"/>
            <a:endCxn id="8" idx="2"/>
          </p:cNvCxnSpPr>
          <p:nvPr/>
        </p:nvCxnSpPr>
        <p:spPr>
          <a:xfrm>
            <a:off x="2123728" y="224086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6"/>
            <a:endCxn id="9" idx="2"/>
          </p:cNvCxnSpPr>
          <p:nvPr/>
        </p:nvCxnSpPr>
        <p:spPr>
          <a:xfrm>
            <a:off x="2123728" y="3537012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7" idx="1"/>
          </p:cNvCxnSpPr>
          <p:nvPr/>
        </p:nvCxnSpPr>
        <p:spPr>
          <a:xfrm>
            <a:off x="1185815" y="3067151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7" idx="7"/>
          </p:cNvCxnSpPr>
          <p:nvPr/>
        </p:nvCxnSpPr>
        <p:spPr>
          <a:xfrm flipH="1">
            <a:off x="2049911" y="2419079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4"/>
            <a:endCxn id="9" idx="0"/>
          </p:cNvCxnSpPr>
          <p:nvPr/>
        </p:nvCxnSpPr>
        <p:spPr>
          <a:xfrm>
            <a:off x="3167844" y="2492896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4"/>
            <a:endCxn id="7" idx="0"/>
          </p:cNvCxnSpPr>
          <p:nvPr/>
        </p:nvCxnSpPr>
        <p:spPr>
          <a:xfrm>
            <a:off x="1871700" y="2492896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5"/>
            <a:endCxn id="10" idx="1"/>
          </p:cNvCxnSpPr>
          <p:nvPr/>
        </p:nvCxnSpPr>
        <p:spPr>
          <a:xfrm>
            <a:off x="3346055" y="2419079"/>
            <a:ext cx="579682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4892454" y="1790406"/>
            <a:ext cx="2029402" cy="1422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en-US" altLang="zh-CN" sz="2400" b="1" dirty="0" err="1">
                <a:latin typeface="Courier New" panose="02070309020205020404" pitchFamily="49" charset="0"/>
                <a:ea typeface="宋体" panose="02010600030101010101" pitchFamily="2" charset="-122"/>
              </a:rPr>
              <a:t>dfs</a:t>
            </a:r>
            <a:r>
              <a:rPr kumimoji="0"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(B)</a:t>
            </a:r>
            <a:endParaRPr lang="en-US" altLang="zh-CN" sz="2400" b="1" dirty="0"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Courier New" panose="02070309020205020404" pitchFamily="49" charset="0"/>
              </a:rPr>
              <a:t>  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dfs</a:t>
            </a:r>
            <a:r>
              <a:rPr lang="en-US" altLang="zh-CN" sz="2400" b="1" dirty="0">
                <a:latin typeface="Courier New" panose="02070309020205020404" pitchFamily="49" charset="0"/>
              </a:rPr>
              <a:t>(C)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Courier New" panose="02070309020205020404" pitchFamily="49" charset="0"/>
              </a:rPr>
              <a:t>    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dfs</a:t>
            </a:r>
            <a:r>
              <a:rPr lang="en-US" altLang="zh-CN" sz="2400" b="1" dirty="0">
                <a:latin typeface="Courier New" panose="02070309020205020404" pitchFamily="49" charset="0"/>
              </a:rPr>
              <a:t>(F)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38" y="5013176"/>
            <a:ext cx="1939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Output List: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06360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DFS-based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5" name="Oval 4"/>
          <p:cNvSpPr/>
          <p:nvPr/>
        </p:nvSpPr>
        <p:spPr>
          <a:xfrm>
            <a:off x="755576" y="263691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6" name="Oval 5"/>
          <p:cNvSpPr/>
          <p:nvPr/>
        </p:nvSpPr>
        <p:spPr>
          <a:xfrm>
            <a:off x="1619672" y="1988840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B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619672" y="3284984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/>
          <p:cNvSpPr/>
          <p:nvPr/>
        </p:nvSpPr>
        <p:spPr>
          <a:xfrm>
            <a:off x="2915816" y="1988840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C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915816" y="3284984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10" name="Oval 9"/>
          <p:cNvSpPr/>
          <p:nvPr/>
        </p:nvSpPr>
        <p:spPr>
          <a:xfrm>
            <a:off x="3851920" y="2636912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1" name="Straight Arrow Connector 10"/>
          <p:cNvCxnSpPr>
            <a:stCxn id="5" idx="7"/>
            <a:endCxn id="6" idx="3"/>
          </p:cNvCxnSpPr>
          <p:nvPr/>
        </p:nvCxnSpPr>
        <p:spPr>
          <a:xfrm flipV="1">
            <a:off x="1185815" y="2419079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6"/>
            <a:endCxn id="8" idx="2"/>
          </p:cNvCxnSpPr>
          <p:nvPr/>
        </p:nvCxnSpPr>
        <p:spPr>
          <a:xfrm>
            <a:off x="2123728" y="224086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6"/>
            <a:endCxn id="9" idx="2"/>
          </p:cNvCxnSpPr>
          <p:nvPr/>
        </p:nvCxnSpPr>
        <p:spPr>
          <a:xfrm>
            <a:off x="2123728" y="3537012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7" idx="1"/>
          </p:cNvCxnSpPr>
          <p:nvPr/>
        </p:nvCxnSpPr>
        <p:spPr>
          <a:xfrm>
            <a:off x="1185815" y="3067151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7" idx="7"/>
          </p:cNvCxnSpPr>
          <p:nvPr/>
        </p:nvCxnSpPr>
        <p:spPr>
          <a:xfrm flipH="1">
            <a:off x="2049911" y="2419079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4"/>
            <a:endCxn id="9" idx="0"/>
          </p:cNvCxnSpPr>
          <p:nvPr/>
        </p:nvCxnSpPr>
        <p:spPr>
          <a:xfrm>
            <a:off x="3167844" y="2492896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4"/>
            <a:endCxn id="7" idx="0"/>
          </p:cNvCxnSpPr>
          <p:nvPr/>
        </p:nvCxnSpPr>
        <p:spPr>
          <a:xfrm>
            <a:off x="1871700" y="2492896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5"/>
            <a:endCxn id="10" idx="1"/>
          </p:cNvCxnSpPr>
          <p:nvPr/>
        </p:nvCxnSpPr>
        <p:spPr>
          <a:xfrm>
            <a:off x="3346055" y="2419079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4892454" y="1790406"/>
            <a:ext cx="1660711" cy="979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en-US" altLang="zh-CN" sz="2400" b="1" dirty="0" err="1">
                <a:latin typeface="Courier New" panose="02070309020205020404" pitchFamily="49" charset="0"/>
                <a:ea typeface="宋体" panose="02010600030101010101" pitchFamily="2" charset="-122"/>
              </a:rPr>
              <a:t>dfs</a:t>
            </a:r>
            <a:r>
              <a:rPr kumimoji="0"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(B)</a:t>
            </a:r>
            <a:endParaRPr lang="en-US" altLang="zh-CN" sz="2400" b="1" dirty="0"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Courier New" panose="02070309020205020404" pitchFamily="49" charset="0"/>
              </a:rPr>
              <a:t>  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dfs</a:t>
            </a:r>
            <a:r>
              <a:rPr lang="en-US" altLang="zh-CN" sz="2400" b="1" dirty="0">
                <a:latin typeface="Courier New" panose="02070309020205020404" pitchFamily="49" charset="0"/>
              </a:rPr>
              <a:t>(C)</a:t>
            </a:r>
          </a:p>
        </p:txBody>
      </p:sp>
      <p:sp>
        <p:nvSpPr>
          <p:cNvPr id="19" name="AutoShape 5"/>
          <p:cNvSpPr>
            <a:spLocks noChangeArrowheads="1"/>
          </p:cNvSpPr>
          <p:nvPr/>
        </p:nvSpPr>
        <p:spPr bwMode="auto">
          <a:xfrm>
            <a:off x="2339752" y="1369145"/>
            <a:ext cx="3680048" cy="340519"/>
          </a:xfrm>
          <a:prstGeom prst="wedgeRoundRectCallout">
            <a:avLst>
              <a:gd name="adj1" fmla="val -1649"/>
              <a:gd name="adj2" fmla="val 321780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DFS starting from F is finished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9338" y="5013176"/>
            <a:ext cx="1939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Output List:</a:t>
            </a:r>
            <a:endParaRPr lang="zh-CN" altLang="en-US" sz="2800" b="1" dirty="0"/>
          </a:p>
        </p:txBody>
      </p:sp>
      <p:sp>
        <p:nvSpPr>
          <p:cNvPr id="21" name="Oval 20"/>
          <p:cNvSpPr/>
          <p:nvPr/>
        </p:nvSpPr>
        <p:spPr>
          <a:xfrm>
            <a:off x="2872172" y="502275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F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87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DFS-based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5" name="Oval 4"/>
          <p:cNvSpPr/>
          <p:nvPr/>
        </p:nvSpPr>
        <p:spPr>
          <a:xfrm>
            <a:off x="755576" y="263691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6" name="Oval 5"/>
          <p:cNvSpPr/>
          <p:nvPr/>
        </p:nvSpPr>
        <p:spPr>
          <a:xfrm>
            <a:off x="1619672" y="1988840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B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619672" y="3284984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/>
          <p:cNvSpPr/>
          <p:nvPr/>
        </p:nvSpPr>
        <p:spPr>
          <a:xfrm>
            <a:off x="2915816" y="1988840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C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915816" y="3284984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851920" y="2636912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1" name="Straight Arrow Connector 10"/>
          <p:cNvCxnSpPr>
            <a:stCxn id="5" idx="7"/>
            <a:endCxn id="6" idx="3"/>
          </p:cNvCxnSpPr>
          <p:nvPr/>
        </p:nvCxnSpPr>
        <p:spPr>
          <a:xfrm flipV="1">
            <a:off x="1185815" y="2419079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6"/>
            <a:endCxn id="8" idx="2"/>
          </p:cNvCxnSpPr>
          <p:nvPr/>
        </p:nvCxnSpPr>
        <p:spPr>
          <a:xfrm>
            <a:off x="2123728" y="224086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6"/>
            <a:endCxn id="9" idx="2"/>
          </p:cNvCxnSpPr>
          <p:nvPr/>
        </p:nvCxnSpPr>
        <p:spPr>
          <a:xfrm>
            <a:off x="2123728" y="3537012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7" idx="1"/>
          </p:cNvCxnSpPr>
          <p:nvPr/>
        </p:nvCxnSpPr>
        <p:spPr>
          <a:xfrm>
            <a:off x="1185815" y="3067151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7" idx="7"/>
          </p:cNvCxnSpPr>
          <p:nvPr/>
        </p:nvCxnSpPr>
        <p:spPr>
          <a:xfrm flipH="1">
            <a:off x="2049911" y="2419079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4"/>
            <a:endCxn id="9" idx="0"/>
          </p:cNvCxnSpPr>
          <p:nvPr/>
        </p:nvCxnSpPr>
        <p:spPr>
          <a:xfrm>
            <a:off x="3167844" y="2492896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4"/>
            <a:endCxn id="7" idx="0"/>
          </p:cNvCxnSpPr>
          <p:nvPr/>
        </p:nvCxnSpPr>
        <p:spPr>
          <a:xfrm>
            <a:off x="1871700" y="2492896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5"/>
            <a:endCxn id="10" idx="1"/>
          </p:cNvCxnSpPr>
          <p:nvPr/>
        </p:nvCxnSpPr>
        <p:spPr>
          <a:xfrm>
            <a:off x="3346055" y="2419079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4892454" y="1790406"/>
            <a:ext cx="2029402" cy="1422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en-US" altLang="zh-CN" sz="2400" b="1" dirty="0" err="1">
                <a:latin typeface="Courier New" panose="02070309020205020404" pitchFamily="49" charset="0"/>
                <a:ea typeface="宋体" panose="02010600030101010101" pitchFamily="2" charset="-122"/>
              </a:rPr>
              <a:t>dfs</a:t>
            </a:r>
            <a:r>
              <a:rPr kumimoji="0"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(B)</a:t>
            </a:r>
            <a:endParaRPr lang="en-US" altLang="zh-CN" sz="2400" b="1" dirty="0"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Courier New" panose="02070309020205020404" pitchFamily="49" charset="0"/>
              </a:rPr>
              <a:t>  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dfs</a:t>
            </a:r>
            <a:r>
              <a:rPr lang="en-US" altLang="zh-CN" sz="2400" b="1" dirty="0">
                <a:latin typeface="Courier New" panose="02070309020205020404" pitchFamily="49" charset="0"/>
              </a:rPr>
              <a:t>(C)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Courier New" panose="02070309020205020404" pitchFamily="49" charset="0"/>
              </a:rPr>
              <a:t>    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dfs</a:t>
            </a:r>
            <a:r>
              <a:rPr lang="en-US" altLang="zh-CN" sz="2400" b="1" dirty="0">
                <a:latin typeface="Courier New" panose="02070309020205020404" pitchFamily="49" charset="0"/>
              </a:rPr>
              <a:t>(E)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9338" y="5013176"/>
            <a:ext cx="1939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Output List:</a:t>
            </a:r>
            <a:endParaRPr lang="zh-CN" altLang="en-US" sz="2800" b="1" dirty="0"/>
          </a:p>
        </p:txBody>
      </p:sp>
      <p:sp>
        <p:nvSpPr>
          <p:cNvPr id="21" name="Oval 20"/>
          <p:cNvSpPr/>
          <p:nvPr/>
        </p:nvSpPr>
        <p:spPr>
          <a:xfrm>
            <a:off x="2872172" y="502275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809064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DFS-based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5" name="Oval 4"/>
          <p:cNvSpPr/>
          <p:nvPr/>
        </p:nvSpPr>
        <p:spPr>
          <a:xfrm>
            <a:off x="755576" y="263691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6" name="Oval 5"/>
          <p:cNvSpPr/>
          <p:nvPr/>
        </p:nvSpPr>
        <p:spPr>
          <a:xfrm>
            <a:off x="1619672" y="1988840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B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619672" y="3284984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8" name="Oval 7"/>
          <p:cNvSpPr/>
          <p:nvPr/>
        </p:nvSpPr>
        <p:spPr>
          <a:xfrm>
            <a:off x="2915816" y="1988840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C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915816" y="3284984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851920" y="2636912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1" name="Straight Arrow Connector 10"/>
          <p:cNvCxnSpPr>
            <a:stCxn id="5" idx="7"/>
            <a:endCxn id="6" idx="3"/>
          </p:cNvCxnSpPr>
          <p:nvPr/>
        </p:nvCxnSpPr>
        <p:spPr>
          <a:xfrm flipV="1">
            <a:off x="1185815" y="2419079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6"/>
            <a:endCxn id="8" idx="2"/>
          </p:cNvCxnSpPr>
          <p:nvPr/>
        </p:nvCxnSpPr>
        <p:spPr>
          <a:xfrm>
            <a:off x="2123728" y="224086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6"/>
            <a:endCxn id="9" idx="2"/>
          </p:cNvCxnSpPr>
          <p:nvPr/>
        </p:nvCxnSpPr>
        <p:spPr>
          <a:xfrm>
            <a:off x="2123728" y="3537012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5"/>
            <a:endCxn id="7" idx="1"/>
          </p:cNvCxnSpPr>
          <p:nvPr/>
        </p:nvCxnSpPr>
        <p:spPr>
          <a:xfrm>
            <a:off x="1185815" y="3067151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3"/>
            <a:endCxn id="7" idx="7"/>
          </p:cNvCxnSpPr>
          <p:nvPr/>
        </p:nvCxnSpPr>
        <p:spPr>
          <a:xfrm flipH="1">
            <a:off x="2049911" y="2419079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4"/>
            <a:endCxn id="9" idx="0"/>
          </p:cNvCxnSpPr>
          <p:nvPr/>
        </p:nvCxnSpPr>
        <p:spPr>
          <a:xfrm>
            <a:off x="3167844" y="2492896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4"/>
            <a:endCxn id="7" idx="0"/>
          </p:cNvCxnSpPr>
          <p:nvPr/>
        </p:nvCxnSpPr>
        <p:spPr>
          <a:xfrm>
            <a:off x="1871700" y="2492896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5"/>
            <a:endCxn id="10" idx="1"/>
          </p:cNvCxnSpPr>
          <p:nvPr/>
        </p:nvCxnSpPr>
        <p:spPr>
          <a:xfrm>
            <a:off x="3346055" y="2419079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4892454" y="1790406"/>
            <a:ext cx="1660711" cy="979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en-US" altLang="zh-CN" sz="2400" b="1" dirty="0" err="1">
                <a:latin typeface="Courier New" panose="02070309020205020404" pitchFamily="49" charset="0"/>
                <a:ea typeface="宋体" panose="02010600030101010101" pitchFamily="2" charset="-122"/>
              </a:rPr>
              <a:t>dfs</a:t>
            </a:r>
            <a:r>
              <a:rPr kumimoji="0"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(B)</a:t>
            </a:r>
            <a:endParaRPr lang="en-US" altLang="zh-CN" sz="2400" b="1" dirty="0"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Courier New" panose="02070309020205020404" pitchFamily="49" charset="0"/>
              </a:rPr>
              <a:t>  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dfs</a:t>
            </a:r>
            <a:r>
              <a:rPr lang="en-US" altLang="zh-CN" sz="2400" b="1" dirty="0">
                <a:latin typeface="Courier New" panose="02070309020205020404" pitchFamily="49" charset="0"/>
              </a:rPr>
              <a:t>(C)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9338" y="5013176"/>
            <a:ext cx="1939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Output List:</a:t>
            </a:r>
            <a:endParaRPr lang="zh-CN" altLang="en-US" sz="2800" b="1" dirty="0"/>
          </a:p>
        </p:txBody>
      </p:sp>
      <p:sp>
        <p:nvSpPr>
          <p:cNvPr id="21" name="Oval 20"/>
          <p:cNvSpPr/>
          <p:nvPr/>
        </p:nvSpPr>
        <p:spPr>
          <a:xfrm>
            <a:off x="2872172" y="502275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2" name="AutoShape 5"/>
          <p:cNvSpPr>
            <a:spLocks noChangeArrowheads="1"/>
          </p:cNvSpPr>
          <p:nvPr/>
        </p:nvSpPr>
        <p:spPr bwMode="auto">
          <a:xfrm>
            <a:off x="3849349" y="3977900"/>
            <a:ext cx="3680048" cy="340519"/>
          </a:xfrm>
          <a:prstGeom prst="wedgeRoundRectCallout">
            <a:avLst>
              <a:gd name="adj1" fmla="val -60745"/>
              <a:gd name="adj2" fmla="val -178995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DFS starting from E is finished</a:t>
            </a:r>
          </a:p>
        </p:txBody>
      </p:sp>
      <p:sp>
        <p:nvSpPr>
          <p:cNvPr id="23" name="Oval 22"/>
          <p:cNvSpPr/>
          <p:nvPr/>
        </p:nvSpPr>
        <p:spPr>
          <a:xfrm>
            <a:off x="3479941" y="5018963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49017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DFS-based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4892454" y="1790406"/>
            <a:ext cx="2215350" cy="1422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en-US" altLang="zh-CN" sz="2400" b="1" dirty="0" err="1">
                <a:latin typeface="Courier New" panose="02070309020205020404" pitchFamily="49" charset="0"/>
                <a:ea typeface="宋体" panose="02010600030101010101" pitchFamily="2" charset="-122"/>
              </a:rPr>
              <a:t>dfs</a:t>
            </a:r>
            <a:r>
              <a:rPr kumimoji="0"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(B)</a:t>
            </a:r>
            <a:endParaRPr lang="en-US" altLang="zh-CN" sz="2400" b="1" dirty="0"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Courier New" panose="02070309020205020404" pitchFamily="49" charset="0"/>
              </a:rPr>
              <a:t>  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dfs</a:t>
            </a:r>
            <a:r>
              <a:rPr lang="en-US" altLang="zh-CN" sz="2400" b="1" dirty="0">
                <a:latin typeface="Courier New" panose="02070309020205020404" pitchFamily="49" charset="0"/>
              </a:rPr>
              <a:t>(C)</a:t>
            </a: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Courier New" panose="02070309020205020404" pitchFamily="49" charset="0"/>
              </a:rPr>
              <a:t>  	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dfs</a:t>
            </a:r>
            <a:r>
              <a:rPr lang="en-US" altLang="zh-CN" sz="2400" b="1" dirty="0">
                <a:latin typeface="Courier New" panose="02070309020205020404" pitchFamily="49" charset="0"/>
              </a:rPr>
              <a:t>(D)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9338" y="5013176"/>
            <a:ext cx="1939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Output List:</a:t>
            </a:r>
            <a:endParaRPr lang="zh-CN" altLang="en-US" sz="2800" b="1" dirty="0"/>
          </a:p>
        </p:txBody>
      </p:sp>
      <p:sp>
        <p:nvSpPr>
          <p:cNvPr id="21" name="Oval 20"/>
          <p:cNvSpPr/>
          <p:nvPr/>
        </p:nvSpPr>
        <p:spPr>
          <a:xfrm>
            <a:off x="2872172" y="502275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23" name="Oval 22"/>
          <p:cNvSpPr/>
          <p:nvPr/>
        </p:nvSpPr>
        <p:spPr>
          <a:xfrm>
            <a:off x="3479941" y="5018963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sp>
        <p:nvSpPr>
          <p:cNvPr id="25" name="Oval 24"/>
          <p:cNvSpPr/>
          <p:nvPr/>
        </p:nvSpPr>
        <p:spPr>
          <a:xfrm>
            <a:off x="755576" y="263691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26" name="Oval 25"/>
          <p:cNvSpPr/>
          <p:nvPr/>
        </p:nvSpPr>
        <p:spPr>
          <a:xfrm>
            <a:off x="1619672" y="1988840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B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1619672" y="3284984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D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2915816" y="1988840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C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2915816" y="3284984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3851920" y="2636912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1" name="Straight Arrow Connector 30"/>
          <p:cNvCxnSpPr>
            <a:stCxn id="25" idx="7"/>
            <a:endCxn id="26" idx="3"/>
          </p:cNvCxnSpPr>
          <p:nvPr/>
        </p:nvCxnSpPr>
        <p:spPr>
          <a:xfrm flipV="1">
            <a:off x="1185815" y="2419079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6" idx="6"/>
            <a:endCxn id="28" idx="2"/>
          </p:cNvCxnSpPr>
          <p:nvPr/>
        </p:nvCxnSpPr>
        <p:spPr>
          <a:xfrm>
            <a:off x="2123728" y="224086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7" idx="6"/>
            <a:endCxn id="29" idx="2"/>
          </p:cNvCxnSpPr>
          <p:nvPr/>
        </p:nvCxnSpPr>
        <p:spPr>
          <a:xfrm>
            <a:off x="2123728" y="3537012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5" idx="5"/>
            <a:endCxn id="27" idx="1"/>
          </p:cNvCxnSpPr>
          <p:nvPr/>
        </p:nvCxnSpPr>
        <p:spPr>
          <a:xfrm>
            <a:off x="1185815" y="3067151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8" idx="3"/>
            <a:endCxn id="27" idx="7"/>
          </p:cNvCxnSpPr>
          <p:nvPr/>
        </p:nvCxnSpPr>
        <p:spPr>
          <a:xfrm flipH="1">
            <a:off x="2049911" y="2419079"/>
            <a:ext cx="939722" cy="9397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8" idx="4"/>
            <a:endCxn id="29" idx="0"/>
          </p:cNvCxnSpPr>
          <p:nvPr/>
        </p:nvCxnSpPr>
        <p:spPr>
          <a:xfrm>
            <a:off x="3167844" y="2492896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6" idx="4"/>
            <a:endCxn id="27" idx="0"/>
          </p:cNvCxnSpPr>
          <p:nvPr/>
        </p:nvCxnSpPr>
        <p:spPr>
          <a:xfrm>
            <a:off x="1871700" y="2492896"/>
            <a:ext cx="0" cy="7920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8" idx="5"/>
            <a:endCxn id="30" idx="1"/>
          </p:cNvCxnSpPr>
          <p:nvPr/>
        </p:nvCxnSpPr>
        <p:spPr>
          <a:xfrm>
            <a:off x="3346055" y="2419079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61007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DFS-based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4892454" y="1790406"/>
            <a:ext cx="1660711" cy="979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en-US" altLang="zh-CN" sz="2400" b="1" dirty="0" err="1">
                <a:latin typeface="Courier New" panose="02070309020205020404" pitchFamily="49" charset="0"/>
                <a:ea typeface="宋体" panose="02010600030101010101" pitchFamily="2" charset="-122"/>
              </a:rPr>
              <a:t>dfs</a:t>
            </a:r>
            <a:r>
              <a:rPr kumimoji="0"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(B)</a:t>
            </a:r>
            <a:endParaRPr lang="en-US" altLang="zh-CN" sz="2400" b="1" dirty="0"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Courier New" panose="02070309020205020404" pitchFamily="49" charset="0"/>
              </a:rPr>
              <a:t>  </a:t>
            </a:r>
            <a:r>
              <a:rPr lang="en-US" altLang="zh-CN" sz="2400" b="1" dirty="0" err="1">
                <a:latin typeface="Courier New" panose="02070309020205020404" pitchFamily="49" charset="0"/>
              </a:rPr>
              <a:t>dfs</a:t>
            </a:r>
            <a:r>
              <a:rPr lang="en-US" altLang="zh-CN" sz="2400" b="1" dirty="0">
                <a:latin typeface="Courier New" panose="02070309020205020404" pitchFamily="49" charset="0"/>
              </a:rPr>
              <a:t>(C)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9338" y="5013176"/>
            <a:ext cx="1939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Output List:</a:t>
            </a:r>
            <a:endParaRPr lang="zh-CN" altLang="en-US" sz="2800" b="1" dirty="0"/>
          </a:p>
        </p:txBody>
      </p:sp>
      <p:sp>
        <p:nvSpPr>
          <p:cNvPr id="21" name="Oval 20"/>
          <p:cNvSpPr/>
          <p:nvPr/>
        </p:nvSpPr>
        <p:spPr>
          <a:xfrm>
            <a:off x="2872172" y="502275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D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3479941" y="5018963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25" name="Oval 24"/>
          <p:cNvSpPr/>
          <p:nvPr/>
        </p:nvSpPr>
        <p:spPr>
          <a:xfrm>
            <a:off x="4087710" y="502275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sp>
        <p:nvSpPr>
          <p:cNvPr id="26" name="AutoShape 5"/>
          <p:cNvSpPr>
            <a:spLocks noChangeArrowheads="1"/>
          </p:cNvSpPr>
          <p:nvPr/>
        </p:nvSpPr>
        <p:spPr bwMode="auto">
          <a:xfrm>
            <a:off x="420397" y="4333998"/>
            <a:ext cx="3680048" cy="340519"/>
          </a:xfrm>
          <a:prstGeom prst="wedgeRoundRectCallout">
            <a:avLst>
              <a:gd name="adj1" fmla="val -10714"/>
              <a:gd name="adj2" fmla="val -215283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DFS starting from D is finished</a:t>
            </a:r>
          </a:p>
        </p:txBody>
      </p:sp>
      <p:sp>
        <p:nvSpPr>
          <p:cNvPr id="27" name="Oval 26"/>
          <p:cNvSpPr/>
          <p:nvPr/>
        </p:nvSpPr>
        <p:spPr>
          <a:xfrm>
            <a:off x="755576" y="263691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28" name="Oval 27"/>
          <p:cNvSpPr/>
          <p:nvPr/>
        </p:nvSpPr>
        <p:spPr>
          <a:xfrm>
            <a:off x="1619672" y="1988840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B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19672" y="3284984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D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915816" y="1988840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C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915816" y="3284984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3851920" y="2636912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3" name="Straight Arrow Connector 32"/>
          <p:cNvCxnSpPr>
            <a:stCxn id="27" idx="7"/>
            <a:endCxn id="28" idx="3"/>
          </p:cNvCxnSpPr>
          <p:nvPr/>
        </p:nvCxnSpPr>
        <p:spPr>
          <a:xfrm flipV="1">
            <a:off x="1185815" y="2419079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8" idx="6"/>
            <a:endCxn id="30" idx="2"/>
          </p:cNvCxnSpPr>
          <p:nvPr/>
        </p:nvCxnSpPr>
        <p:spPr>
          <a:xfrm>
            <a:off x="2123728" y="2240868"/>
            <a:ext cx="7920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9" idx="6"/>
            <a:endCxn id="31" idx="2"/>
          </p:cNvCxnSpPr>
          <p:nvPr/>
        </p:nvCxnSpPr>
        <p:spPr>
          <a:xfrm>
            <a:off x="2123728" y="3537012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7" idx="5"/>
            <a:endCxn id="29" idx="1"/>
          </p:cNvCxnSpPr>
          <p:nvPr/>
        </p:nvCxnSpPr>
        <p:spPr>
          <a:xfrm>
            <a:off x="1185815" y="3067151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3"/>
            <a:endCxn id="29" idx="7"/>
          </p:cNvCxnSpPr>
          <p:nvPr/>
        </p:nvCxnSpPr>
        <p:spPr>
          <a:xfrm flipH="1">
            <a:off x="2049911" y="2419079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0" idx="4"/>
            <a:endCxn id="31" idx="0"/>
          </p:cNvCxnSpPr>
          <p:nvPr/>
        </p:nvCxnSpPr>
        <p:spPr>
          <a:xfrm>
            <a:off x="3167844" y="2492896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8" idx="4"/>
            <a:endCxn id="29" idx="0"/>
          </p:cNvCxnSpPr>
          <p:nvPr/>
        </p:nvCxnSpPr>
        <p:spPr>
          <a:xfrm>
            <a:off x="1871700" y="2492896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0" idx="5"/>
            <a:endCxn id="32" idx="1"/>
          </p:cNvCxnSpPr>
          <p:nvPr/>
        </p:nvCxnSpPr>
        <p:spPr>
          <a:xfrm>
            <a:off x="3346055" y="2419079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31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DFS-based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4892454" y="1790406"/>
            <a:ext cx="1292020" cy="517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en-US" altLang="zh-CN" sz="2400" b="1" dirty="0" err="1">
                <a:latin typeface="Courier New" panose="02070309020205020404" pitchFamily="49" charset="0"/>
                <a:ea typeface="宋体" panose="02010600030101010101" pitchFamily="2" charset="-122"/>
              </a:rPr>
              <a:t>dfs</a:t>
            </a:r>
            <a:r>
              <a:rPr kumimoji="0" lang="en-US" altLang="zh-CN" sz="2400" b="1" dirty="0">
                <a:latin typeface="Courier New" panose="02070309020205020404" pitchFamily="49" charset="0"/>
                <a:ea typeface="宋体" panose="02010600030101010101" pitchFamily="2" charset="-122"/>
              </a:rPr>
              <a:t>(B)</a:t>
            </a:r>
            <a:endParaRPr lang="en-US" altLang="zh-CN" sz="2400" b="1" dirty="0">
              <a:latin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9338" y="5013176"/>
            <a:ext cx="1939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Output List:</a:t>
            </a:r>
            <a:endParaRPr lang="zh-CN" altLang="en-US" sz="2800" b="1" dirty="0"/>
          </a:p>
        </p:txBody>
      </p:sp>
      <p:sp>
        <p:nvSpPr>
          <p:cNvPr id="21" name="Oval 20"/>
          <p:cNvSpPr/>
          <p:nvPr/>
        </p:nvSpPr>
        <p:spPr>
          <a:xfrm>
            <a:off x="2872172" y="502275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3479941" y="5018963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25" name="Oval 24"/>
          <p:cNvSpPr/>
          <p:nvPr/>
        </p:nvSpPr>
        <p:spPr>
          <a:xfrm>
            <a:off x="4082433" y="5018963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26" name="AutoShape 5"/>
          <p:cNvSpPr>
            <a:spLocks noChangeArrowheads="1"/>
          </p:cNvSpPr>
          <p:nvPr/>
        </p:nvSpPr>
        <p:spPr bwMode="auto">
          <a:xfrm>
            <a:off x="1902509" y="1271676"/>
            <a:ext cx="3680048" cy="340519"/>
          </a:xfrm>
          <a:prstGeom prst="wedgeRoundRectCallout">
            <a:avLst>
              <a:gd name="adj1" fmla="val -15415"/>
              <a:gd name="adj2" fmla="val 162112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DFS starting from C is finished</a:t>
            </a:r>
          </a:p>
        </p:txBody>
      </p:sp>
      <p:sp>
        <p:nvSpPr>
          <p:cNvPr id="27" name="Oval 26"/>
          <p:cNvSpPr/>
          <p:nvPr/>
        </p:nvSpPr>
        <p:spPr>
          <a:xfrm>
            <a:off x="4695479" y="5022521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sp>
        <p:nvSpPr>
          <p:cNvPr id="28" name="Oval 27"/>
          <p:cNvSpPr/>
          <p:nvPr/>
        </p:nvSpPr>
        <p:spPr>
          <a:xfrm>
            <a:off x="755576" y="263691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29" name="Oval 28"/>
          <p:cNvSpPr/>
          <p:nvPr/>
        </p:nvSpPr>
        <p:spPr>
          <a:xfrm>
            <a:off x="1619672" y="1988840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B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1619672" y="3284984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D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915816" y="1988840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C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915816" y="3284984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3851920" y="2636912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4" name="Straight Arrow Connector 33"/>
          <p:cNvCxnSpPr>
            <a:stCxn id="28" idx="7"/>
            <a:endCxn id="29" idx="3"/>
          </p:cNvCxnSpPr>
          <p:nvPr/>
        </p:nvCxnSpPr>
        <p:spPr>
          <a:xfrm flipV="1">
            <a:off x="1185815" y="2419079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9" idx="6"/>
            <a:endCxn id="31" idx="2"/>
          </p:cNvCxnSpPr>
          <p:nvPr/>
        </p:nvCxnSpPr>
        <p:spPr>
          <a:xfrm>
            <a:off x="2123728" y="224086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0" idx="6"/>
            <a:endCxn id="32" idx="2"/>
          </p:cNvCxnSpPr>
          <p:nvPr/>
        </p:nvCxnSpPr>
        <p:spPr>
          <a:xfrm>
            <a:off x="2123728" y="3537012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8" idx="5"/>
            <a:endCxn id="30" idx="1"/>
          </p:cNvCxnSpPr>
          <p:nvPr/>
        </p:nvCxnSpPr>
        <p:spPr>
          <a:xfrm>
            <a:off x="1185815" y="3067151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1" idx="3"/>
            <a:endCxn id="30" idx="7"/>
          </p:cNvCxnSpPr>
          <p:nvPr/>
        </p:nvCxnSpPr>
        <p:spPr>
          <a:xfrm flipH="1">
            <a:off x="2049911" y="2419079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1" idx="4"/>
            <a:endCxn id="32" idx="0"/>
          </p:cNvCxnSpPr>
          <p:nvPr/>
        </p:nvCxnSpPr>
        <p:spPr>
          <a:xfrm>
            <a:off x="3167844" y="2492896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9" idx="4"/>
            <a:endCxn id="30" idx="0"/>
          </p:cNvCxnSpPr>
          <p:nvPr/>
        </p:nvCxnSpPr>
        <p:spPr>
          <a:xfrm>
            <a:off x="1871700" y="2492896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1" idx="5"/>
            <a:endCxn id="33" idx="1"/>
          </p:cNvCxnSpPr>
          <p:nvPr/>
        </p:nvCxnSpPr>
        <p:spPr>
          <a:xfrm>
            <a:off x="3346055" y="2419079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91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DFS-based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29338" y="5013176"/>
            <a:ext cx="1939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Output List:</a:t>
            </a:r>
            <a:endParaRPr lang="zh-CN" altLang="en-US" sz="2800" b="1" dirty="0"/>
          </a:p>
        </p:txBody>
      </p:sp>
      <p:sp>
        <p:nvSpPr>
          <p:cNvPr id="21" name="Oval 20"/>
          <p:cNvSpPr/>
          <p:nvPr/>
        </p:nvSpPr>
        <p:spPr>
          <a:xfrm>
            <a:off x="2872172" y="502275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B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3479941" y="5018963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25" name="Oval 24"/>
          <p:cNvSpPr/>
          <p:nvPr/>
        </p:nvSpPr>
        <p:spPr>
          <a:xfrm>
            <a:off x="4082433" y="5018963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27" name="Oval 26"/>
          <p:cNvSpPr/>
          <p:nvPr/>
        </p:nvSpPr>
        <p:spPr>
          <a:xfrm>
            <a:off x="4695479" y="5022521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28" name="Oval 27"/>
          <p:cNvSpPr/>
          <p:nvPr/>
        </p:nvSpPr>
        <p:spPr>
          <a:xfrm>
            <a:off x="755576" y="2636912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29" name="Oval 28"/>
          <p:cNvSpPr/>
          <p:nvPr/>
        </p:nvSpPr>
        <p:spPr>
          <a:xfrm>
            <a:off x="1619672" y="1988840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B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1619672" y="3284984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D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915816" y="1988840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C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915816" y="3284984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3851920" y="2636912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4" name="Straight Arrow Connector 33"/>
          <p:cNvCxnSpPr>
            <a:stCxn id="28" idx="7"/>
            <a:endCxn id="29" idx="3"/>
          </p:cNvCxnSpPr>
          <p:nvPr/>
        </p:nvCxnSpPr>
        <p:spPr>
          <a:xfrm flipV="1">
            <a:off x="1185815" y="2419079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9" idx="6"/>
            <a:endCxn id="31" idx="2"/>
          </p:cNvCxnSpPr>
          <p:nvPr/>
        </p:nvCxnSpPr>
        <p:spPr>
          <a:xfrm>
            <a:off x="2123728" y="224086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0" idx="6"/>
            <a:endCxn id="32" idx="2"/>
          </p:cNvCxnSpPr>
          <p:nvPr/>
        </p:nvCxnSpPr>
        <p:spPr>
          <a:xfrm>
            <a:off x="2123728" y="3537012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8" idx="5"/>
            <a:endCxn id="30" idx="1"/>
          </p:cNvCxnSpPr>
          <p:nvPr/>
        </p:nvCxnSpPr>
        <p:spPr>
          <a:xfrm>
            <a:off x="1185815" y="3067151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1" idx="3"/>
            <a:endCxn id="30" idx="7"/>
          </p:cNvCxnSpPr>
          <p:nvPr/>
        </p:nvCxnSpPr>
        <p:spPr>
          <a:xfrm flipH="1">
            <a:off x="2049911" y="2419079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1" idx="4"/>
            <a:endCxn id="32" idx="0"/>
          </p:cNvCxnSpPr>
          <p:nvPr/>
        </p:nvCxnSpPr>
        <p:spPr>
          <a:xfrm>
            <a:off x="3167844" y="2492896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9" idx="4"/>
            <a:endCxn id="30" idx="0"/>
          </p:cNvCxnSpPr>
          <p:nvPr/>
        </p:nvCxnSpPr>
        <p:spPr>
          <a:xfrm>
            <a:off x="1871700" y="2492896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1" idx="5"/>
            <a:endCxn id="33" idx="1"/>
          </p:cNvCxnSpPr>
          <p:nvPr/>
        </p:nvCxnSpPr>
        <p:spPr>
          <a:xfrm>
            <a:off x="3346055" y="2419079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297971" y="501317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sp>
        <p:nvSpPr>
          <p:cNvPr id="43" name="AutoShape 5"/>
          <p:cNvSpPr>
            <a:spLocks noChangeArrowheads="1"/>
          </p:cNvSpPr>
          <p:nvPr/>
        </p:nvSpPr>
        <p:spPr bwMode="auto">
          <a:xfrm>
            <a:off x="654413" y="1271891"/>
            <a:ext cx="3680048" cy="340519"/>
          </a:xfrm>
          <a:prstGeom prst="wedgeRoundRectCallout">
            <a:avLst>
              <a:gd name="adj1" fmla="val -15415"/>
              <a:gd name="adj2" fmla="val 162112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DFS starting from B is finished</a:t>
            </a:r>
          </a:p>
        </p:txBody>
      </p:sp>
    </p:spTree>
    <p:extLst>
      <p:ext uri="{BB962C8B-B14F-4D97-AF65-F5344CB8AC3E}">
        <p14:creationId xmlns:p14="http://schemas.microsoft.com/office/powerpoint/2010/main" val="170883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DFS-based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29338" y="5013176"/>
            <a:ext cx="1939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Output List:</a:t>
            </a:r>
            <a:endParaRPr lang="zh-CN" altLang="en-US" sz="2800" b="1" dirty="0"/>
          </a:p>
        </p:txBody>
      </p:sp>
      <p:sp>
        <p:nvSpPr>
          <p:cNvPr id="21" name="Oval 20"/>
          <p:cNvSpPr/>
          <p:nvPr/>
        </p:nvSpPr>
        <p:spPr>
          <a:xfrm>
            <a:off x="2872172" y="5022758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23" name="Oval 22"/>
          <p:cNvSpPr/>
          <p:nvPr/>
        </p:nvSpPr>
        <p:spPr>
          <a:xfrm>
            <a:off x="3479941" y="5018963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25" name="Oval 24"/>
          <p:cNvSpPr/>
          <p:nvPr/>
        </p:nvSpPr>
        <p:spPr>
          <a:xfrm>
            <a:off x="4082433" y="5018963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27" name="Oval 26"/>
          <p:cNvSpPr/>
          <p:nvPr/>
        </p:nvSpPr>
        <p:spPr>
          <a:xfrm>
            <a:off x="4695479" y="5022521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28" name="Oval 27"/>
          <p:cNvSpPr/>
          <p:nvPr/>
        </p:nvSpPr>
        <p:spPr>
          <a:xfrm>
            <a:off x="755576" y="2636912"/>
            <a:ext cx="504056" cy="5040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</a:rPr>
              <a:t>A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19672" y="1988840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B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1619672" y="3284984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D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915816" y="1988840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C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915816" y="3284984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3851920" y="2636912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4" name="Straight Arrow Connector 33"/>
          <p:cNvCxnSpPr>
            <a:stCxn id="28" idx="7"/>
            <a:endCxn id="29" idx="3"/>
          </p:cNvCxnSpPr>
          <p:nvPr/>
        </p:nvCxnSpPr>
        <p:spPr>
          <a:xfrm flipV="1">
            <a:off x="1185815" y="2419079"/>
            <a:ext cx="507674" cy="291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9" idx="6"/>
            <a:endCxn id="31" idx="2"/>
          </p:cNvCxnSpPr>
          <p:nvPr/>
        </p:nvCxnSpPr>
        <p:spPr>
          <a:xfrm>
            <a:off x="2123728" y="224086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0" idx="6"/>
            <a:endCxn id="32" idx="2"/>
          </p:cNvCxnSpPr>
          <p:nvPr/>
        </p:nvCxnSpPr>
        <p:spPr>
          <a:xfrm>
            <a:off x="2123728" y="3537012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8" idx="5"/>
            <a:endCxn id="30" idx="1"/>
          </p:cNvCxnSpPr>
          <p:nvPr/>
        </p:nvCxnSpPr>
        <p:spPr>
          <a:xfrm>
            <a:off x="1185815" y="3067151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1" idx="3"/>
            <a:endCxn id="30" idx="7"/>
          </p:cNvCxnSpPr>
          <p:nvPr/>
        </p:nvCxnSpPr>
        <p:spPr>
          <a:xfrm flipH="1">
            <a:off x="2049911" y="2419079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1" idx="4"/>
            <a:endCxn id="32" idx="0"/>
          </p:cNvCxnSpPr>
          <p:nvPr/>
        </p:nvCxnSpPr>
        <p:spPr>
          <a:xfrm>
            <a:off x="3167844" y="2492896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9" idx="4"/>
            <a:endCxn id="30" idx="0"/>
          </p:cNvCxnSpPr>
          <p:nvPr/>
        </p:nvCxnSpPr>
        <p:spPr>
          <a:xfrm>
            <a:off x="1871700" y="2492896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1" idx="5"/>
            <a:endCxn id="33" idx="1"/>
          </p:cNvCxnSpPr>
          <p:nvPr/>
        </p:nvCxnSpPr>
        <p:spPr>
          <a:xfrm>
            <a:off x="3346055" y="2419079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297971" y="501317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  <p:sp>
        <p:nvSpPr>
          <p:cNvPr id="26" name="AutoShape 5"/>
          <p:cNvSpPr>
            <a:spLocks noChangeArrowheads="1"/>
          </p:cNvSpPr>
          <p:nvPr/>
        </p:nvSpPr>
        <p:spPr bwMode="auto">
          <a:xfrm>
            <a:off x="470885" y="1298664"/>
            <a:ext cx="2372923" cy="340519"/>
          </a:xfrm>
          <a:prstGeom prst="wedgeRoundRectCallout">
            <a:avLst>
              <a:gd name="adj1" fmla="val -27167"/>
              <a:gd name="adj2" fmla="val 339923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Initiate DFS from A</a:t>
            </a:r>
          </a:p>
        </p:txBody>
      </p:sp>
    </p:spTree>
    <p:extLst>
      <p:ext uri="{BB962C8B-B14F-4D97-AF65-F5344CB8AC3E}">
        <p14:creationId xmlns:p14="http://schemas.microsoft.com/office/powerpoint/2010/main" val="141494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DFS-based Algorithm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29338" y="5013176"/>
            <a:ext cx="1939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Output List:</a:t>
            </a:r>
            <a:endParaRPr lang="zh-CN" altLang="en-US" sz="2800" b="1" dirty="0"/>
          </a:p>
        </p:txBody>
      </p:sp>
      <p:sp>
        <p:nvSpPr>
          <p:cNvPr id="21" name="Oval 20"/>
          <p:cNvSpPr/>
          <p:nvPr/>
        </p:nvSpPr>
        <p:spPr>
          <a:xfrm>
            <a:off x="2872172" y="5022758"/>
            <a:ext cx="504056" cy="504056"/>
          </a:xfrm>
          <a:prstGeom prst="ellipse">
            <a:avLst/>
          </a:prstGeom>
          <a:ln>
            <a:solidFill>
              <a:srgbClr val="0000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0000FF"/>
                </a:solidFill>
              </a:rPr>
              <a:t>A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3479941" y="5018963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25" name="Oval 24"/>
          <p:cNvSpPr/>
          <p:nvPr/>
        </p:nvSpPr>
        <p:spPr>
          <a:xfrm>
            <a:off x="4082433" y="5018963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27" name="Oval 26"/>
          <p:cNvSpPr/>
          <p:nvPr/>
        </p:nvSpPr>
        <p:spPr>
          <a:xfrm>
            <a:off x="4695479" y="5022521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28" name="Oval 27"/>
          <p:cNvSpPr/>
          <p:nvPr/>
        </p:nvSpPr>
        <p:spPr>
          <a:xfrm>
            <a:off x="755576" y="2636912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A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1619672" y="1988840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B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1619672" y="3284984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D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2915816" y="1988840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C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915816" y="3284984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E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3851920" y="2636912"/>
            <a:ext cx="504056" cy="504056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>
                    <a:lumMod val="65000"/>
                  </a:schemeClr>
                </a:solidFill>
              </a:rPr>
              <a:t>F</a:t>
            </a:r>
            <a:endParaRPr lang="zh-CN" alt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34" name="Straight Arrow Connector 33"/>
          <p:cNvCxnSpPr>
            <a:stCxn id="28" idx="7"/>
            <a:endCxn id="29" idx="3"/>
          </p:cNvCxnSpPr>
          <p:nvPr/>
        </p:nvCxnSpPr>
        <p:spPr>
          <a:xfrm flipV="1">
            <a:off x="1185815" y="2419079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9" idx="6"/>
            <a:endCxn id="31" idx="2"/>
          </p:cNvCxnSpPr>
          <p:nvPr/>
        </p:nvCxnSpPr>
        <p:spPr>
          <a:xfrm>
            <a:off x="2123728" y="2240868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0" idx="6"/>
            <a:endCxn id="32" idx="2"/>
          </p:cNvCxnSpPr>
          <p:nvPr/>
        </p:nvCxnSpPr>
        <p:spPr>
          <a:xfrm>
            <a:off x="2123728" y="3537012"/>
            <a:ext cx="792088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8" idx="5"/>
            <a:endCxn id="30" idx="1"/>
          </p:cNvCxnSpPr>
          <p:nvPr/>
        </p:nvCxnSpPr>
        <p:spPr>
          <a:xfrm>
            <a:off x="1185815" y="3067151"/>
            <a:ext cx="507674" cy="29165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1" idx="3"/>
            <a:endCxn id="30" idx="7"/>
          </p:cNvCxnSpPr>
          <p:nvPr/>
        </p:nvCxnSpPr>
        <p:spPr>
          <a:xfrm flipH="1">
            <a:off x="2049911" y="2419079"/>
            <a:ext cx="939722" cy="939722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1" idx="4"/>
            <a:endCxn id="32" idx="0"/>
          </p:cNvCxnSpPr>
          <p:nvPr/>
        </p:nvCxnSpPr>
        <p:spPr>
          <a:xfrm>
            <a:off x="3167844" y="2492896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9" idx="4"/>
            <a:endCxn id="30" idx="0"/>
          </p:cNvCxnSpPr>
          <p:nvPr/>
        </p:nvCxnSpPr>
        <p:spPr>
          <a:xfrm>
            <a:off x="1871700" y="2492896"/>
            <a:ext cx="0" cy="792088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1" idx="5"/>
            <a:endCxn id="33" idx="1"/>
          </p:cNvCxnSpPr>
          <p:nvPr/>
        </p:nvCxnSpPr>
        <p:spPr>
          <a:xfrm>
            <a:off x="3346055" y="2419079"/>
            <a:ext cx="579682" cy="29165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297971" y="501317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26" name="AutoShape 5"/>
          <p:cNvSpPr>
            <a:spLocks noChangeArrowheads="1"/>
          </p:cNvSpPr>
          <p:nvPr/>
        </p:nvSpPr>
        <p:spPr bwMode="auto">
          <a:xfrm>
            <a:off x="165973" y="1298664"/>
            <a:ext cx="3680048" cy="340519"/>
          </a:xfrm>
          <a:prstGeom prst="wedgeRoundRectCallout">
            <a:avLst>
              <a:gd name="adj1" fmla="val -27167"/>
              <a:gd name="adj2" fmla="val 339923"/>
              <a:gd name="adj3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t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 dirty="0"/>
              <a:t>DFS starting from A is finished</a:t>
            </a:r>
          </a:p>
        </p:txBody>
      </p:sp>
      <p:sp>
        <p:nvSpPr>
          <p:cNvPr id="43" name="Oval 42"/>
          <p:cNvSpPr/>
          <p:nvPr/>
        </p:nvSpPr>
        <p:spPr>
          <a:xfrm>
            <a:off x="5900463" y="5013176"/>
            <a:ext cx="504056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F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4116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DFS-based Algorithm Pseudocode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dirty="0"/>
              <a:t>L ← Empty list that will contain the sorted nodes</a:t>
            </a:r>
          </a:p>
          <a:p>
            <a:pPr marL="0" indent="0">
              <a:buNone/>
            </a:pPr>
            <a:r>
              <a:rPr lang="en-US" altLang="zh-CN" b="1" dirty="0"/>
              <a:t>while</a:t>
            </a:r>
            <a:r>
              <a:rPr lang="en-US" altLang="zh-CN" dirty="0"/>
              <a:t> there are unmarked nodes </a:t>
            </a:r>
            <a:r>
              <a:rPr lang="en-US" altLang="zh-CN" b="1" dirty="0"/>
              <a:t>do</a:t>
            </a:r>
          </a:p>
          <a:p>
            <a:pPr marL="0" indent="0">
              <a:buNone/>
            </a:pPr>
            <a:r>
              <a:rPr lang="en-US" altLang="zh-CN" dirty="0"/>
              <a:t>        select an unmarked node n</a:t>
            </a:r>
          </a:p>
          <a:p>
            <a:pPr marL="0" indent="0">
              <a:buNone/>
            </a:pPr>
            <a:r>
              <a:rPr lang="en-US" altLang="zh-CN" dirty="0"/>
              <a:t>        visit(n) 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function</a:t>
            </a:r>
            <a:r>
              <a:rPr lang="en-US" altLang="zh-CN" dirty="0"/>
              <a:t> visit(node n)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b="1" dirty="0"/>
              <a:t>if</a:t>
            </a:r>
            <a:r>
              <a:rPr lang="en-US" altLang="zh-CN" dirty="0"/>
              <a:t> n has a temporary mark </a:t>
            </a:r>
            <a:r>
              <a:rPr lang="en-US" altLang="zh-CN" b="1" dirty="0"/>
              <a:t>then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stop (graph has at least one cycle)</a:t>
            </a:r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en-US" altLang="zh-CN" b="1" dirty="0"/>
              <a:t>if</a:t>
            </a:r>
            <a:r>
              <a:rPr lang="en-US" altLang="zh-CN" dirty="0"/>
              <a:t> n is not marked (i.e. has not been visited yet) </a:t>
            </a:r>
            <a:r>
              <a:rPr lang="en-US" altLang="zh-CN" b="1" dirty="0"/>
              <a:t>then</a:t>
            </a:r>
          </a:p>
          <a:p>
            <a:pPr marL="0" indent="0">
              <a:buNone/>
            </a:pPr>
            <a:r>
              <a:rPr lang="en-US" altLang="zh-CN" dirty="0"/>
              <a:t>                mark n </a:t>
            </a:r>
            <a:r>
              <a:rPr lang="en-US" altLang="zh-CN" b="1" dirty="0">
                <a:solidFill>
                  <a:srgbClr val="FF0000"/>
                </a:solidFill>
              </a:rPr>
              <a:t>temporarily</a:t>
            </a:r>
          </a:p>
          <a:p>
            <a:pPr marL="0" indent="0">
              <a:buNone/>
            </a:pPr>
            <a:r>
              <a:rPr lang="en-US" altLang="zh-CN" dirty="0"/>
              <a:t>                        </a:t>
            </a:r>
            <a:r>
              <a:rPr lang="en-US" altLang="zh-CN" b="1" dirty="0"/>
              <a:t>for</a:t>
            </a:r>
            <a:r>
              <a:rPr lang="en-US" altLang="zh-CN" dirty="0"/>
              <a:t> each node m with an edge from n to m </a:t>
            </a:r>
            <a:r>
              <a:rPr lang="en-US" altLang="zh-CN" b="1" dirty="0"/>
              <a:t>do</a:t>
            </a:r>
          </a:p>
          <a:p>
            <a:pPr marL="0" indent="0">
              <a:buNone/>
            </a:pPr>
            <a:r>
              <a:rPr lang="en-US" altLang="zh-CN" dirty="0"/>
              <a:t>                                visit(m)</a:t>
            </a:r>
          </a:p>
          <a:p>
            <a:pPr marL="0" indent="0">
              <a:buNone/>
            </a:pPr>
            <a:r>
              <a:rPr lang="en-US" altLang="zh-CN" dirty="0"/>
              <a:t>                mark n 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</a:rPr>
              <a:t>permanently</a:t>
            </a:r>
          </a:p>
          <a:p>
            <a:pPr marL="0" indent="0">
              <a:buNone/>
            </a:pPr>
            <a:r>
              <a:rPr lang="en-US" altLang="zh-CN" dirty="0"/>
              <a:t>                add n to head of L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1462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DFS-based Algorithm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Why it is correct?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2302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DFS-based Algorithm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Why it is correct? When vertex </a:t>
            </a:r>
            <a:r>
              <a:rPr lang="en-US" altLang="zh-CN" i="1" dirty="0"/>
              <a:t>v</a:t>
            </a:r>
            <a:r>
              <a:rPr lang="en-US" altLang="zh-CN" dirty="0"/>
              <a:t> is added, all vertices depending on </a:t>
            </a:r>
            <a:r>
              <a:rPr lang="en-US" altLang="zh-CN" i="1" dirty="0"/>
              <a:t>v</a:t>
            </a:r>
            <a:r>
              <a:rPr lang="en-US" altLang="zh-CN" dirty="0"/>
              <a:t> are already in the output list: they were added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0791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https://leetcode.com/problems/course-schedule/#/description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https://leetcode.com/problems/course-schedule-ii/#/description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CSCI2520 Tutorial 9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4546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Two properties (min heap is assumed):</a:t>
            </a:r>
          </a:p>
          <a:p>
            <a:pPr lvl="1"/>
            <a:r>
              <a:rPr lang="en-US" dirty="0"/>
              <a:t>structure property: complete binary tree</a:t>
            </a:r>
          </a:p>
          <a:p>
            <a:pPr lvl="1"/>
            <a:r>
              <a:rPr lang="en-US" dirty="0"/>
              <a:t>heap-order property: Each node is smaller than or equal to its children</a:t>
            </a:r>
          </a:p>
          <a:p>
            <a:r>
              <a:rPr lang="en-US" dirty="0"/>
              <a:t>Basic operations:</a:t>
            </a:r>
          </a:p>
          <a:p>
            <a:pPr lvl="1"/>
            <a:r>
              <a:rPr lang="en-US" dirty="0"/>
              <a:t>insert: O(?)</a:t>
            </a:r>
          </a:p>
          <a:p>
            <a:pPr lvl="1"/>
            <a:r>
              <a:rPr lang="en-US" dirty="0" err="1"/>
              <a:t>findmin</a:t>
            </a:r>
            <a:r>
              <a:rPr lang="en-US" dirty="0"/>
              <a:t>: O(?)</a:t>
            </a:r>
          </a:p>
          <a:p>
            <a:pPr lvl="1"/>
            <a:r>
              <a:rPr lang="en-US" dirty="0" err="1"/>
              <a:t>delmin</a:t>
            </a:r>
            <a:r>
              <a:rPr lang="en-US" dirty="0"/>
              <a:t>: O(?)</a:t>
            </a:r>
          </a:p>
          <a:p>
            <a:pPr lvl="1"/>
            <a:r>
              <a:rPr lang="en-US" dirty="0" err="1"/>
              <a:t>build_heap</a:t>
            </a:r>
            <a:r>
              <a:rPr lang="en-US" dirty="0"/>
              <a:t>: O(?)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9085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Two properties (min heap is assumed):</a:t>
            </a:r>
          </a:p>
          <a:p>
            <a:pPr lvl="1"/>
            <a:r>
              <a:rPr lang="en-US" dirty="0"/>
              <a:t>structure property: complete binary tree</a:t>
            </a:r>
          </a:p>
          <a:p>
            <a:pPr lvl="1"/>
            <a:r>
              <a:rPr lang="en-US" dirty="0"/>
              <a:t>heap-order property: Each node is smaller than or equal to its children</a:t>
            </a:r>
          </a:p>
          <a:p>
            <a:r>
              <a:rPr lang="en-US" dirty="0"/>
              <a:t>Basic operations:</a:t>
            </a:r>
          </a:p>
          <a:p>
            <a:pPr lvl="1"/>
            <a:r>
              <a:rPr lang="en-US" dirty="0"/>
              <a:t>insert: O(</a:t>
            </a:r>
            <a:r>
              <a:rPr lang="en-US" dirty="0" err="1"/>
              <a:t>logn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findmin</a:t>
            </a:r>
            <a:r>
              <a:rPr lang="en-US" dirty="0"/>
              <a:t>: O(1)</a:t>
            </a:r>
          </a:p>
          <a:p>
            <a:pPr lvl="1"/>
            <a:r>
              <a:rPr lang="en-US" dirty="0" err="1"/>
              <a:t>delmin</a:t>
            </a:r>
            <a:r>
              <a:rPr lang="en-US" dirty="0"/>
              <a:t>: O(</a:t>
            </a:r>
            <a:r>
              <a:rPr lang="en-US" dirty="0" err="1"/>
              <a:t>logn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build_heap</a:t>
            </a:r>
            <a:r>
              <a:rPr lang="en-US" dirty="0"/>
              <a:t>: O(n)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8423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Huffman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save storage space</a:t>
            </a:r>
          </a:p>
          <a:p>
            <a:r>
              <a:rPr lang="en-US" dirty="0"/>
              <a:t>To reduce data transmission cost</a:t>
            </a:r>
          </a:p>
          <a:p>
            <a:r>
              <a:rPr lang="en-US" dirty="0"/>
              <a:t>A type of statistical coding</a:t>
            </a:r>
          </a:p>
          <a:p>
            <a:r>
              <a:rPr lang="en-US" dirty="0"/>
              <a:t>Based on binary trees and min heaps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6940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Suppose that we have a 100,000 character data file to store. The file contains only 6 characters, appearing with the following frequencies: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Build Huffman code tree and decide their codes.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many storage saved compared to ASCII code and shortest fixed-length code?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27701" y="3018656"/>
          <a:ext cx="688859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388">
                  <a:extLst>
                    <a:ext uri="{9D8B030D-6E8A-4147-A177-3AD203B41FA5}">
                      <a16:colId xmlns:a16="http://schemas.microsoft.com/office/drawing/2014/main" val="683336813"/>
                    </a:ext>
                  </a:extLst>
                </a:gridCol>
                <a:gridCol w="820035">
                  <a:extLst>
                    <a:ext uri="{9D8B030D-6E8A-4147-A177-3AD203B41FA5}">
                      <a16:colId xmlns:a16="http://schemas.microsoft.com/office/drawing/2014/main" val="1343051021"/>
                    </a:ext>
                  </a:extLst>
                </a:gridCol>
                <a:gridCol w="820035">
                  <a:extLst>
                    <a:ext uri="{9D8B030D-6E8A-4147-A177-3AD203B41FA5}">
                      <a16:colId xmlns:a16="http://schemas.microsoft.com/office/drawing/2014/main" val="4126723740"/>
                    </a:ext>
                  </a:extLst>
                </a:gridCol>
                <a:gridCol w="820035">
                  <a:extLst>
                    <a:ext uri="{9D8B030D-6E8A-4147-A177-3AD203B41FA5}">
                      <a16:colId xmlns:a16="http://schemas.microsoft.com/office/drawing/2014/main" val="4051580589"/>
                    </a:ext>
                  </a:extLst>
                </a:gridCol>
                <a:gridCol w="820035">
                  <a:extLst>
                    <a:ext uri="{9D8B030D-6E8A-4147-A177-3AD203B41FA5}">
                      <a16:colId xmlns:a16="http://schemas.microsoft.com/office/drawing/2014/main" val="2352146813"/>
                    </a:ext>
                  </a:extLst>
                </a:gridCol>
                <a:gridCol w="820035">
                  <a:extLst>
                    <a:ext uri="{9D8B030D-6E8A-4147-A177-3AD203B41FA5}">
                      <a16:colId xmlns:a16="http://schemas.microsoft.com/office/drawing/2014/main" val="2958736257"/>
                    </a:ext>
                  </a:extLst>
                </a:gridCol>
                <a:gridCol w="820035">
                  <a:extLst>
                    <a:ext uri="{9D8B030D-6E8A-4147-A177-3AD203B41FA5}">
                      <a16:colId xmlns:a16="http://schemas.microsoft.com/office/drawing/2014/main" val="868485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237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Frequency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208080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528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6"/>
          <p:cNvSpPr>
            <a:spLocks noChangeArrowheads="1"/>
          </p:cNvSpPr>
          <p:nvPr/>
        </p:nvSpPr>
        <p:spPr bwMode="auto">
          <a:xfrm>
            <a:off x="2051720" y="1340768"/>
            <a:ext cx="4464496" cy="43815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Char char="•"/>
            </a:pPr>
            <a:endParaRPr lang="en-US" altLang="en-US" sz="2800"/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>
            <a:off x="2680370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8"/>
          <p:cNvSpPr>
            <a:spLocks noChangeShapeType="1"/>
          </p:cNvSpPr>
          <p:nvPr/>
        </p:nvSpPr>
        <p:spPr bwMode="auto">
          <a:xfrm>
            <a:off x="3418558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9"/>
          <p:cNvSpPr>
            <a:spLocks noChangeShapeType="1"/>
          </p:cNvSpPr>
          <p:nvPr/>
        </p:nvSpPr>
        <p:spPr bwMode="auto">
          <a:xfrm>
            <a:off x="4158333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>
            <a:off x="4896520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11"/>
          <p:cNvSpPr>
            <a:spLocks noChangeShapeType="1"/>
          </p:cNvSpPr>
          <p:nvPr/>
        </p:nvSpPr>
        <p:spPr bwMode="auto">
          <a:xfrm>
            <a:off x="5724128" y="135981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>
            <a:off x="2391445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Line 21"/>
          <p:cNvSpPr>
            <a:spLocks noChangeShapeType="1"/>
          </p:cNvSpPr>
          <p:nvPr/>
        </p:nvSpPr>
        <p:spPr bwMode="auto">
          <a:xfrm>
            <a:off x="3883695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Line 22"/>
          <p:cNvSpPr>
            <a:spLocks noChangeShapeType="1"/>
          </p:cNvSpPr>
          <p:nvPr/>
        </p:nvSpPr>
        <p:spPr bwMode="auto">
          <a:xfrm>
            <a:off x="4629820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Line 23"/>
          <p:cNvSpPr>
            <a:spLocks noChangeShapeType="1"/>
          </p:cNvSpPr>
          <p:nvPr/>
        </p:nvSpPr>
        <p:spPr bwMode="auto">
          <a:xfrm>
            <a:off x="5377533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Line 29"/>
          <p:cNvSpPr>
            <a:spLocks noChangeShapeType="1"/>
          </p:cNvSpPr>
          <p:nvPr/>
        </p:nvSpPr>
        <p:spPr bwMode="auto">
          <a:xfrm>
            <a:off x="3115345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1"/>
          <p:cNvSpPr>
            <a:spLocks noChangeShapeType="1"/>
          </p:cNvSpPr>
          <p:nvPr/>
        </p:nvSpPr>
        <p:spPr bwMode="auto">
          <a:xfrm>
            <a:off x="6516216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23"/>
          <p:cNvSpPr>
            <a:spLocks noChangeShapeType="1"/>
          </p:cNvSpPr>
          <p:nvPr/>
        </p:nvSpPr>
        <p:spPr bwMode="auto">
          <a:xfrm>
            <a:off x="6125246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Text Box 36"/>
          <p:cNvSpPr txBox="1">
            <a:spLocks noChangeArrowheads="1"/>
          </p:cNvSpPr>
          <p:nvPr/>
        </p:nvSpPr>
        <p:spPr bwMode="auto">
          <a:xfrm>
            <a:off x="5865752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f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5</a:t>
            </a:r>
          </a:p>
        </p:txBody>
      </p:sp>
      <p:sp>
        <p:nvSpPr>
          <p:cNvPr id="21" name="Text Box 36"/>
          <p:cNvSpPr txBox="1">
            <a:spLocks noChangeArrowheads="1"/>
          </p:cNvSpPr>
          <p:nvPr/>
        </p:nvSpPr>
        <p:spPr bwMode="auto">
          <a:xfrm>
            <a:off x="5116451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e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9</a:t>
            </a:r>
          </a:p>
        </p:txBody>
      </p:sp>
      <p:sp>
        <p:nvSpPr>
          <p:cNvPr id="28" name="Text Box 36"/>
          <p:cNvSpPr txBox="1">
            <a:spLocks noChangeArrowheads="1"/>
          </p:cNvSpPr>
          <p:nvPr/>
        </p:nvSpPr>
        <p:spPr bwMode="auto">
          <a:xfrm>
            <a:off x="4370326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d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16</a:t>
            </a:r>
          </a:p>
        </p:txBody>
      </p:sp>
      <p:sp>
        <p:nvSpPr>
          <p:cNvPr id="29" name="Text Box 36"/>
          <p:cNvSpPr txBox="1">
            <a:spLocks noChangeArrowheads="1"/>
          </p:cNvSpPr>
          <p:nvPr/>
        </p:nvSpPr>
        <p:spPr bwMode="auto">
          <a:xfrm>
            <a:off x="3622615" y="2131343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c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12</a:t>
            </a:r>
          </a:p>
        </p:txBody>
      </p: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2849993" y="2131343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b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13</a:t>
            </a:r>
          </a:p>
        </p:txBody>
      </p:sp>
      <p:sp>
        <p:nvSpPr>
          <p:cNvPr id="31" name="Text Box 36"/>
          <p:cNvSpPr txBox="1">
            <a:spLocks noChangeArrowheads="1"/>
          </p:cNvSpPr>
          <p:nvPr/>
        </p:nvSpPr>
        <p:spPr bwMode="auto">
          <a:xfrm>
            <a:off x="2128779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a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45</a:t>
            </a:r>
          </a:p>
        </p:txBody>
      </p:sp>
      <p:cxnSp>
        <p:nvCxnSpPr>
          <p:cNvPr id="36" name="Straight Connector 35"/>
          <p:cNvCxnSpPr>
            <a:cxnSpLocks noChangeShapeType="1"/>
            <a:stCxn id="37" idx="3"/>
            <a:endCxn id="38" idx="0"/>
          </p:cNvCxnSpPr>
          <p:nvPr/>
        </p:nvCxnSpPr>
        <p:spPr bwMode="auto">
          <a:xfrm flipH="1">
            <a:off x="3130997" y="3833245"/>
            <a:ext cx="865809" cy="45640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Oval 36"/>
          <p:cNvSpPr>
            <a:spLocks noChangeArrowheads="1"/>
          </p:cNvSpPr>
          <p:nvPr/>
        </p:nvSpPr>
        <p:spPr bwMode="auto">
          <a:xfrm>
            <a:off x="3923109" y="3371184"/>
            <a:ext cx="503237" cy="541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45</a:t>
            </a:r>
          </a:p>
        </p:txBody>
      </p:sp>
      <p:sp>
        <p:nvSpPr>
          <p:cNvPr id="38" name="Oval 37"/>
          <p:cNvSpPr>
            <a:spLocks noChangeArrowheads="1"/>
          </p:cNvSpPr>
          <p:nvPr/>
        </p:nvSpPr>
        <p:spPr bwMode="auto">
          <a:xfrm>
            <a:off x="2879378" y="4289648"/>
            <a:ext cx="503238" cy="541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13</a:t>
            </a:r>
          </a:p>
        </p:txBody>
      </p:sp>
      <p:cxnSp>
        <p:nvCxnSpPr>
          <p:cNvPr id="39" name="Straight Connector 38"/>
          <p:cNvCxnSpPr>
            <a:cxnSpLocks noChangeShapeType="1"/>
            <a:stCxn id="37" idx="5"/>
            <a:endCxn id="40" idx="0"/>
          </p:cNvCxnSpPr>
          <p:nvPr/>
        </p:nvCxnSpPr>
        <p:spPr bwMode="auto">
          <a:xfrm>
            <a:off x="4352649" y="3833245"/>
            <a:ext cx="900289" cy="48182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Oval 39"/>
          <p:cNvSpPr>
            <a:spLocks noChangeArrowheads="1"/>
          </p:cNvSpPr>
          <p:nvPr/>
        </p:nvSpPr>
        <p:spPr bwMode="auto">
          <a:xfrm>
            <a:off x="5001319" y="4315073"/>
            <a:ext cx="503238" cy="539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12</a:t>
            </a:r>
          </a:p>
        </p:txBody>
      </p:sp>
      <p:cxnSp>
        <p:nvCxnSpPr>
          <p:cNvPr id="42" name="Straight Connector 41"/>
          <p:cNvCxnSpPr>
            <a:cxnSpLocks noChangeShapeType="1"/>
            <a:stCxn id="38" idx="5"/>
            <a:endCxn id="43" idx="0"/>
          </p:cNvCxnSpPr>
          <p:nvPr/>
        </p:nvCxnSpPr>
        <p:spPr bwMode="auto">
          <a:xfrm>
            <a:off x="3308919" y="4751709"/>
            <a:ext cx="361753" cy="368202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3419053" y="5119911"/>
            <a:ext cx="503237" cy="54133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9</a:t>
            </a: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2339752" y="5119911"/>
            <a:ext cx="503237" cy="54133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16</a:t>
            </a:r>
          </a:p>
        </p:txBody>
      </p:sp>
      <p:cxnSp>
        <p:nvCxnSpPr>
          <p:cNvPr id="45" name="Straight Connector 44"/>
          <p:cNvCxnSpPr>
            <a:cxnSpLocks noChangeShapeType="1"/>
            <a:stCxn id="38" idx="3"/>
            <a:endCxn id="44" idx="0"/>
          </p:cNvCxnSpPr>
          <p:nvPr/>
        </p:nvCxnSpPr>
        <p:spPr bwMode="auto">
          <a:xfrm flipH="1">
            <a:off x="2591371" y="4751709"/>
            <a:ext cx="361704" cy="368202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Oval 45"/>
          <p:cNvSpPr>
            <a:spLocks noChangeArrowheads="1"/>
          </p:cNvSpPr>
          <p:nvPr/>
        </p:nvSpPr>
        <p:spPr bwMode="auto">
          <a:xfrm>
            <a:off x="4427165" y="5143748"/>
            <a:ext cx="503238" cy="54133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5</a:t>
            </a:r>
          </a:p>
        </p:txBody>
      </p:sp>
      <p:cxnSp>
        <p:nvCxnSpPr>
          <p:cNvPr id="47" name="Straight Connector 46"/>
          <p:cNvCxnSpPr>
            <a:cxnSpLocks noChangeShapeType="1"/>
            <a:stCxn id="40" idx="3"/>
            <a:endCxn id="46" idx="0"/>
          </p:cNvCxnSpPr>
          <p:nvPr/>
        </p:nvCxnSpPr>
        <p:spPr bwMode="auto">
          <a:xfrm flipH="1">
            <a:off x="4678784" y="4775778"/>
            <a:ext cx="396232" cy="36797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Exercise 1.1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28" y="3243208"/>
            <a:ext cx="250902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 err="1"/>
              <a:t>build_heap</a:t>
            </a:r>
            <a:r>
              <a:rPr lang="en-US" sz="2400" dirty="0"/>
              <a:t>: Initial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1237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6"/>
          <p:cNvSpPr>
            <a:spLocks noChangeArrowheads="1"/>
          </p:cNvSpPr>
          <p:nvPr/>
        </p:nvSpPr>
        <p:spPr bwMode="auto">
          <a:xfrm>
            <a:off x="2051720" y="1340768"/>
            <a:ext cx="4464496" cy="43815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Char char="•"/>
            </a:pPr>
            <a:endParaRPr lang="en-US" altLang="en-US" sz="2800"/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>
            <a:off x="2680370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Line 8"/>
          <p:cNvSpPr>
            <a:spLocks noChangeShapeType="1"/>
          </p:cNvSpPr>
          <p:nvPr/>
        </p:nvSpPr>
        <p:spPr bwMode="auto">
          <a:xfrm>
            <a:off x="3418558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9"/>
          <p:cNvSpPr>
            <a:spLocks noChangeShapeType="1"/>
          </p:cNvSpPr>
          <p:nvPr/>
        </p:nvSpPr>
        <p:spPr bwMode="auto">
          <a:xfrm>
            <a:off x="4158333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>
            <a:off x="4896520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11"/>
          <p:cNvSpPr>
            <a:spLocks noChangeShapeType="1"/>
          </p:cNvSpPr>
          <p:nvPr/>
        </p:nvSpPr>
        <p:spPr bwMode="auto">
          <a:xfrm>
            <a:off x="5724128" y="135981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20"/>
          <p:cNvSpPr>
            <a:spLocks noChangeShapeType="1"/>
          </p:cNvSpPr>
          <p:nvPr/>
        </p:nvSpPr>
        <p:spPr bwMode="auto">
          <a:xfrm>
            <a:off x="2391445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Line 21"/>
          <p:cNvSpPr>
            <a:spLocks noChangeShapeType="1"/>
          </p:cNvSpPr>
          <p:nvPr/>
        </p:nvSpPr>
        <p:spPr bwMode="auto">
          <a:xfrm>
            <a:off x="3883695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Line 22"/>
          <p:cNvSpPr>
            <a:spLocks noChangeShapeType="1"/>
          </p:cNvSpPr>
          <p:nvPr/>
        </p:nvSpPr>
        <p:spPr bwMode="auto">
          <a:xfrm>
            <a:off x="4629820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Line 23"/>
          <p:cNvSpPr>
            <a:spLocks noChangeShapeType="1"/>
          </p:cNvSpPr>
          <p:nvPr/>
        </p:nvSpPr>
        <p:spPr bwMode="auto">
          <a:xfrm>
            <a:off x="5377533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Line 29"/>
          <p:cNvSpPr>
            <a:spLocks noChangeShapeType="1"/>
          </p:cNvSpPr>
          <p:nvPr/>
        </p:nvSpPr>
        <p:spPr bwMode="auto">
          <a:xfrm>
            <a:off x="3115345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11"/>
          <p:cNvSpPr>
            <a:spLocks noChangeShapeType="1"/>
          </p:cNvSpPr>
          <p:nvPr/>
        </p:nvSpPr>
        <p:spPr bwMode="auto">
          <a:xfrm>
            <a:off x="6516216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23"/>
          <p:cNvSpPr>
            <a:spLocks noChangeShapeType="1"/>
          </p:cNvSpPr>
          <p:nvPr/>
        </p:nvSpPr>
        <p:spPr bwMode="auto">
          <a:xfrm>
            <a:off x="6125246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Text Box 36"/>
          <p:cNvSpPr txBox="1">
            <a:spLocks noChangeArrowheads="1"/>
          </p:cNvSpPr>
          <p:nvPr/>
        </p:nvSpPr>
        <p:spPr bwMode="auto">
          <a:xfrm>
            <a:off x="5865752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c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12</a:t>
            </a:r>
          </a:p>
        </p:txBody>
      </p:sp>
      <p:sp>
        <p:nvSpPr>
          <p:cNvPr id="21" name="Text Box 36"/>
          <p:cNvSpPr txBox="1">
            <a:spLocks noChangeArrowheads="1"/>
          </p:cNvSpPr>
          <p:nvPr/>
        </p:nvSpPr>
        <p:spPr bwMode="auto">
          <a:xfrm>
            <a:off x="5116451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b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13</a:t>
            </a:r>
          </a:p>
        </p:txBody>
      </p:sp>
      <p:sp>
        <p:nvSpPr>
          <p:cNvPr id="28" name="Text Box 36"/>
          <p:cNvSpPr txBox="1">
            <a:spLocks noChangeArrowheads="1"/>
          </p:cNvSpPr>
          <p:nvPr/>
        </p:nvSpPr>
        <p:spPr bwMode="auto">
          <a:xfrm>
            <a:off x="4370326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d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16</a:t>
            </a:r>
          </a:p>
        </p:txBody>
      </p:sp>
      <p:sp>
        <p:nvSpPr>
          <p:cNvPr id="29" name="Text Box 36"/>
          <p:cNvSpPr txBox="1">
            <a:spLocks noChangeArrowheads="1"/>
          </p:cNvSpPr>
          <p:nvPr/>
        </p:nvSpPr>
        <p:spPr bwMode="auto">
          <a:xfrm>
            <a:off x="3622615" y="2131343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f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5</a:t>
            </a:r>
          </a:p>
        </p:txBody>
      </p:sp>
      <p:sp>
        <p:nvSpPr>
          <p:cNvPr id="30" name="Text Box 36"/>
          <p:cNvSpPr txBox="1">
            <a:spLocks noChangeArrowheads="1"/>
          </p:cNvSpPr>
          <p:nvPr/>
        </p:nvSpPr>
        <p:spPr bwMode="auto">
          <a:xfrm>
            <a:off x="2849993" y="2131343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e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9</a:t>
            </a:r>
          </a:p>
        </p:txBody>
      </p:sp>
      <p:sp>
        <p:nvSpPr>
          <p:cNvPr id="31" name="Text Box 36"/>
          <p:cNvSpPr txBox="1">
            <a:spLocks noChangeArrowheads="1"/>
          </p:cNvSpPr>
          <p:nvPr/>
        </p:nvSpPr>
        <p:spPr bwMode="auto">
          <a:xfrm>
            <a:off x="2128779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a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45</a:t>
            </a:r>
          </a:p>
        </p:txBody>
      </p:sp>
      <p:cxnSp>
        <p:nvCxnSpPr>
          <p:cNvPr id="36" name="Straight Connector 35"/>
          <p:cNvCxnSpPr>
            <a:cxnSpLocks noChangeShapeType="1"/>
            <a:stCxn id="37" idx="3"/>
            <a:endCxn id="38" idx="0"/>
          </p:cNvCxnSpPr>
          <p:nvPr/>
        </p:nvCxnSpPr>
        <p:spPr bwMode="auto">
          <a:xfrm flipH="1">
            <a:off x="3130997" y="3833245"/>
            <a:ext cx="865809" cy="45640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Oval 36"/>
          <p:cNvSpPr>
            <a:spLocks noChangeArrowheads="1"/>
          </p:cNvSpPr>
          <p:nvPr/>
        </p:nvSpPr>
        <p:spPr bwMode="auto">
          <a:xfrm>
            <a:off x="3923109" y="3371184"/>
            <a:ext cx="503237" cy="541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45</a:t>
            </a:r>
          </a:p>
        </p:txBody>
      </p:sp>
      <p:sp>
        <p:nvSpPr>
          <p:cNvPr id="38" name="Oval 37"/>
          <p:cNvSpPr>
            <a:spLocks noChangeArrowheads="1"/>
          </p:cNvSpPr>
          <p:nvPr/>
        </p:nvSpPr>
        <p:spPr bwMode="auto">
          <a:xfrm>
            <a:off x="2879378" y="4289648"/>
            <a:ext cx="503238" cy="541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9</a:t>
            </a:r>
          </a:p>
        </p:txBody>
      </p:sp>
      <p:cxnSp>
        <p:nvCxnSpPr>
          <p:cNvPr id="39" name="Straight Connector 38"/>
          <p:cNvCxnSpPr>
            <a:cxnSpLocks noChangeShapeType="1"/>
            <a:stCxn id="37" idx="5"/>
            <a:endCxn id="40" idx="0"/>
          </p:cNvCxnSpPr>
          <p:nvPr/>
        </p:nvCxnSpPr>
        <p:spPr bwMode="auto">
          <a:xfrm>
            <a:off x="4352649" y="3833245"/>
            <a:ext cx="900289" cy="48182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Oval 39"/>
          <p:cNvSpPr>
            <a:spLocks noChangeArrowheads="1"/>
          </p:cNvSpPr>
          <p:nvPr/>
        </p:nvSpPr>
        <p:spPr bwMode="auto">
          <a:xfrm>
            <a:off x="5001319" y="4315073"/>
            <a:ext cx="503238" cy="539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5</a:t>
            </a:r>
          </a:p>
        </p:txBody>
      </p:sp>
      <p:cxnSp>
        <p:nvCxnSpPr>
          <p:cNvPr id="42" name="Straight Connector 41"/>
          <p:cNvCxnSpPr>
            <a:cxnSpLocks noChangeShapeType="1"/>
            <a:stCxn id="38" idx="5"/>
            <a:endCxn id="43" idx="0"/>
          </p:cNvCxnSpPr>
          <p:nvPr/>
        </p:nvCxnSpPr>
        <p:spPr bwMode="auto">
          <a:xfrm>
            <a:off x="3308919" y="4751709"/>
            <a:ext cx="361753" cy="368202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3419053" y="5119911"/>
            <a:ext cx="503237" cy="54133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13</a:t>
            </a: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2339752" y="5119911"/>
            <a:ext cx="503237" cy="54133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16</a:t>
            </a:r>
          </a:p>
        </p:txBody>
      </p:sp>
      <p:cxnSp>
        <p:nvCxnSpPr>
          <p:cNvPr id="45" name="Straight Connector 44"/>
          <p:cNvCxnSpPr>
            <a:cxnSpLocks noChangeShapeType="1"/>
            <a:stCxn id="38" idx="3"/>
            <a:endCxn id="44" idx="0"/>
          </p:cNvCxnSpPr>
          <p:nvPr/>
        </p:nvCxnSpPr>
        <p:spPr bwMode="auto">
          <a:xfrm flipH="1">
            <a:off x="2591371" y="4751709"/>
            <a:ext cx="361704" cy="368202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Oval 45"/>
          <p:cNvSpPr>
            <a:spLocks noChangeArrowheads="1"/>
          </p:cNvSpPr>
          <p:nvPr/>
        </p:nvSpPr>
        <p:spPr bwMode="auto">
          <a:xfrm>
            <a:off x="4427165" y="5143748"/>
            <a:ext cx="503238" cy="54133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12</a:t>
            </a:r>
          </a:p>
        </p:txBody>
      </p:sp>
      <p:cxnSp>
        <p:nvCxnSpPr>
          <p:cNvPr id="47" name="Straight Connector 46"/>
          <p:cNvCxnSpPr>
            <a:cxnSpLocks noChangeShapeType="1"/>
            <a:stCxn id="40" idx="3"/>
            <a:endCxn id="46" idx="0"/>
          </p:cNvCxnSpPr>
          <p:nvPr/>
        </p:nvCxnSpPr>
        <p:spPr bwMode="auto">
          <a:xfrm flipH="1">
            <a:off x="4678784" y="4775778"/>
            <a:ext cx="396232" cy="36797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Exercise 1.1 Solution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3528" y="3243208"/>
            <a:ext cx="27706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build_heap</a:t>
            </a:r>
            <a:r>
              <a:rPr lang="en-US" sz="2400" dirty="0"/>
              <a:t>:</a:t>
            </a:r>
          </a:p>
          <a:p>
            <a:r>
              <a:rPr lang="en-US" sz="2400" dirty="0" err="1"/>
              <a:t>trickle_down</a:t>
            </a:r>
            <a:r>
              <a:rPr lang="en-US" sz="2400" dirty="0"/>
              <a:t>(13, 12)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6035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>
            <a:cxnSpLocks noChangeShapeType="1"/>
            <a:stCxn id="37" idx="3"/>
            <a:endCxn id="38" idx="0"/>
          </p:cNvCxnSpPr>
          <p:nvPr/>
        </p:nvCxnSpPr>
        <p:spPr bwMode="auto">
          <a:xfrm flipH="1">
            <a:off x="3130997" y="3833245"/>
            <a:ext cx="865809" cy="45640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Oval 36"/>
          <p:cNvSpPr>
            <a:spLocks noChangeArrowheads="1"/>
          </p:cNvSpPr>
          <p:nvPr/>
        </p:nvSpPr>
        <p:spPr bwMode="auto">
          <a:xfrm>
            <a:off x="3923109" y="3371184"/>
            <a:ext cx="503237" cy="541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5</a:t>
            </a:r>
          </a:p>
        </p:txBody>
      </p:sp>
      <p:sp>
        <p:nvSpPr>
          <p:cNvPr id="38" name="Oval 37"/>
          <p:cNvSpPr>
            <a:spLocks noChangeArrowheads="1"/>
          </p:cNvSpPr>
          <p:nvPr/>
        </p:nvSpPr>
        <p:spPr bwMode="auto">
          <a:xfrm>
            <a:off x="2879378" y="4289648"/>
            <a:ext cx="503238" cy="541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9</a:t>
            </a:r>
          </a:p>
        </p:txBody>
      </p:sp>
      <p:cxnSp>
        <p:nvCxnSpPr>
          <p:cNvPr id="39" name="Straight Connector 38"/>
          <p:cNvCxnSpPr>
            <a:cxnSpLocks noChangeShapeType="1"/>
            <a:stCxn id="37" idx="5"/>
            <a:endCxn id="40" idx="0"/>
          </p:cNvCxnSpPr>
          <p:nvPr/>
        </p:nvCxnSpPr>
        <p:spPr bwMode="auto">
          <a:xfrm>
            <a:off x="4352649" y="3833245"/>
            <a:ext cx="900289" cy="48182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Oval 39"/>
          <p:cNvSpPr>
            <a:spLocks noChangeArrowheads="1"/>
          </p:cNvSpPr>
          <p:nvPr/>
        </p:nvSpPr>
        <p:spPr bwMode="auto">
          <a:xfrm>
            <a:off x="5001319" y="4315073"/>
            <a:ext cx="503238" cy="539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12</a:t>
            </a:r>
          </a:p>
        </p:txBody>
      </p:sp>
      <p:cxnSp>
        <p:nvCxnSpPr>
          <p:cNvPr id="42" name="Straight Connector 41"/>
          <p:cNvCxnSpPr>
            <a:cxnSpLocks noChangeShapeType="1"/>
            <a:stCxn id="38" idx="5"/>
            <a:endCxn id="43" idx="0"/>
          </p:cNvCxnSpPr>
          <p:nvPr/>
        </p:nvCxnSpPr>
        <p:spPr bwMode="auto">
          <a:xfrm>
            <a:off x="3308919" y="4751709"/>
            <a:ext cx="361753" cy="368202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3419053" y="5119911"/>
            <a:ext cx="503237" cy="54133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13</a:t>
            </a: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2339752" y="5119911"/>
            <a:ext cx="503237" cy="54133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16</a:t>
            </a:r>
          </a:p>
        </p:txBody>
      </p:sp>
      <p:cxnSp>
        <p:nvCxnSpPr>
          <p:cNvPr id="45" name="Straight Connector 44"/>
          <p:cNvCxnSpPr>
            <a:cxnSpLocks noChangeShapeType="1"/>
            <a:stCxn id="38" idx="3"/>
            <a:endCxn id="44" idx="0"/>
          </p:cNvCxnSpPr>
          <p:nvPr/>
        </p:nvCxnSpPr>
        <p:spPr bwMode="auto">
          <a:xfrm flipH="1">
            <a:off x="2591371" y="4751709"/>
            <a:ext cx="361704" cy="368202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Oval 45"/>
          <p:cNvSpPr>
            <a:spLocks noChangeArrowheads="1"/>
          </p:cNvSpPr>
          <p:nvPr/>
        </p:nvSpPr>
        <p:spPr bwMode="auto">
          <a:xfrm>
            <a:off x="4427165" y="5143748"/>
            <a:ext cx="503238" cy="54133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45</a:t>
            </a:r>
          </a:p>
        </p:txBody>
      </p:sp>
      <p:cxnSp>
        <p:nvCxnSpPr>
          <p:cNvPr id="47" name="Straight Connector 46"/>
          <p:cNvCxnSpPr>
            <a:cxnSpLocks noChangeShapeType="1"/>
            <a:stCxn id="40" idx="3"/>
            <a:endCxn id="46" idx="0"/>
          </p:cNvCxnSpPr>
          <p:nvPr/>
        </p:nvCxnSpPr>
        <p:spPr bwMode="auto">
          <a:xfrm flipH="1">
            <a:off x="4678784" y="4775778"/>
            <a:ext cx="396232" cy="36797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Rectangle 6"/>
          <p:cNvSpPr>
            <a:spLocks noChangeArrowheads="1"/>
          </p:cNvSpPr>
          <p:nvPr/>
        </p:nvSpPr>
        <p:spPr bwMode="auto">
          <a:xfrm>
            <a:off x="2051720" y="1340768"/>
            <a:ext cx="4464496" cy="43815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Char char="•"/>
            </a:pPr>
            <a:endParaRPr lang="en-US" altLang="en-US" sz="2800"/>
          </a:p>
        </p:txBody>
      </p:sp>
      <p:sp>
        <p:nvSpPr>
          <p:cNvPr id="49" name="Line 7"/>
          <p:cNvSpPr>
            <a:spLocks noChangeShapeType="1"/>
          </p:cNvSpPr>
          <p:nvPr/>
        </p:nvSpPr>
        <p:spPr bwMode="auto">
          <a:xfrm>
            <a:off x="2680370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Line 8"/>
          <p:cNvSpPr>
            <a:spLocks noChangeShapeType="1"/>
          </p:cNvSpPr>
          <p:nvPr/>
        </p:nvSpPr>
        <p:spPr bwMode="auto">
          <a:xfrm>
            <a:off x="3418558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Line 9"/>
          <p:cNvSpPr>
            <a:spLocks noChangeShapeType="1"/>
          </p:cNvSpPr>
          <p:nvPr/>
        </p:nvSpPr>
        <p:spPr bwMode="auto">
          <a:xfrm>
            <a:off x="4158333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Line 10"/>
          <p:cNvSpPr>
            <a:spLocks noChangeShapeType="1"/>
          </p:cNvSpPr>
          <p:nvPr/>
        </p:nvSpPr>
        <p:spPr bwMode="auto">
          <a:xfrm>
            <a:off x="4896520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Line 11"/>
          <p:cNvSpPr>
            <a:spLocks noChangeShapeType="1"/>
          </p:cNvSpPr>
          <p:nvPr/>
        </p:nvSpPr>
        <p:spPr bwMode="auto">
          <a:xfrm>
            <a:off x="5724128" y="135981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Line 20"/>
          <p:cNvSpPr>
            <a:spLocks noChangeShapeType="1"/>
          </p:cNvSpPr>
          <p:nvPr/>
        </p:nvSpPr>
        <p:spPr bwMode="auto">
          <a:xfrm>
            <a:off x="2391445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Line 21"/>
          <p:cNvSpPr>
            <a:spLocks noChangeShapeType="1"/>
          </p:cNvSpPr>
          <p:nvPr/>
        </p:nvSpPr>
        <p:spPr bwMode="auto">
          <a:xfrm>
            <a:off x="3883695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Line 22"/>
          <p:cNvSpPr>
            <a:spLocks noChangeShapeType="1"/>
          </p:cNvSpPr>
          <p:nvPr/>
        </p:nvSpPr>
        <p:spPr bwMode="auto">
          <a:xfrm>
            <a:off x="4629820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Line 23"/>
          <p:cNvSpPr>
            <a:spLocks noChangeShapeType="1"/>
          </p:cNvSpPr>
          <p:nvPr/>
        </p:nvSpPr>
        <p:spPr bwMode="auto">
          <a:xfrm>
            <a:off x="5377533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Line 29"/>
          <p:cNvSpPr>
            <a:spLocks noChangeShapeType="1"/>
          </p:cNvSpPr>
          <p:nvPr/>
        </p:nvSpPr>
        <p:spPr bwMode="auto">
          <a:xfrm>
            <a:off x="3115345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Line 11"/>
          <p:cNvSpPr>
            <a:spLocks noChangeShapeType="1"/>
          </p:cNvSpPr>
          <p:nvPr/>
        </p:nvSpPr>
        <p:spPr bwMode="auto">
          <a:xfrm>
            <a:off x="6516216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Line 23"/>
          <p:cNvSpPr>
            <a:spLocks noChangeShapeType="1"/>
          </p:cNvSpPr>
          <p:nvPr/>
        </p:nvSpPr>
        <p:spPr bwMode="auto">
          <a:xfrm>
            <a:off x="6125246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Text Box 36"/>
          <p:cNvSpPr txBox="1">
            <a:spLocks noChangeArrowheads="1"/>
          </p:cNvSpPr>
          <p:nvPr/>
        </p:nvSpPr>
        <p:spPr bwMode="auto">
          <a:xfrm>
            <a:off x="5865752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a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45</a:t>
            </a:r>
          </a:p>
        </p:txBody>
      </p:sp>
      <p:sp>
        <p:nvSpPr>
          <p:cNvPr id="62" name="Text Box 36"/>
          <p:cNvSpPr txBox="1">
            <a:spLocks noChangeArrowheads="1"/>
          </p:cNvSpPr>
          <p:nvPr/>
        </p:nvSpPr>
        <p:spPr bwMode="auto">
          <a:xfrm>
            <a:off x="5116451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b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13</a:t>
            </a:r>
          </a:p>
        </p:txBody>
      </p:sp>
      <p:sp>
        <p:nvSpPr>
          <p:cNvPr id="63" name="Text Box 36"/>
          <p:cNvSpPr txBox="1">
            <a:spLocks noChangeArrowheads="1"/>
          </p:cNvSpPr>
          <p:nvPr/>
        </p:nvSpPr>
        <p:spPr bwMode="auto">
          <a:xfrm>
            <a:off x="4370326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d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16</a:t>
            </a:r>
          </a:p>
        </p:txBody>
      </p:sp>
      <p:sp>
        <p:nvSpPr>
          <p:cNvPr id="64" name="Text Box 36"/>
          <p:cNvSpPr txBox="1">
            <a:spLocks noChangeArrowheads="1"/>
          </p:cNvSpPr>
          <p:nvPr/>
        </p:nvSpPr>
        <p:spPr bwMode="auto">
          <a:xfrm>
            <a:off x="3622615" y="2131343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c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12</a:t>
            </a:r>
          </a:p>
        </p:txBody>
      </p:sp>
      <p:sp>
        <p:nvSpPr>
          <p:cNvPr id="65" name="Text Box 36"/>
          <p:cNvSpPr txBox="1">
            <a:spLocks noChangeArrowheads="1"/>
          </p:cNvSpPr>
          <p:nvPr/>
        </p:nvSpPr>
        <p:spPr bwMode="auto">
          <a:xfrm>
            <a:off x="2849993" y="2131343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e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9</a:t>
            </a:r>
          </a:p>
        </p:txBody>
      </p:sp>
      <p:sp>
        <p:nvSpPr>
          <p:cNvPr id="66" name="Text Box 36"/>
          <p:cNvSpPr txBox="1">
            <a:spLocks noChangeArrowheads="1"/>
          </p:cNvSpPr>
          <p:nvPr/>
        </p:nvSpPr>
        <p:spPr bwMode="auto">
          <a:xfrm>
            <a:off x="2128779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f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5</a:t>
            </a:r>
          </a:p>
        </p:txBody>
      </p:sp>
      <p:sp>
        <p:nvSpPr>
          <p:cNvPr id="3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Exercise 1.1 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3528" y="3243208"/>
            <a:ext cx="23138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build_heap</a:t>
            </a:r>
            <a:r>
              <a:rPr lang="en-US" sz="2400" dirty="0"/>
              <a:t>:</a:t>
            </a:r>
          </a:p>
          <a:p>
            <a:r>
              <a:rPr lang="en-US" sz="2400" dirty="0" err="1"/>
              <a:t>trickle_down</a:t>
            </a:r>
            <a:r>
              <a:rPr lang="en-US" sz="2400" dirty="0"/>
              <a:t>(45)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9282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>
            <a:cxnSpLocks noChangeShapeType="1"/>
            <a:stCxn id="37" idx="3"/>
            <a:endCxn id="38" idx="0"/>
          </p:cNvCxnSpPr>
          <p:nvPr/>
        </p:nvCxnSpPr>
        <p:spPr bwMode="auto">
          <a:xfrm flipH="1">
            <a:off x="3130997" y="3833245"/>
            <a:ext cx="865809" cy="45640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Oval 36"/>
          <p:cNvSpPr>
            <a:spLocks noChangeArrowheads="1"/>
          </p:cNvSpPr>
          <p:nvPr/>
        </p:nvSpPr>
        <p:spPr bwMode="auto">
          <a:xfrm>
            <a:off x="3923109" y="3371184"/>
            <a:ext cx="503237" cy="541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12</a:t>
            </a:r>
          </a:p>
        </p:txBody>
      </p:sp>
      <p:sp>
        <p:nvSpPr>
          <p:cNvPr id="38" name="Oval 37"/>
          <p:cNvSpPr>
            <a:spLocks noChangeArrowheads="1"/>
          </p:cNvSpPr>
          <p:nvPr/>
        </p:nvSpPr>
        <p:spPr bwMode="auto">
          <a:xfrm>
            <a:off x="2879378" y="4289648"/>
            <a:ext cx="503238" cy="541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13</a:t>
            </a:r>
          </a:p>
        </p:txBody>
      </p:sp>
      <p:cxnSp>
        <p:nvCxnSpPr>
          <p:cNvPr id="39" name="Straight Connector 38"/>
          <p:cNvCxnSpPr>
            <a:cxnSpLocks noChangeShapeType="1"/>
            <a:stCxn id="37" idx="5"/>
            <a:endCxn id="40" idx="0"/>
          </p:cNvCxnSpPr>
          <p:nvPr/>
        </p:nvCxnSpPr>
        <p:spPr bwMode="auto">
          <a:xfrm>
            <a:off x="4352649" y="3833245"/>
            <a:ext cx="900289" cy="48182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Oval 39"/>
          <p:cNvSpPr>
            <a:spLocks noChangeArrowheads="1"/>
          </p:cNvSpPr>
          <p:nvPr/>
        </p:nvSpPr>
        <p:spPr bwMode="auto">
          <a:xfrm>
            <a:off x="5001319" y="4315073"/>
            <a:ext cx="503238" cy="539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45</a:t>
            </a:r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2339752" y="5119911"/>
            <a:ext cx="503237" cy="54133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16</a:t>
            </a:r>
          </a:p>
        </p:txBody>
      </p:sp>
      <p:cxnSp>
        <p:nvCxnSpPr>
          <p:cNvPr id="45" name="Straight Connector 44"/>
          <p:cNvCxnSpPr>
            <a:cxnSpLocks noChangeShapeType="1"/>
            <a:stCxn id="38" idx="3"/>
            <a:endCxn id="44" idx="0"/>
          </p:cNvCxnSpPr>
          <p:nvPr/>
        </p:nvCxnSpPr>
        <p:spPr bwMode="auto">
          <a:xfrm flipH="1">
            <a:off x="2591371" y="4751709"/>
            <a:ext cx="361704" cy="368202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Rectangle 6"/>
          <p:cNvSpPr>
            <a:spLocks noChangeArrowheads="1"/>
          </p:cNvSpPr>
          <p:nvPr/>
        </p:nvSpPr>
        <p:spPr bwMode="auto">
          <a:xfrm>
            <a:off x="1979712" y="1340768"/>
            <a:ext cx="3024336" cy="43815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Char char="•"/>
            </a:pPr>
            <a:endParaRPr lang="en-US" altLang="en-US" sz="2800"/>
          </a:p>
        </p:txBody>
      </p:sp>
      <p:sp>
        <p:nvSpPr>
          <p:cNvPr id="51" name="Line 9"/>
          <p:cNvSpPr>
            <a:spLocks noChangeShapeType="1"/>
          </p:cNvSpPr>
          <p:nvPr/>
        </p:nvSpPr>
        <p:spPr bwMode="auto">
          <a:xfrm>
            <a:off x="2646165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Line 10"/>
          <p:cNvSpPr>
            <a:spLocks noChangeShapeType="1"/>
          </p:cNvSpPr>
          <p:nvPr/>
        </p:nvSpPr>
        <p:spPr bwMode="auto">
          <a:xfrm>
            <a:off x="3384352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Line 11"/>
          <p:cNvSpPr>
            <a:spLocks noChangeShapeType="1"/>
          </p:cNvSpPr>
          <p:nvPr/>
        </p:nvSpPr>
        <p:spPr bwMode="auto">
          <a:xfrm>
            <a:off x="4211960" y="135981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Line 21"/>
          <p:cNvSpPr>
            <a:spLocks noChangeShapeType="1"/>
          </p:cNvSpPr>
          <p:nvPr/>
        </p:nvSpPr>
        <p:spPr bwMode="auto">
          <a:xfrm>
            <a:off x="2371527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Line 22"/>
          <p:cNvSpPr>
            <a:spLocks noChangeShapeType="1"/>
          </p:cNvSpPr>
          <p:nvPr/>
        </p:nvSpPr>
        <p:spPr bwMode="auto">
          <a:xfrm>
            <a:off x="3117652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Line 23"/>
          <p:cNvSpPr>
            <a:spLocks noChangeShapeType="1"/>
          </p:cNvSpPr>
          <p:nvPr/>
        </p:nvSpPr>
        <p:spPr bwMode="auto">
          <a:xfrm>
            <a:off x="3865365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Line 11"/>
          <p:cNvSpPr>
            <a:spLocks noChangeShapeType="1"/>
          </p:cNvSpPr>
          <p:nvPr/>
        </p:nvSpPr>
        <p:spPr bwMode="auto">
          <a:xfrm>
            <a:off x="5004048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Line 23"/>
          <p:cNvSpPr>
            <a:spLocks noChangeShapeType="1"/>
          </p:cNvSpPr>
          <p:nvPr/>
        </p:nvSpPr>
        <p:spPr bwMode="auto">
          <a:xfrm>
            <a:off x="4613078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Text Box 36"/>
          <p:cNvSpPr txBox="1">
            <a:spLocks noChangeArrowheads="1"/>
          </p:cNvSpPr>
          <p:nvPr/>
        </p:nvSpPr>
        <p:spPr bwMode="auto">
          <a:xfrm>
            <a:off x="4353584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d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16</a:t>
            </a:r>
          </a:p>
        </p:txBody>
      </p:sp>
      <p:sp>
        <p:nvSpPr>
          <p:cNvPr id="62" name="Text Box 36"/>
          <p:cNvSpPr txBox="1">
            <a:spLocks noChangeArrowheads="1"/>
          </p:cNvSpPr>
          <p:nvPr/>
        </p:nvSpPr>
        <p:spPr bwMode="auto">
          <a:xfrm>
            <a:off x="2110446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c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12</a:t>
            </a:r>
          </a:p>
        </p:txBody>
      </p:sp>
      <p:sp>
        <p:nvSpPr>
          <p:cNvPr id="63" name="Text Box 36"/>
          <p:cNvSpPr txBox="1">
            <a:spLocks noChangeArrowheads="1"/>
          </p:cNvSpPr>
          <p:nvPr/>
        </p:nvSpPr>
        <p:spPr bwMode="auto">
          <a:xfrm>
            <a:off x="2858158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b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13</a:t>
            </a:r>
          </a:p>
        </p:txBody>
      </p:sp>
      <p:sp>
        <p:nvSpPr>
          <p:cNvPr id="64" name="Text Box 36"/>
          <p:cNvSpPr txBox="1">
            <a:spLocks noChangeArrowheads="1"/>
          </p:cNvSpPr>
          <p:nvPr/>
        </p:nvSpPr>
        <p:spPr bwMode="auto">
          <a:xfrm>
            <a:off x="3605871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a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45</a:t>
            </a:r>
          </a:p>
        </p:txBody>
      </p:sp>
      <p:sp>
        <p:nvSpPr>
          <p:cNvPr id="32" name="Line 18"/>
          <p:cNvSpPr>
            <a:spLocks noChangeShapeType="1"/>
          </p:cNvSpPr>
          <p:nvPr/>
        </p:nvSpPr>
        <p:spPr bwMode="auto">
          <a:xfrm rot="2537517">
            <a:off x="1070001" y="4153859"/>
            <a:ext cx="22216" cy="4317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Text Box 30"/>
          <p:cNvSpPr txBox="1">
            <a:spLocks noChangeArrowheads="1"/>
          </p:cNvSpPr>
          <p:nvPr/>
        </p:nvSpPr>
        <p:spPr bwMode="auto">
          <a:xfrm>
            <a:off x="701873" y="4538698"/>
            <a:ext cx="539764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f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5</a:t>
            </a:r>
            <a:endParaRPr lang="en-US" altLang="en-US" sz="2800" dirty="0"/>
          </a:p>
        </p:txBody>
      </p: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1507497" y="4536936"/>
            <a:ext cx="530007" cy="57913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e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9</a:t>
            </a:r>
            <a:endParaRPr lang="en-US" altLang="en-US" sz="2800" dirty="0"/>
          </a:p>
        </p:txBody>
      </p:sp>
      <p:sp>
        <p:nvSpPr>
          <p:cNvPr id="35" name="Line 43"/>
          <p:cNvSpPr>
            <a:spLocks noChangeShapeType="1"/>
          </p:cNvSpPr>
          <p:nvPr/>
        </p:nvSpPr>
        <p:spPr bwMode="auto">
          <a:xfrm rot="19062483" flipH="1">
            <a:off x="1614558" y="4151378"/>
            <a:ext cx="16761" cy="4367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Text Box 45"/>
          <p:cNvSpPr txBox="1">
            <a:spLocks noChangeArrowheads="1"/>
          </p:cNvSpPr>
          <p:nvPr/>
        </p:nvSpPr>
        <p:spPr bwMode="auto">
          <a:xfrm>
            <a:off x="1118436" y="3833245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14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Exercise 1.1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528" y="3243208"/>
            <a:ext cx="2360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delmin</a:t>
            </a:r>
            <a:r>
              <a:rPr lang="en-US" sz="2400" dirty="0"/>
              <a:t> two times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9959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6"/>
          <p:cNvSpPr>
            <a:spLocks noChangeArrowheads="1"/>
          </p:cNvSpPr>
          <p:nvPr/>
        </p:nvSpPr>
        <p:spPr bwMode="auto">
          <a:xfrm>
            <a:off x="1979712" y="1340768"/>
            <a:ext cx="4032448" cy="43815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Char char="•"/>
            </a:pPr>
            <a:endParaRPr lang="en-US" altLang="en-US" sz="2800"/>
          </a:p>
        </p:txBody>
      </p:sp>
      <p:sp>
        <p:nvSpPr>
          <p:cNvPr id="51" name="Line 9"/>
          <p:cNvSpPr>
            <a:spLocks noChangeShapeType="1"/>
          </p:cNvSpPr>
          <p:nvPr/>
        </p:nvSpPr>
        <p:spPr bwMode="auto">
          <a:xfrm>
            <a:off x="2646165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Line 10"/>
          <p:cNvSpPr>
            <a:spLocks noChangeShapeType="1"/>
          </p:cNvSpPr>
          <p:nvPr/>
        </p:nvSpPr>
        <p:spPr bwMode="auto">
          <a:xfrm>
            <a:off x="3384352" y="134076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Line 11"/>
          <p:cNvSpPr>
            <a:spLocks noChangeShapeType="1"/>
          </p:cNvSpPr>
          <p:nvPr/>
        </p:nvSpPr>
        <p:spPr bwMode="auto">
          <a:xfrm>
            <a:off x="4211960" y="135981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11"/>
          <p:cNvSpPr>
            <a:spLocks noChangeShapeType="1"/>
          </p:cNvSpPr>
          <p:nvPr/>
        </p:nvSpPr>
        <p:spPr bwMode="auto">
          <a:xfrm>
            <a:off x="5076056" y="135981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Line 23"/>
          <p:cNvSpPr>
            <a:spLocks noChangeShapeType="1"/>
          </p:cNvSpPr>
          <p:nvPr/>
        </p:nvSpPr>
        <p:spPr bwMode="auto">
          <a:xfrm>
            <a:off x="5580112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58" name="Straight Connector 57"/>
          <p:cNvCxnSpPr>
            <a:cxnSpLocks noChangeShapeType="1"/>
            <a:stCxn id="65" idx="3"/>
            <a:endCxn id="66" idx="0"/>
          </p:cNvCxnSpPr>
          <p:nvPr/>
        </p:nvCxnSpPr>
        <p:spPr bwMode="auto">
          <a:xfrm flipH="1">
            <a:off x="3130997" y="3833245"/>
            <a:ext cx="865809" cy="45640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Oval 64"/>
          <p:cNvSpPr>
            <a:spLocks noChangeArrowheads="1"/>
          </p:cNvSpPr>
          <p:nvPr/>
        </p:nvSpPr>
        <p:spPr bwMode="auto">
          <a:xfrm>
            <a:off x="3923109" y="3371184"/>
            <a:ext cx="503237" cy="541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12</a:t>
            </a:r>
          </a:p>
        </p:txBody>
      </p:sp>
      <p:sp>
        <p:nvSpPr>
          <p:cNvPr id="66" name="Oval 65"/>
          <p:cNvSpPr>
            <a:spLocks noChangeArrowheads="1"/>
          </p:cNvSpPr>
          <p:nvPr/>
        </p:nvSpPr>
        <p:spPr bwMode="auto">
          <a:xfrm>
            <a:off x="2879378" y="4289648"/>
            <a:ext cx="503238" cy="541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13</a:t>
            </a:r>
          </a:p>
        </p:txBody>
      </p:sp>
      <p:cxnSp>
        <p:nvCxnSpPr>
          <p:cNvPr id="67" name="Straight Connector 66"/>
          <p:cNvCxnSpPr>
            <a:cxnSpLocks noChangeShapeType="1"/>
            <a:stCxn id="65" idx="5"/>
            <a:endCxn id="68" idx="0"/>
          </p:cNvCxnSpPr>
          <p:nvPr/>
        </p:nvCxnSpPr>
        <p:spPr bwMode="auto">
          <a:xfrm>
            <a:off x="4352649" y="3833245"/>
            <a:ext cx="900289" cy="48182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" name="Oval 67"/>
          <p:cNvSpPr>
            <a:spLocks noChangeArrowheads="1"/>
          </p:cNvSpPr>
          <p:nvPr/>
        </p:nvSpPr>
        <p:spPr bwMode="auto">
          <a:xfrm>
            <a:off x="5001319" y="4315073"/>
            <a:ext cx="503238" cy="539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45</a:t>
            </a:r>
          </a:p>
        </p:txBody>
      </p:sp>
      <p:cxnSp>
        <p:nvCxnSpPr>
          <p:cNvPr id="69" name="Straight Connector 68"/>
          <p:cNvCxnSpPr>
            <a:cxnSpLocks noChangeShapeType="1"/>
            <a:stCxn id="66" idx="5"/>
            <a:endCxn id="70" idx="0"/>
          </p:cNvCxnSpPr>
          <p:nvPr/>
        </p:nvCxnSpPr>
        <p:spPr bwMode="auto">
          <a:xfrm>
            <a:off x="3308919" y="4751709"/>
            <a:ext cx="361753" cy="368202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" name="Oval 69"/>
          <p:cNvSpPr>
            <a:spLocks noChangeArrowheads="1"/>
          </p:cNvSpPr>
          <p:nvPr/>
        </p:nvSpPr>
        <p:spPr bwMode="auto">
          <a:xfrm>
            <a:off x="3419053" y="5119911"/>
            <a:ext cx="503237" cy="54133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14</a:t>
            </a:r>
          </a:p>
        </p:txBody>
      </p:sp>
      <p:sp>
        <p:nvSpPr>
          <p:cNvPr id="71" name="Oval 70"/>
          <p:cNvSpPr>
            <a:spLocks noChangeArrowheads="1"/>
          </p:cNvSpPr>
          <p:nvPr/>
        </p:nvSpPr>
        <p:spPr bwMode="auto">
          <a:xfrm>
            <a:off x="2339752" y="5119911"/>
            <a:ext cx="503237" cy="54133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16</a:t>
            </a:r>
          </a:p>
        </p:txBody>
      </p:sp>
      <p:cxnSp>
        <p:nvCxnSpPr>
          <p:cNvPr id="72" name="Straight Connector 71"/>
          <p:cNvCxnSpPr>
            <a:cxnSpLocks noChangeShapeType="1"/>
            <a:stCxn id="66" idx="3"/>
            <a:endCxn id="71" idx="0"/>
          </p:cNvCxnSpPr>
          <p:nvPr/>
        </p:nvCxnSpPr>
        <p:spPr bwMode="auto">
          <a:xfrm flipH="1">
            <a:off x="2591371" y="4751709"/>
            <a:ext cx="361704" cy="368202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5" name="Line 18"/>
          <p:cNvSpPr>
            <a:spLocks noChangeShapeType="1"/>
          </p:cNvSpPr>
          <p:nvPr/>
        </p:nvSpPr>
        <p:spPr bwMode="auto">
          <a:xfrm rot="2537517">
            <a:off x="5312356" y="2440876"/>
            <a:ext cx="22216" cy="4317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Text Box 30"/>
          <p:cNvSpPr txBox="1">
            <a:spLocks noChangeArrowheads="1"/>
          </p:cNvSpPr>
          <p:nvPr/>
        </p:nvSpPr>
        <p:spPr bwMode="auto">
          <a:xfrm>
            <a:off x="4944228" y="2825715"/>
            <a:ext cx="539764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f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5</a:t>
            </a:r>
            <a:endParaRPr lang="en-US" altLang="en-US" sz="2800" dirty="0"/>
          </a:p>
        </p:txBody>
      </p:sp>
      <p:sp>
        <p:nvSpPr>
          <p:cNvPr id="77" name="Text Box 31"/>
          <p:cNvSpPr txBox="1">
            <a:spLocks noChangeArrowheads="1"/>
          </p:cNvSpPr>
          <p:nvPr/>
        </p:nvSpPr>
        <p:spPr bwMode="auto">
          <a:xfrm>
            <a:off x="5749852" y="2823953"/>
            <a:ext cx="530007" cy="57913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e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9</a:t>
            </a:r>
            <a:endParaRPr lang="en-US" altLang="en-US" sz="2800" dirty="0"/>
          </a:p>
        </p:txBody>
      </p:sp>
      <p:sp>
        <p:nvSpPr>
          <p:cNvPr id="78" name="Line 43"/>
          <p:cNvSpPr>
            <a:spLocks noChangeShapeType="1"/>
          </p:cNvSpPr>
          <p:nvPr/>
        </p:nvSpPr>
        <p:spPr bwMode="auto">
          <a:xfrm rot="19062483" flipH="1">
            <a:off x="5856913" y="2438395"/>
            <a:ext cx="16761" cy="4367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5360791" y="2120262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14</a:t>
            </a:r>
          </a:p>
        </p:txBody>
      </p:sp>
      <p:sp>
        <p:nvSpPr>
          <p:cNvPr id="80" name="Line 21"/>
          <p:cNvSpPr>
            <a:spLocks noChangeShapeType="1"/>
          </p:cNvSpPr>
          <p:nvPr/>
        </p:nvSpPr>
        <p:spPr bwMode="auto">
          <a:xfrm>
            <a:off x="2371527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" name="Line 22"/>
          <p:cNvSpPr>
            <a:spLocks noChangeShapeType="1"/>
          </p:cNvSpPr>
          <p:nvPr/>
        </p:nvSpPr>
        <p:spPr bwMode="auto">
          <a:xfrm>
            <a:off x="3117652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" name="Line 23"/>
          <p:cNvSpPr>
            <a:spLocks noChangeShapeType="1"/>
          </p:cNvSpPr>
          <p:nvPr/>
        </p:nvSpPr>
        <p:spPr bwMode="auto">
          <a:xfrm>
            <a:off x="3865365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" name="Line 23"/>
          <p:cNvSpPr>
            <a:spLocks noChangeShapeType="1"/>
          </p:cNvSpPr>
          <p:nvPr/>
        </p:nvSpPr>
        <p:spPr bwMode="auto">
          <a:xfrm>
            <a:off x="4613078" y="1578893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" name="Text Box 36"/>
          <p:cNvSpPr txBox="1">
            <a:spLocks noChangeArrowheads="1"/>
          </p:cNvSpPr>
          <p:nvPr/>
        </p:nvSpPr>
        <p:spPr bwMode="auto">
          <a:xfrm>
            <a:off x="4353584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d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16</a:t>
            </a:r>
          </a:p>
        </p:txBody>
      </p:sp>
      <p:sp>
        <p:nvSpPr>
          <p:cNvPr id="85" name="Text Box 36"/>
          <p:cNvSpPr txBox="1">
            <a:spLocks noChangeArrowheads="1"/>
          </p:cNvSpPr>
          <p:nvPr/>
        </p:nvSpPr>
        <p:spPr bwMode="auto">
          <a:xfrm>
            <a:off x="2110446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c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12</a:t>
            </a:r>
          </a:p>
        </p:txBody>
      </p:sp>
      <p:sp>
        <p:nvSpPr>
          <p:cNvPr id="86" name="Text Box 36"/>
          <p:cNvSpPr txBox="1">
            <a:spLocks noChangeArrowheads="1"/>
          </p:cNvSpPr>
          <p:nvPr/>
        </p:nvSpPr>
        <p:spPr bwMode="auto">
          <a:xfrm>
            <a:off x="2858158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b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13</a:t>
            </a:r>
          </a:p>
        </p:txBody>
      </p:sp>
      <p:sp>
        <p:nvSpPr>
          <p:cNvPr id="87" name="Text Box 36"/>
          <p:cNvSpPr txBox="1">
            <a:spLocks noChangeArrowheads="1"/>
          </p:cNvSpPr>
          <p:nvPr/>
        </p:nvSpPr>
        <p:spPr bwMode="auto">
          <a:xfrm>
            <a:off x="3605871" y="212181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a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45</a:t>
            </a:r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Exercise 1.1 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3528" y="3243208"/>
            <a:ext cx="26999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insert the new node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4213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6"/>
          <p:cNvSpPr>
            <a:spLocks noChangeArrowheads="1"/>
          </p:cNvSpPr>
          <p:nvPr/>
        </p:nvSpPr>
        <p:spPr bwMode="auto">
          <a:xfrm>
            <a:off x="2339752" y="764704"/>
            <a:ext cx="2880319" cy="43815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Char char="•"/>
            </a:pPr>
            <a:endParaRPr lang="en-US" altLang="en-US" sz="2800"/>
          </a:p>
        </p:txBody>
      </p:sp>
      <p:sp>
        <p:nvSpPr>
          <p:cNvPr id="53" name="Line 11"/>
          <p:cNvSpPr>
            <a:spLocks noChangeShapeType="1"/>
          </p:cNvSpPr>
          <p:nvPr/>
        </p:nvSpPr>
        <p:spPr bwMode="auto">
          <a:xfrm>
            <a:off x="3419872" y="783754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11"/>
          <p:cNvSpPr>
            <a:spLocks noChangeShapeType="1"/>
          </p:cNvSpPr>
          <p:nvPr/>
        </p:nvSpPr>
        <p:spPr bwMode="auto">
          <a:xfrm>
            <a:off x="4283968" y="783754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Line 23"/>
          <p:cNvSpPr>
            <a:spLocks noChangeShapeType="1"/>
          </p:cNvSpPr>
          <p:nvPr/>
        </p:nvSpPr>
        <p:spPr bwMode="auto">
          <a:xfrm>
            <a:off x="4788024" y="1002829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58" name="Straight Connector 57"/>
          <p:cNvCxnSpPr>
            <a:cxnSpLocks noChangeShapeType="1"/>
            <a:stCxn id="65" idx="3"/>
            <a:endCxn id="66" idx="0"/>
          </p:cNvCxnSpPr>
          <p:nvPr/>
        </p:nvCxnSpPr>
        <p:spPr bwMode="auto">
          <a:xfrm flipH="1">
            <a:off x="3130997" y="3833245"/>
            <a:ext cx="865809" cy="45640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Oval 64"/>
          <p:cNvSpPr>
            <a:spLocks noChangeArrowheads="1"/>
          </p:cNvSpPr>
          <p:nvPr/>
        </p:nvSpPr>
        <p:spPr bwMode="auto">
          <a:xfrm>
            <a:off x="3923109" y="3371184"/>
            <a:ext cx="503237" cy="541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14</a:t>
            </a:r>
          </a:p>
        </p:txBody>
      </p:sp>
      <p:sp>
        <p:nvSpPr>
          <p:cNvPr id="66" name="Oval 65"/>
          <p:cNvSpPr>
            <a:spLocks noChangeArrowheads="1"/>
          </p:cNvSpPr>
          <p:nvPr/>
        </p:nvSpPr>
        <p:spPr bwMode="auto">
          <a:xfrm>
            <a:off x="2879378" y="4289648"/>
            <a:ext cx="503238" cy="541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16</a:t>
            </a:r>
          </a:p>
        </p:txBody>
      </p:sp>
      <p:cxnSp>
        <p:nvCxnSpPr>
          <p:cNvPr id="67" name="Straight Connector 66"/>
          <p:cNvCxnSpPr>
            <a:cxnSpLocks noChangeShapeType="1"/>
            <a:stCxn id="65" idx="5"/>
            <a:endCxn id="68" idx="0"/>
          </p:cNvCxnSpPr>
          <p:nvPr/>
        </p:nvCxnSpPr>
        <p:spPr bwMode="auto">
          <a:xfrm>
            <a:off x="4352649" y="3833245"/>
            <a:ext cx="900289" cy="48182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" name="Oval 67"/>
          <p:cNvSpPr>
            <a:spLocks noChangeArrowheads="1"/>
          </p:cNvSpPr>
          <p:nvPr/>
        </p:nvSpPr>
        <p:spPr bwMode="auto">
          <a:xfrm>
            <a:off x="5001319" y="4315073"/>
            <a:ext cx="503238" cy="539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45</a:t>
            </a:r>
          </a:p>
        </p:txBody>
      </p:sp>
      <p:sp>
        <p:nvSpPr>
          <p:cNvPr id="75" name="Line 18"/>
          <p:cNvSpPr>
            <a:spLocks noChangeShapeType="1"/>
          </p:cNvSpPr>
          <p:nvPr/>
        </p:nvSpPr>
        <p:spPr bwMode="auto">
          <a:xfrm rot="2537517">
            <a:off x="2542935" y="1866368"/>
            <a:ext cx="22216" cy="4317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Text Box 30"/>
          <p:cNvSpPr txBox="1">
            <a:spLocks noChangeArrowheads="1"/>
          </p:cNvSpPr>
          <p:nvPr/>
        </p:nvSpPr>
        <p:spPr bwMode="auto">
          <a:xfrm>
            <a:off x="2174807" y="2251207"/>
            <a:ext cx="539764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f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5</a:t>
            </a:r>
            <a:endParaRPr lang="en-US" altLang="en-US" sz="2800" dirty="0"/>
          </a:p>
        </p:txBody>
      </p:sp>
      <p:sp>
        <p:nvSpPr>
          <p:cNvPr id="77" name="Text Box 31"/>
          <p:cNvSpPr txBox="1">
            <a:spLocks noChangeArrowheads="1"/>
          </p:cNvSpPr>
          <p:nvPr/>
        </p:nvSpPr>
        <p:spPr bwMode="auto">
          <a:xfrm>
            <a:off x="2980431" y="2249445"/>
            <a:ext cx="530007" cy="57913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e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9</a:t>
            </a:r>
            <a:endParaRPr lang="en-US" altLang="en-US" sz="2800" dirty="0"/>
          </a:p>
        </p:txBody>
      </p:sp>
      <p:sp>
        <p:nvSpPr>
          <p:cNvPr id="78" name="Line 43"/>
          <p:cNvSpPr>
            <a:spLocks noChangeShapeType="1"/>
          </p:cNvSpPr>
          <p:nvPr/>
        </p:nvSpPr>
        <p:spPr bwMode="auto">
          <a:xfrm rot="19062483" flipH="1">
            <a:off x="3087492" y="1863887"/>
            <a:ext cx="16761" cy="4367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2591370" y="1545754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14</a:t>
            </a:r>
          </a:p>
        </p:txBody>
      </p:sp>
      <p:sp>
        <p:nvSpPr>
          <p:cNvPr id="82" name="Line 23"/>
          <p:cNvSpPr>
            <a:spLocks noChangeShapeType="1"/>
          </p:cNvSpPr>
          <p:nvPr/>
        </p:nvSpPr>
        <p:spPr bwMode="auto">
          <a:xfrm>
            <a:off x="2845406" y="1002829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" name="Line 23"/>
          <p:cNvSpPr>
            <a:spLocks noChangeShapeType="1"/>
          </p:cNvSpPr>
          <p:nvPr/>
        </p:nvSpPr>
        <p:spPr bwMode="auto">
          <a:xfrm>
            <a:off x="3820990" y="1002829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" name="Text Box 36"/>
          <p:cNvSpPr txBox="1">
            <a:spLocks noChangeArrowheads="1"/>
          </p:cNvSpPr>
          <p:nvPr/>
        </p:nvSpPr>
        <p:spPr bwMode="auto">
          <a:xfrm>
            <a:off x="3561496" y="1545754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d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16</a:t>
            </a:r>
          </a:p>
        </p:txBody>
      </p:sp>
      <p:sp>
        <p:nvSpPr>
          <p:cNvPr id="87" name="Text Box 36"/>
          <p:cNvSpPr txBox="1">
            <a:spLocks noChangeArrowheads="1"/>
          </p:cNvSpPr>
          <p:nvPr/>
        </p:nvSpPr>
        <p:spPr bwMode="auto">
          <a:xfrm>
            <a:off x="4528530" y="1557007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a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45</a:t>
            </a:r>
          </a:p>
        </p:txBody>
      </p:sp>
      <p:sp>
        <p:nvSpPr>
          <p:cNvPr id="30" name="Line 18"/>
          <p:cNvSpPr>
            <a:spLocks noChangeShapeType="1"/>
          </p:cNvSpPr>
          <p:nvPr/>
        </p:nvSpPr>
        <p:spPr bwMode="auto">
          <a:xfrm rot="2537517">
            <a:off x="1070001" y="4153859"/>
            <a:ext cx="22216" cy="4317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701873" y="4538698"/>
            <a:ext cx="539764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c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12</a:t>
            </a:r>
            <a:endParaRPr lang="en-US" altLang="en-US" sz="2800" dirty="0"/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1507497" y="4536936"/>
            <a:ext cx="530007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b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13</a:t>
            </a:r>
            <a:endParaRPr lang="en-US" altLang="en-US" sz="2800" dirty="0"/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 rot="19062483" flipH="1">
            <a:off x="1614558" y="4151378"/>
            <a:ext cx="16761" cy="4367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45"/>
          <p:cNvSpPr txBox="1">
            <a:spLocks noChangeArrowheads="1"/>
          </p:cNvSpPr>
          <p:nvPr/>
        </p:nvSpPr>
        <p:spPr bwMode="auto">
          <a:xfrm>
            <a:off x="1118436" y="3833245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3528" y="3243208"/>
            <a:ext cx="2360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delmin</a:t>
            </a:r>
            <a:r>
              <a:rPr lang="en-US" sz="2400" dirty="0"/>
              <a:t> two times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6224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6"/>
          <p:cNvSpPr>
            <a:spLocks noChangeArrowheads="1"/>
          </p:cNvSpPr>
          <p:nvPr/>
        </p:nvSpPr>
        <p:spPr bwMode="auto">
          <a:xfrm>
            <a:off x="2339752" y="764704"/>
            <a:ext cx="4104456" cy="43815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Char char="•"/>
            </a:pPr>
            <a:endParaRPr lang="en-US" altLang="en-US" sz="2800"/>
          </a:p>
        </p:txBody>
      </p:sp>
      <p:sp>
        <p:nvSpPr>
          <p:cNvPr id="53" name="Line 11"/>
          <p:cNvSpPr>
            <a:spLocks noChangeShapeType="1"/>
          </p:cNvSpPr>
          <p:nvPr/>
        </p:nvSpPr>
        <p:spPr bwMode="auto">
          <a:xfrm>
            <a:off x="3419872" y="783754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11"/>
          <p:cNvSpPr>
            <a:spLocks noChangeShapeType="1"/>
          </p:cNvSpPr>
          <p:nvPr/>
        </p:nvSpPr>
        <p:spPr bwMode="auto">
          <a:xfrm>
            <a:off x="4283968" y="783754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Line 23"/>
          <p:cNvSpPr>
            <a:spLocks noChangeShapeType="1"/>
          </p:cNvSpPr>
          <p:nvPr/>
        </p:nvSpPr>
        <p:spPr bwMode="auto">
          <a:xfrm>
            <a:off x="4788024" y="1002829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58" name="Straight Connector 57"/>
          <p:cNvCxnSpPr>
            <a:cxnSpLocks noChangeShapeType="1"/>
            <a:stCxn id="65" idx="3"/>
            <a:endCxn id="66" idx="0"/>
          </p:cNvCxnSpPr>
          <p:nvPr/>
        </p:nvCxnSpPr>
        <p:spPr bwMode="auto">
          <a:xfrm flipH="1">
            <a:off x="3130997" y="3833245"/>
            <a:ext cx="865809" cy="45640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Oval 64"/>
          <p:cNvSpPr>
            <a:spLocks noChangeArrowheads="1"/>
          </p:cNvSpPr>
          <p:nvPr/>
        </p:nvSpPr>
        <p:spPr bwMode="auto">
          <a:xfrm>
            <a:off x="3923109" y="3371184"/>
            <a:ext cx="503237" cy="541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14</a:t>
            </a:r>
          </a:p>
        </p:txBody>
      </p:sp>
      <p:sp>
        <p:nvSpPr>
          <p:cNvPr id="66" name="Oval 65"/>
          <p:cNvSpPr>
            <a:spLocks noChangeArrowheads="1"/>
          </p:cNvSpPr>
          <p:nvPr/>
        </p:nvSpPr>
        <p:spPr bwMode="auto">
          <a:xfrm>
            <a:off x="2879378" y="4289648"/>
            <a:ext cx="503238" cy="541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16</a:t>
            </a:r>
          </a:p>
        </p:txBody>
      </p:sp>
      <p:cxnSp>
        <p:nvCxnSpPr>
          <p:cNvPr id="67" name="Straight Connector 66"/>
          <p:cNvCxnSpPr>
            <a:cxnSpLocks noChangeShapeType="1"/>
            <a:stCxn id="65" idx="5"/>
            <a:endCxn id="68" idx="0"/>
          </p:cNvCxnSpPr>
          <p:nvPr/>
        </p:nvCxnSpPr>
        <p:spPr bwMode="auto">
          <a:xfrm>
            <a:off x="4352649" y="3833245"/>
            <a:ext cx="900289" cy="48182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" name="Oval 67"/>
          <p:cNvSpPr>
            <a:spLocks noChangeArrowheads="1"/>
          </p:cNvSpPr>
          <p:nvPr/>
        </p:nvSpPr>
        <p:spPr bwMode="auto">
          <a:xfrm>
            <a:off x="5001319" y="4315073"/>
            <a:ext cx="503238" cy="539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45</a:t>
            </a:r>
          </a:p>
        </p:txBody>
      </p:sp>
      <p:sp>
        <p:nvSpPr>
          <p:cNvPr id="71" name="Oval 70"/>
          <p:cNvSpPr>
            <a:spLocks noChangeArrowheads="1"/>
          </p:cNvSpPr>
          <p:nvPr/>
        </p:nvSpPr>
        <p:spPr bwMode="auto">
          <a:xfrm>
            <a:off x="2339752" y="5119911"/>
            <a:ext cx="503237" cy="54133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25</a:t>
            </a:r>
          </a:p>
        </p:txBody>
      </p:sp>
      <p:cxnSp>
        <p:nvCxnSpPr>
          <p:cNvPr id="72" name="Straight Connector 71"/>
          <p:cNvCxnSpPr>
            <a:cxnSpLocks noChangeShapeType="1"/>
            <a:stCxn id="66" idx="3"/>
            <a:endCxn id="71" idx="0"/>
          </p:cNvCxnSpPr>
          <p:nvPr/>
        </p:nvCxnSpPr>
        <p:spPr bwMode="auto">
          <a:xfrm flipH="1">
            <a:off x="2591371" y="4751709"/>
            <a:ext cx="361704" cy="368202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5" name="Line 18"/>
          <p:cNvSpPr>
            <a:spLocks noChangeShapeType="1"/>
          </p:cNvSpPr>
          <p:nvPr/>
        </p:nvSpPr>
        <p:spPr bwMode="auto">
          <a:xfrm rot="2537517">
            <a:off x="2542935" y="1866368"/>
            <a:ext cx="22216" cy="4317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Text Box 30"/>
          <p:cNvSpPr txBox="1">
            <a:spLocks noChangeArrowheads="1"/>
          </p:cNvSpPr>
          <p:nvPr/>
        </p:nvSpPr>
        <p:spPr bwMode="auto">
          <a:xfrm>
            <a:off x="2174807" y="2251207"/>
            <a:ext cx="539764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f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5</a:t>
            </a:r>
            <a:endParaRPr lang="en-US" altLang="en-US" sz="2800" dirty="0"/>
          </a:p>
        </p:txBody>
      </p:sp>
      <p:sp>
        <p:nvSpPr>
          <p:cNvPr id="77" name="Text Box 31"/>
          <p:cNvSpPr txBox="1">
            <a:spLocks noChangeArrowheads="1"/>
          </p:cNvSpPr>
          <p:nvPr/>
        </p:nvSpPr>
        <p:spPr bwMode="auto">
          <a:xfrm>
            <a:off x="2980431" y="2249445"/>
            <a:ext cx="530007" cy="57913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e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9</a:t>
            </a:r>
            <a:endParaRPr lang="en-US" altLang="en-US" sz="2800" dirty="0"/>
          </a:p>
        </p:txBody>
      </p:sp>
      <p:sp>
        <p:nvSpPr>
          <p:cNvPr id="78" name="Line 43"/>
          <p:cNvSpPr>
            <a:spLocks noChangeShapeType="1"/>
          </p:cNvSpPr>
          <p:nvPr/>
        </p:nvSpPr>
        <p:spPr bwMode="auto">
          <a:xfrm rot="19062483" flipH="1">
            <a:off x="3087492" y="1863887"/>
            <a:ext cx="16761" cy="4367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2591370" y="1545754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14</a:t>
            </a:r>
          </a:p>
        </p:txBody>
      </p:sp>
      <p:sp>
        <p:nvSpPr>
          <p:cNvPr id="82" name="Line 23"/>
          <p:cNvSpPr>
            <a:spLocks noChangeShapeType="1"/>
          </p:cNvSpPr>
          <p:nvPr/>
        </p:nvSpPr>
        <p:spPr bwMode="auto">
          <a:xfrm>
            <a:off x="2845406" y="1002829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" name="Line 23"/>
          <p:cNvSpPr>
            <a:spLocks noChangeShapeType="1"/>
          </p:cNvSpPr>
          <p:nvPr/>
        </p:nvSpPr>
        <p:spPr bwMode="auto">
          <a:xfrm>
            <a:off x="3820990" y="1002829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" name="Text Box 36"/>
          <p:cNvSpPr txBox="1">
            <a:spLocks noChangeArrowheads="1"/>
          </p:cNvSpPr>
          <p:nvPr/>
        </p:nvSpPr>
        <p:spPr bwMode="auto">
          <a:xfrm>
            <a:off x="3561496" y="1545754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d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16</a:t>
            </a:r>
          </a:p>
        </p:txBody>
      </p:sp>
      <p:sp>
        <p:nvSpPr>
          <p:cNvPr id="87" name="Text Box 36"/>
          <p:cNvSpPr txBox="1">
            <a:spLocks noChangeArrowheads="1"/>
          </p:cNvSpPr>
          <p:nvPr/>
        </p:nvSpPr>
        <p:spPr bwMode="auto">
          <a:xfrm>
            <a:off x="4528530" y="1557007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a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45</a:t>
            </a:r>
          </a:p>
        </p:txBody>
      </p:sp>
      <p:sp>
        <p:nvSpPr>
          <p:cNvPr id="30" name="Line 18"/>
          <p:cNvSpPr>
            <a:spLocks noChangeShapeType="1"/>
          </p:cNvSpPr>
          <p:nvPr/>
        </p:nvSpPr>
        <p:spPr bwMode="auto">
          <a:xfrm rot="2537517">
            <a:off x="5615291" y="1866368"/>
            <a:ext cx="22216" cy="4317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5247163" y="2251207"/>
            <a:ext cx="539764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c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12</a:t>
            </a:r>
            <a:endParaRPr lang="en-US" altLang="en-US" sz="2800" dirty="0"/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6052787" y="2249445"/>
            <a:ext cx="530007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b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13</a:t>
            </a:r>
            <a:endParaRPr lang="en-US" altLang="en-US" sz="2800" dirty="0"/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 rot="19062483" flipH="1">
            <a:off x="6159848" y="1863887"/>
            <a:ext cx="16761" cy="4367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45"/>
          <p:cNvSpPr txBox="1">
            <a:spLocks noChangeArrowheads="1"/>
          </p:cNvSpPr>
          <p:nvPr/>
        </p:nvSpPr>
        <p:spPr bwMode="auto">
          <a:xfrm>
            <a:off x="5663726" y="1545754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25</a:t>
            </a:r>
          </a:p>
        </p:txBody>
      </p:sp>
      <p:sp>
        <p:nvSpPr>
          <p:cNvPr id="29" name="Line 11"/>
          <p:cNvSpPr>
            <a:spLocks noChangeShapeType="1"/>
          </p:cNvSpPr>
          <p:nvPr/>
        </p:nvSpPr>
        <p:spPr bwMode="auto">
          <a:xfrm>
            <a:off x="5364088" y="783754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Line 23"/>
          <p:cNvSpPr>
            <a:spLocks noChangeShapeType="1"/>
          </p:cNvSpPr>
          <p:nvPr/>
        </p:nvSpPr>
        <p:spPr bwMode="auto">
          <a:xfrm>
            <a:off x="5868144" y="1002829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323528" y="3243208"/>
            <a:ext cx="26999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insert the new node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173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6"/>
          <p:cNvSpPr>
            <a:spLocks noChangeArrowheads="1"/>
          </p:cNvSpPr>
          <p:nvPr/>
        </p:nvSpPr>
        <p:spPr bwMode="auto">
          <a:xfrm>
            <a:off x="2339752" y="764704"/>
            <a:ext cx="2234237" cy="43815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Char char="•"/>
            </a:pPr>
            <a:endParaRPr lang="en-US" altLang="en-US" sz="2800"/>
          </a:p>
        </p:txBody>
      </p:sp>
      <p:sp>
        <p:nvSpPr>
          <p:cNvPr id="53" name="Line 11"/>
          <p:cNvSpPr>
            <a:spLocks noChangeShapeType="1"/>
          </p:cNvSpPr>
          <p:nvPr/>
        </p:nvSpPr>
        <p:spPr bwMode="auto">
          <a:xfrm>
            <a:off x="3419872" y="783754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Line 23"/>
          <p:cNvSpPr>
            <a:spLocks noChangeShapeType="1"/>
          </p:cNvSpPr>
          <p:nvPr/>
        </p:nvSpPr>
        <p:spPr bwMode="auto">
          <a:xfrm>
            <a:off x="3923109" y="999002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58" name="Straight Connector 57"/>
          <p:cNvCxnSpPr>
            <a:cxnSpLocks noChangeShapeType="1"/>
            <a:stCxn id="65" idx="3"/>
            <a:endCxn id="66" idx="0"/>
          </p:cNvCxnSpPr>
          <p:nvPr/>
        </p:nvCxnSpPr>
        <p:spPr bwMode="auto">
          <a:xfrm flipH="1">
            <a:off x="3130997" y="3833245"/>
            <a:ext cx="865809" cy="45640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Oval 64"/>
          <p:cNvSpPr>
            <a:spLocks noChangeArrowheads="1"/>
          </p:cNvSpPr>
          <p:nvPr/>
        </p:nvSpPr>
        <p:spPr bwMode="auto">
          <a:xfrm>
            <a:off x="3923109" y="3371184"/>
            <a:ext cx="503237" cy="541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25</a:t>
            </a:r>
          </a:p>
        </p:txBody>
      </p:sp>
      <p:sp>
        <p:nvSpPr>
          <p:cNvPr id="66" name="Oval 65"/>
          <p:cNvSpPr>
            <a:spLocks noChangeArrowheads="1"/>
          </p:cNvSpPr>
          <p:nvPr/>
        </p:nvSpPr>
        <p:spPr bwMode="auto">
          <a:xfrm>
            <a:off x="2879378" y="4289648"/>
            <a:ext cx="503238" cy="541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45</a:t>
            </a:r>
          </a:p>
        </p:txBody>
      </p:sp>
      <p:sp>
        <p:nvSpPr>
          <p:cNvPr id="75" name="Line 18"/>
          <p:cNvSpPr>
            <a:spLocks noChangeShapeType="1"/>
          </p:cNvSpPr>
          <p:nvPr/>
        </p:nvSpPr>
        <p:spPr bwMode="auto">
          <a:xfrm rot="2537517">
            <a:off x="910199" y="4960412"/>
            <a:ext cx="22216" cy="4317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Text Box 30"/>
          <p:cNvSpPr txBox="1">
            <a:spLocks noChangeArrowheads="1"/>
          </p:cNvSpPr>
          <p:nvPr/>
        </p:nvSpPr>
        <p:spPr bwMode="auto">
          <a:xfrm>
            <a:off x="542071" y="5345251"/>
            <a:ext cx="539764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f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5</a:t>
            </a:r>
            <a:endParaRPr lang="en-US" altLang="en-US" sz="2800" dirty="0"/>
          </a:p>
        </p:txBody>
      </p:sp>
      <p:sp>
        <p:nvSpPr>
          <p:cNvPr id="77" name="Text Box 31"/>
          <p:cNvSpPr txBox="1">
            <a:spLocks noChangeArrowheads="1"/>
          </p:cNvSpPr>
          <p:nvPr/>
        </p:nvSpPr>
        <p:spPr bwMode="auto">
          <a:xfrm>
            <a:off x="1347695" y="5343489"/>
            <a:ext cx="530007" cy="57913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e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9</a:t>
            </a:r>
            <a:endParaRPr lang="en-US" altLang="en-US" sz="2800" dirty="0"/>
          </a:p>
        </p:txBody>
      </p:sp>
      <p:sp>
        <p:nvSpPr>
          <p:cNvPr id="78" name="Line 43"/>
          <p:cNvSpPr>
            <a:spLocks noChangeShapeType="1"/>
          </p:cNvSpPr>
          <p:nvPr/>
        </p:nvSpPr>
        <p:spPr bwMode="auto">
          <a:xfrm rot="19062483" flipH="1">
            <a:off x="1454756" y="4957931"/>
            <a:ext cx="16761" cy="4367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958634" y="4639798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14</a:t>
            </a:r>
          </a:p>
        </p:txBody>
      </p:sp>
      <p:sp>
        <p:nvSpPr>
          <p:cNvPr id="82" name="Line 23"/>
          <p:cNvSpPr>
            <a:spLocks noChangeShapeType="1"/>
          </p:cNvSpPr>
          <p:nvPr/>
        </p:nvSpPr>
        <p:spPr bwMode="auto">
          <a:xfrm flipH="1">
            <a:off x="1212668" y="4233825"/>
            <a:ext cx="359730" cy="4154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" name="Line 23"/>
          <p:cNvSpPr>
            <a:spLocks noChangeShapeType="1"/>
          </p:cNvSpPr>
          <p:nvPr/>
        </p:nvSpPr>
        <p:spPr bwMode="auto">
          <a:xfrm>
            <a:off x="1819412" y="4233825"/>
            <a:ext cx="368842" cy="4154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" name="Text Box 36"/>
          <p:cNvSpPr txBox="1">
            <a:spLocks noChangeArrowheads="1"/>
          </p:cNvSpPr>
          <p:nvPr/>
        </p:nvSpPr>
        <p:spPr bwMode="auto">
          <a:xfrm>
            <a:off x="1928760" y="4639798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d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16</a:t>
            </a:r>
          </a:p>
        </p:txBody>
      </p:sp>
      <p:sp>
        <p:nvSpPr>
          <p:cNvPr id="87" name="Text Box 36"/>
          <p:cNvSpPr txBox="1">
            <a:spLocks noChangeArrowheads="1"/>
          </p:cNvSpPr>
          <p:nvPr/>
        </p:nvSpPr>
        <p:spPr bwMode="auto">
          <a:xfrm>
            <a:off x="3663615" y="1553180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a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45</a:t>
            </a:r>
          </a:p>
        </p:txBody>
      </p:sp>
      <p:sp>
        <p:nvSpPr>
          <p:cNvPr id="30" name="Line 18"/>
          <p:cNvSpPr>
            <a:spLocks noChangeShapeType="1"/>
          </p:cNvSpPr>
          <p:nvPr/>
        </p:nvSpPr>
        <p:spPr bwMode="auto">
          <a:xfrm rot="2537517">
            <a:off x="2590136" y="1867150"/>
            <a:ext cx="22216" cy="4317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2222008" y="2251989"/>
            <a:ext cx="539764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c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12</a:t>
            </a:r>
            <a:endParaRPr lang="en-US" altLang="en-US" sz="2800" dirty="0"/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3027632" y="2250227"/>
            <a:ext cx="530007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b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13</a:t>
            </a:r>
            <a:endParaRPr lang="en-US" altLang="en-US" sz="2800" dirty="0"/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 rot="19062483" flipH="1">
            <a:off x="3134693" y="1864669"/>
            <a:ext cx="16761" cy="4367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45"/>
          <p:cNvSpPr txBox="1">
            <a:spLocks noChangeArrowheads="1"/>
          </p:cNvSpPr>
          <p:nvPr/>
        </p:nvSpPr>
        <p:spPr bwMode="auto">
          <a:xfrm>
            <a:off x="2638571" y="1546536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25</a:t>
            </a:r>
          </a:p>
        </p:txBody>
      </p:sp>
      <p:sp>
        <p:nvSpPr>
          <p:cNvPr id="36" name="Line 23"/>
          <p:cNvSpPr>
            <a:spLocks noChangeShapeType="1"/>
          </p:cNvSpPr>
          <p:nvPr/>
        </p:nvSpPr>
        <p:spPr bwMode="auto">
          <a:xfrm>
            <a:off x="2842989" y="1003611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Text Box 45"/>
          <p:cNvSpPr txBox="1">
            <a:spLocks noChangeArrowheads="1"/>
          </p:cNvSpPr>
          <p:nvPr/>
        </p:nvSpPr>
        <p:spPr bwMode="auto">
          <a:xfrm>
            <a:off x="1460805" y="3864493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528" y="3243208"/>
            <a:ext cx="2360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delmin</a:t>
            </a:r>
            <a:r>
              <a:rPr lang="en-US" sz="2400" dirty="0"/>
              <a:t> two times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5805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6"/>
          <p:cNvSpPr>
            <a:spLocks noChangeArrowheads="1"/>
          </p:cNvSpPr>
          <p:nvPr/>
        </p:nvSpPr>
        <p:spPr bwMode="auto">
          <a:xfrm>
            <a:off x="2339752" y="764704"/>
            <a:ext cx="3384376" cy="43815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Char char="•"/>
            </a:pPr>
            <a:endParaRPr lang="en-US" altLang="en-US" sz="2800"/>
          </a:p>
        </p:txBody>
      </p:sp>
      <p:sp>
        <p:nvSpPr>
          <p:cNvPr id="53" name="Line 11"/>
          <p:cNvSpPr>
            <a:spLocks noChangeShapeType="1"/>
          </p:cNvSpPr>
          <p:nvPr/>
        </p:nvSpPr>
        <p:spPr bwMode="auto">
          <a:xfrm>
            <a:off x="3419872" y="783754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Line 23"/>
          <p:cNvSpPr>
            <a:spLocks noChangeShapeType="1"/>
          </p:cNvSpPr>
          <p:nvPr/>
        </p:nvSpPr>
        <p:spPr bwMode="auto">
          <a:xfrm>
            <a:off x="3923109" y="999002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58" name="Straight Connector 57"/>
          <p:cNvCxnSpPr>
            <a:cxnSpLocks noChangeShapeType="1"/>
            <a:stCxn id="65" idx="3"/>
            <a:endCxn id="66" idx="0"/>
          </p:cNvCxnSpPr>
          <p:nvPr/>
        </p:nvCxnSpPr>
        <p:spPr bwMode="auto">
          <a:xfrm flipH="1">
            <a:off x="2452048" y="4423575"/>
            <a:ext cx="865809" cy="456403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Oval 64"/>
          <p:cNvSpPr>
            <a:spLocks noChangeArrowheads="1"/>
          </p:cNvSpPr>
          <p:nvPr/>
        </p:nvSpPr>
        <p:spPr bwMode="auto">
          <a:xfrm>
            <a:off x="3244160" y="3961514"/>
            <a:ext cx="503237" cy="541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25</a:t>
            </a:r>
          </a:p>
        </p:txBody>
      </p:sp>
      <p:sp>
        <p:nvSpPr>
          <p:cNvPr id="66" name="Oval 65"/>
          <p:cNvSpPr>
            <a:spLocks noChangeArrowheads="1"/>
          </p:cNvSpPr>
          <p:nvPr/>
        </p:nvSpPr>
        <p:spPr bwMode="auto">
          <a:xfrm>
            <a:off x="2200429" y="4879978"/>
            <a:ext cx="503238" cy="54133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45</a:t>
            </a:r>
          </a:p>
        </p:txBody>
      </p:sp>
      <p:cxnSp>
        <p:nvCxnSpPr>
          <p:cNvPr id="67" name="Straight Connector 66"/>
          <p:cNvCxnSpPr>
            <a:cxnSpLocks noChangeShapeType="1"/>
            <a:stCxn id="65" idx="5"/>
            <a:endCxn id="68" idx="0"/>
          </p:cNvCxnSpPr>
          <p:nvPr/>
        </p:nvCxnSpPr>
        <p:spPr bwMode="auto">
          <a:xfrm>
            <a:off x="3673700" y="4423575"/>
            <a:ext cx="900289" cy="48182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" name="Oval 67"/>
          <p:cNvSpPr>
            <a:spLocks noChangeArrowheads="1"/>
          </p:cNvSpPr>
          <p:nvPr/>
        </p:nvSpPr>
        <p:spPr bwMode="auto">
          <a:xfrm>
            <a:off x="4322370" y="4905403"/>
            <a:ext cx="503238" cy="5397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5pPr>
            <a:lvl6pPr marL="22860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6pPr>
            <a:lvl7pPr marL="27432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7pPr>
            <a:lvl8pPr marL="32004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8pPr>
            <a:lvl9pPr marL="3657600" algn="l" defTabSz="914400" rtl="0" eaLnBrk="1" latinLnBrk="0" hangingPunct="1">
              <a:defRPr sz="2800" kern="1200">
                <a:solidFill>
                  <a:srgbClr val="727272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+mn-cs"/>
                <a:sym typeface="Marker Felt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30000"/>
              </a:spcBef>
              <a:buFontTx/>
              <a:buNone/>
            </a:pPr>
            <a:r>
              <a:rPr lang="en-US" altLang="en-US" sz="2400" b="1" dirty="0">
                <a:solidFill>
                  <a:srgbClr val="727272"/>
                </a:solidFill>
                <a:cs typeface="Arial" panose="020B0604020202020204" pitchFamily="34" charset="0"/>
              </a:rPr>
              <a:t>30</a:t>
            </a:r>
          </a:p>
        </p:txBody>
      </p:sp>
      <p:sp>
        <p:nvSpPr>
          <p:cNvPr id="75" name="Line 18"/>
          <p:cNvSpPr>
            <a:spLocks noChangeShapeType="1"/>
          </p:cNvSpPr>
          <p:nvPr/>
        </p:nvSpPr>
        <p:spPr bwMode="auto">
          <a:xfrm rot="2537517">
            <a:off x="4366874" y="2673859"/>
            <a:ext cx="22216" cy="4317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Text Box 30"/>
          <p:cNvSpPr txBox="1">
            <a:spLocks noChangeArrowheads="1"/>
          </p:cNvSpPr>
          <p:nvPr/>
        </p:nvSpPr>
        <p:spPr bwMode="auto">
          <a:xfrm>
            <a:off x="3998746" y="3058698"/>
            <a:ext cx="539764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f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5</a:t>
            </a:r>
            <a:endParaRPr lang="en-US" altLang="en-US" sz="2800" dirty="0"/>
          </a:p>
        </p:txBody>
      </p:sp>
      <p:sp>
        <p:nvSpPr>
          <p:cNvPr id="77" name="Text Box 31"/>
          <p:cNvSpPr txBox="1">
            <a:spLocks noChangeArrowheads="1"/>
          </p:cNvSpPr>
          <p:nvPr/>
        </p:nvSpPr>
        <p:spPr bwMode="auto">
          <a:xfrm>
            <a:off x="4804370" y="3056936"/>
            <a:ext cx="530007" cy="57913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e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9</a:t>
            </a:r>
            <a:endParaRPr lang="en-US" altLang="en-US" sz="2800" dirty="0"/>
          </a:p>
        </p:txBody>
      </p:sp>
      <p:sp>
        <p:nvSpPr>
          <p:cNvPr id="78" name="Line 43"/>
          <p:cNvSpPr>
            <a:spLocks noChangeShapeType="1"/>
          </p:cNvSpPr>
          <p:nvPr/>
        </p:nvSpPr>
        <p:spPr bwMode="auto">
          <a:xfrm rot="19062483" flipH="1">
            <a:off x="4911431" y="2671378"/>
            <a:ext cx="16761" cy="4367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4415309" y="2353245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14</a:t>
            </a:r>
          </a:p>
        </p:txBody>
      </p:sp>
      <p:sp>
        <p:nvSpPr>
          <p:cNvPr id="82" name="Line 23"/>
          <p:cNvSpPr>
            <a:spLocks noChangeShapeType="1"/>
          </p:cNvSpPr>
          <p:nvPr/>
        </p:nvSpPr>
        <p:spPr bwMode="auto">
          <a:xfrm flipH="1">
            <a:off x="4669343" y="1947272"/>
            <a:ext cx="359730" cy="4154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" name="Line 23"/>
          <p:cNvSpPr>
            <a:spLocks noChangeShapeType="1"/>
          </p:cNvSpPr>
          <p:nvPr/>
        </p:nvSpPr>
        <p:spPr bwMode="auto">
          <a:xfrm>
            <a:off x="5276087" y="1947272"/>
            <a:ext cx="368842" cy="4154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" name="Text Box 36"/>
          <p:cNvSpPr txBox="1">
            <a:spLocks noChangeArrowheads="1"/>
          </p:cNvSpPr>
          <p:nvPr/>
        </p:nvSpPr>
        <p:spPr bwMode="auto">
          <a:xfrm>
            <a:off x="5385435" y="2353245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d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16</a:t>
            </a:r>
          </a:p>
        </p:txBody>
      </p:sp>
      <p:sp>
        <p:nvSpPr>
          <p:cNvPr id="87" name="Text Box 36"/>
          <p:cNvSpPr txBox="1">
            <a:spLocks noChangeArrowheads="1"/>
          </p:cNvSpPr>
          <p:nvPr/>
        </p:nvSpPr>
        <p:spPr bwMode="auto">
          <a:xfrm>
            <a:off x="3663615" y="1553180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a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45</a:t>
            </a:r>
          </a:p>
        </p:txBody>
      </p:sp>
      <p:sp>
        <p:nvSpPr>
          <p:cNvPr id="30" name="Line 18"/>
          <p:cNvSpPr>
            <a:spLocks noChangeShapeType="1"/>
          </p:cNvSpPr>
          <p:nvPr/>
        </p:nvSpPr>
        <p:spPr bwMode="auto">
          <a:xfrm rot="2537517">
            <a:off x="2590136" y="1867150"/>
            <a:ext cx="22216" cy="4317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2222008" y="2251989"/>
            <a:ext cx="539764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c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12</a:t>
            </a:r>
            <a:endParaRPr lang="en-US" altLang="en-US" sz="2800" dirty="0"/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3027632" y="2250227"/>
            <a:ext cx="530007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b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13</a:t>
            </a:r>
            <a:endParaRPr lang="en-US" altLang="en-US" sz="2800" dirty="0"/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 rot="19062483" flipH="1">
            <a:off x="3134693" y="1864669"/>
            <a:ext cx="16761" cy="4367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45"/>
          <p:cNvSpPr txBox="1">
            <a:spLocks noChangeArrowheads="1"/>
          </p:cNvSpPr>
          <p:nvPr/>
        </p:nvSpPr>
        <p:spPr bwMode="auto">
          <a:xfrm>
            <a:off x="2638571" y="1546536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25</a:t>
            </a:r>
          </a:p>
        </p:txBody>
      </p:sp>
      <p:sp>
        <p:nvSpPr>
          <p:cNvPr id="36" name="Line 23"/>
          <p:cNvSpPr>
            <a:spLocks noChangeShapeType="1"/>
          </p:cNvSpPr>
          <p:nvPr/>
        </p:nvSpPr>
        <p:spPr bwMode="auto">
          <a:xfrm>
            <a:off x="2842989" y="1003611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Text Box 45"/>
          <p:cNvSpPr txBox="1">
            <a:spLocks noChangeArrowheads="1"/>
          </p:cNvSpPr>
          <p:nvPr/>
        </p:nvSpPr>
        <p:spPr bwMode="auto">
          <a:xfrm>
            <a:off x="4917480" y="1577940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30</a:t>
            </a:r>
          </a:p>
        </p:txBody>
      </p:sp>
      <p:sp>
        <p:nvSpPr>
          <p:cNvPr id="28" name="Line 11"/>
          <p:cNvSpPr>
            <a:spLocks noChangeShapeType="1"/>
          </p:cNvSpPr>
          <p:nvPr/>
        </p:nvSpPr>
        <p:spPr bwMode="auto">
          <a:xfrm>
            <a:off x="4576152" y="778838"/>
            <a:ext cx="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23"/>
          <p:cNvSpPr>
            <a:spLocks noChangeShapeType="1"/>
          </p:cNvSpPr>
          <p:nvPr/>
        </p:nvSpPr>
        <p:spPr bwMode="auto">
          <a:xfrm>
            <a:off x="5148064" y="1025490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23528" y="3243208"/>
            <a:ext cx="26999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insert the new node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8794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6"/>
          <p:cNvSpPr>
            <a:spLocks noChangeArrowheads="1"/>
          </p:cNvSpPr>
          <p:nvPr/>
        </p:nvSpPr>
        <p:spPr bwMode="auto">
          <a:xfrm>
            <a:off x="3355090" y="764704"/>
            <a:ext cx="1216910" cy="43815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Char char="•"/>
            </a:pPr>
            <a:endParaRPr lang="en-US" altLang="en-US" sz="2800"/>
          </a:p>
        </p:txBody>
      </p:sp>
      <p:sp>
        <p:nvSpPr>
          <p:cNvPr id="50" name="Line 23"/>
          <p:cNvSpPr>
            <a:spLocks noChangeShapeType="1"/>
          </p:cNvSpPr>
          <p:nvPr/>
        </p:nvSpPr>
        <p:spPr bwMode="auto">
          <a:xfrm>
            <a:off x="3923109" y="999002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" name="Line 18"/>
          <p:cNvSpPr>
            <a:spLocks noChangeShapeType="1"/>
          </p:cNvSpPr>
          <p:nvPr/>
        </p:nvSpPr>
        <p:spPr bwMode="auto">
          <a:xfrm rot="2537517">
            <a:off x="2362103" y="5539847"/>
            <a:ext cx="22216" cy="4317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Text Box 30"/>
          <p:cNvSpPr txBox="1">
            <a:spLocks noChangeArrowheads="1"/>
          </p:cNvSpPr>
          <p:nvPr/>
        </p:nvSpPr>
        <p:spPr bwMode="auto">
          <a:xfrm>
            <a:off x="1993975" y="5924686"/>
            <a:ext cx="539764" cy="57913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f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4</a:t>
            </a:r>
            <a:endParaRPr lang="en-US" altLang="en-US" sz="2800" dirty="0"/>
          </a:p>
        </p:txBody>
      </p:sp>
      <p:sp>
        <p:nvSpPr>
          <p:cNvPr id="77" name="Text Box 31"/>
          <p:cNvSpPr txBox="1">
            <a:spLocks noChangeArrowheads="1"/>
          </p:cNvSpPr>
          <p:nvPr/>
        </p:nvSpPr>
        <p:spPr bwMode="auto">
          <a:xfrm>
            <a:off x="2799599" y="5922924"/>
            <a:ext cx="530007" cy="57913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e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9</a:t>
            </a:r>
            <a:endParaRPr lang="en-US" altLang="en-US" sz="2800" dirty="0"/>
          </a:p>
        </p:txBody>
      </p:sp>
      <p:sp>
        <p:nvSpPr>
          <p:cNvPr id="78" name="Line 43"/>
          <p:cNvSpPr>
            <a:spLocks noChangeShapeType="1"/>
          </p:cNvSpPr>
          <p:nvPr/>
        </p:nvSpPr>
        <p:spPr bwMode="auto">
          <a:xfrm rot="19062483" flipH="1">
            <a:off x="2906660" y="5537366"/>
            <a:ext cx="16761" cy="4367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2410538" y="5219233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14</a:t>
            </a:r>
          </a:p>
        </p:txBody>
      </p:sp>
      <p:sp>
        <p:nvSpPr>
          <p:cNvPr id="82" name="Line 23"/>
          <p:cNvSpPr>
            <a:spLocks noChangeShapeType="1"/>
          </p:cNvSpPr>
          <p:nvPr/>
        </p:nvSpPr>
        <p:spPr bwMode="auto">
          <a:xfrm flipH="1">
            <a:off x="2664572" y="4813260"/>
            <a:ext cx="359730" cy="4154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" name="Line 23"/>
          <p:cNvSpPr>
            <a:spLocks noChangeShapeType="1"/>
          </p:cNvSpPr>
          <p:nvPr/>
        </p:nvSpPr>
        <p:spPr bwMode="auto">
          <a:xfrm>
            <a:off x="3271316" y="4813260"/>
            <a:ext cx="368842" cy="4154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" name="Text Box 36"/>
          <p:cNvSpPr txBox="1">
            <a:spLocks noChangeArrowheads="1"/>
          </p:cNvSpPr>
          <p:nvPr/>
        </p:nvSpPr>
        <p:spPr bwMode="auto">
          <a:xfrm>
            <a:off x="3380664" y="5219233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d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16</a:t>
            </a:r>
          </a:p>
        </p:txBody>
      </p:sp>
      <p:sp>
        <p:nvSpPr>
          <p:cNvPr id="87" name="Text Box 36"/>
          <p:cNvSpPr txBox="1">
            <a:spLocks noChangeArrowheads="1"/>
          </p:cNvSpPr>
          <p:nvPr/>
        </p:nvSpPr>
        <p:spPr bwMode="auto">
          <a:xfrm>
            <a:off x="3663615" y="1553180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a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45</a:t>
            </a:r>
          </a:p>
        </p:txBody>
      </p:sp>
      <p:sp>
        <p:nvSpPr>
          <p:cNvPr id="30" name="Line 18"/>
          <p:cNvSpPr>
            <a:spLocks noChangeShapeType="1"/>
          </p:cNvSpPr>
          <p:nvPr/>
        </p:nvSpPr>
        <p:spPr bwMode="auto">
          <a:xfrm rot="2537517">
            <a:off x="1260858" y="4742793"/>
            <a:ext cx="22216" cy="4317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892730" y="5127632"/>
            <a:ext cx="539764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c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12</a:t>
            </a:r>
            <a:endParaRPr lang="en-US" altLang="en-US" sz="2800" dirty="0"/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1698354" y="5125870"/>
            <a:ext cx="530007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b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13</a:t>
            </a:r>
            <a:endParaRPr lang="en-US" altLang="en-US" sz="2800" dirty="0"/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 rot="19062483" flipH="1">
            <a:off x="1805415" y="4740312"/>
            <a:ext cx="16761" cy="4367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45"/>
          <p:cNvSpPr txBox="1">
            <a:spLocks noChangeArrowheads="1"/>
          </p:cNvSpPr>
          <p:nvPr/>
        </p:nvSpPr>
        <p:spPr bwMode="auto">
          <a:xfrm>
            <a:off x="1309293" y="4422179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25</a:t>
            </a:r>
          </a:p>
        </p:txBody>
      </p:sp>
      <p:sp>
        <p:nvSpPr>
          <p:cNvPr id="36" name="Line 23"/>
          <p:cNvSpPr>
            <a:spLocks noChangeShapeType="1"/>
          </p:cNvSpPr>
          <p:nvPr/>
        </p:nvSpPr>
        <p:spPr bwMode="auto">
          <a:xfrm flipH="1">
            <a:off x="1513711" y="4158372"/>
            <a:ext cx="681520" cy="2733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Text Box 45"/>
          <p:cNvSpPr txBox="1">
            <a:spLocks noChangeArrowheads="1"/>
          </p:cNvSpPr>
          <p:nvPr/>
        </p:nvSpPr>
        <p:spPr bwMode="auto">
          <a:xfrm>
            <a:off x="2912709" y="4443928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30</a:t>
            </a:r>
          </a:p>
        </p:txBody>
      </p:sp>
      <p:sp>
        <p:nvSpPr>
          <p:cNvPr id="29" name="Line 23"/>
          <p:cNvSpPr>
            <a:spLocks noChangeShapeType="1"/>
          </p:cNvSpPr>
          <p:nvPr/>
        </p:nvSpPr>
        <p:spPr bwMode="auto">
          <a:xfrm>
            <a:off x="2459477" y="4158372"/>
            <a:ext cx="683816" cy="2855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45"/>
          <p:cNvSpPr txBox="1">
            <a:spLocks noChangeArrowheads="1"/>
          </p:cNvSpPr>
          <p:nvPr/>
        </p:nvSpPr>
        <p:spPr bwMode="auto">
          <a:xfrm>
            <a:off x="2053975" y="3789040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528" y="3243208"/>
            <a:ext cx="2360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delmin</a:t>
            </a:r>
            <a:r>
              <a:rPr lang="en-US" sz="2400" dirty="0"/>
              <a:t> two times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5198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Line 23"/>
          <p:cNvSpPr>
            <a:spLocks noChangeShapeType="1"/>
          </p:cNvSpPr>
          <p:nvPr/>
        </p:nvSpPr>
        <p:spPr bwMode="auto">
          <a:xfrm>
            <a:off x="3123351" y="2234905"/>
            <a:ext cx="780482" cy="2687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" name="Line 18"/>
          <p:cNvSpPr>
            <a:spLocks noChangeShapeType="1"/>
          </p:cNvSpPr>
          <p:nvPr/>
        </p:nvSpPr>
        <p:spPr bwMode="auto">
          <a:xfrm rot="2537517">
            <a:off x="3971743" y="4254477"/>
            <a:ext cx="22216" cy="4317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Text Box 30"/>
          <p:cNvSpPr txBox="1">
            <a:spLocks noChangeArrowheads="1"/>
          </p:cNvSpPr>
          <p:nvPr/>
        </p:nvSpPr>
        <p:spPr bwMode="auto">
          <a:xfrm>
            <a:off x="3603615" y="4639316"/>
            <a:ext cx="539764" cy="57913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f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4</a:t>
            </a:r>
            <a:endParaRPr lang="en-US" altLang="en-US" sz="2800" dirty="0"/>
          </a:p>
        </p:txBody>
      </p:sp>
      <p:sp>
        <p:nvSpPr>
          <p:cNvPr id="77" name="Text Box 31"/>
          <p:cNvSpPr txBox="1">
            <a:spLocks noChangeArrowheads="1"/>
          </p:cNvSpPr>
          <p:nvPr/>
        </p:nvSpPr>
        <p:spPr bwMode="auto">
          <a:xfrm>
            <a:off x="4409239" y="4637554"/>
            <a:ext cx="530007" cy="57913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e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9</a:t>
            </a:r>
            <a:endParaRPr lang="en-US" altLang="en-US" sz="2800" dirty="0"/>
          </a:p>
        </p:txBody>
      </p:sp>
      <p:sp>
        <p:nvSpPr>
          <p:cNvPr id="78" name="Line 43"/>
          <p:cNvSpPr>
            <a:spLocks noChangeShapeType="1"/>
          </p:cNvSpPr>
          <p:nvPr/>
        </p:nvSpPr>
        <p:spPr bwMode="auto">
          <a:xfrm rot="19062483" flipH="1">
            <a:off x="4516300" y="4251996"/>
            <a:ext cx="16761" cy="4367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4020178" y="3933863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14</a:t>
            </a:r>
          </a:p>
        </p:txBody>
      </p:sp>
      <p:sp>
        <p:nvSpPr>
          <p:cNvPr id="82" name="Line 23"/>
          <p:cNvSpPr>
            <a:spLocks noChangeShapeType="1"/>
          </p:cNvSpPr>
          <p:nvPr/>
        </p:nvSpPr>
        <p:spPr bwMode="auto">
          <a:xfrm flipH="1">
            <a:off x="4274212" y="3527890"/>
            <a:ext cx="359730" cy="4154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" name="Line 23"/>
          <p:cNvSpPr>
            <a:spLocks noChangeShapeType="1"/>
          </p:cNvSpPr>
          <p:nvPr/>
        </p:nvSpPr>
        <p:spPr bwMode="auto">
          <a:xfrm>
            <a:off x="4880956" y="3527890"/>
            <a:ext cx="368842" cy="4154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" name="Text Box 36"/>
          <p:cNvSpPr txBox="1">
            <a:spLocks noChangeArrowheads="1"/>
          </p:cNvSpPr>
          <p:nvPr/>
        </p:nvSpPr>
        <p:spPr bwMode="auto">
          <a:xfrm>
            <a:off x="4990304" y="3933863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d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16</a:t>
            </a:r>
          </a:p>
        </p:txBody>
      </p:sp>
      <p:sp>
        <p:nvSpPr>
          <p:cNvPr id="87" name="Text Box 36"/>
          <p:cNvSpPr txBox="1">
            <a:spLocks noChangeArrowheads="1"/>
          </p:cNvSpPr>
          <p:nvPr/>
        </p:nvSpPr>
        <p:spPr bwMode="auto">
          <a:xfrm>
            <a:off x="1983383" y="2509117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a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45</a:t>
            </a:r>
          </a:p>
        </p:txBody>
      </p:sp>
      <p:sp>
        <p:nvSpPr>
          <p:cNvPr id="30" name="Line 18"/>
          <p:cNvSpPr>
            <a:spLocks noChangeShapeType="1"/>
          </p:cNvSpPr>
          <p:nvPr/>
        </p:nvSpPr>
        <p:spPr bwMode="auto">
          <a:xfrm rot="2537517">
            <a:off x="2870498" y="3457423"/>
            <a:ext cx="22216" cy="4317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2502370" y="3842262"/>
            <a:ext cx="539764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c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12</a:t>
            </a:r>
            <a:endParaRPr lang="en-US" altLang="en-US" sz="2800" dirty="0"/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3307994" y="3840500"/>
            <a:ext cx="530007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b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13</a:t>
            </a:r>
            <a:endParaRPr lang="en-US" altLang="en-US" sz="2800" dirty="0"/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 rot="19062483" flipH="1">
            <a:off x="3415055" y="3454942"/>
            <a:ext cx="16761" cy="4367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45"/>
          <p:cNvSpPr txBox="1">
            <a:spLocks noChangeArrowheads="1"/>
          </p:cNvSpPr>
          <p:nvPr/>
        </p:nvSpPr>
        <p:spPr bwMode="auto">
          <a:xfrm>
            <a:off x="2918933" y="3136809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25</a:t>
            </a:r>
          </a:p>
        </p:txBody>
      </p:sp>
      <p:sp>
        <p:nvSpPr>
          <p:cNvPr id="36" name="Line 23"/>
          <p:cNvSpPr>
            <a:spLocks noChangeShapeType="1"/>
          </p:cNvSpPr>
          <p:nvPr/>
        </p:nvSpPr>
        <p:spPr bwMode="auto">
          <a:xfrm flipH="1">
            <a:off x="3123351" y="2873002"/>
            <a:ext cx="681520" cy="2733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Text Box 45"/>
          <p:cNvSpPr txBox="1">
            <a:spLocks noChangeArrowheads="1"/>
          </p:cNvSpPr>
          <p:nvPr/>
        </p:nvSpPr>
        <p:spPr bwMode="auto">
          <a:xfrm>
            <a:off x="4522349" y="3158558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30</a:t>
            </a:r>
          </a:p>
        </p:txBody>
      </p:sp>
      <p:sp>
        <p:nvSpPr>
          <p:cNvPr id="29" name="Line 23"/>
          <p:cNvSpPr>
            <a:spLocks noChangeShapeType="1"/>
          </p:cNvSpPr>
          <p:nvPr/>
        </p:nvSpPr>
        <p:spPr bwMode="auto">
          <a:xfrm>
            <a:off x="4069117" y="2873002"/>
            <a:ext cx="683816" cy="2855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45"/>
          <p:cNvSpPr txBox="1">
            <a:spLocks noChangeArrowheads="1"/>
          </p:cNvSpPr>
          <p:nvPr/>
        </p:nvSpPr>
        <p:spPr bwMode="auto">
          <a:xfrm>
            <a:off x="3663615" y="2503670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55</a:t>
            </a:r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 flipH="1">
            <a:off x="2201969" y="2234905"/>
            <a:ext cx="681520" cy="2733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Text Box 45"/>
          <p:cNvSpPr txBox="1">
            <a:spLocks noChangeArrowheads="1"/>
          </p:cNvSpPr>
          <p:nvPr/>
        </p:nvSpPr>
        <p:spPr bwMode="auto">
          <a:xfrm>
            <a:off x="2772252" y="1848663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947" y="900880"/>
            <a:ext cx="1313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after ……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1749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Line 23"/>
          <p:cNvSpPr>
            <a:spLocks noChangeShapeType="1"/>
          </p:cNvSpPr>
          <p:nvPr/>
        </p:nvSpPr>
        <p:spPr bwMode="auto">
          <a:xfrm>
            <a:off x="3123351" y="2234905"/>
            <a:ext cx="780482" cy="2687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" name="Line 18"/>
          <p:cNvSpPr>
            <a:spLocks noChangeShapeType="1"/>
          </p:cNvSpPr>
          <p:nvPr/>
        </p:nvSpPr>
        <p:spPr bwMode="auto">
          <a:xfrm rot="2537517">
            <a:off x="3971743" y="4254477"/>
            <a:ext cx="22216" cy="4317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Text Box 30"/>
          <p:cNvSpPr txBox="1">
            <a:spLocks noChangeArrowheads="1"/>
          </p:cNvSpPr>
          <p:nvPr/>
        </p:nvSpPr>
        <p:spPr bwMode="auto">
          <a:xfrm>
            <a:off x="3603615" y="4639316"/>
            <a:ext cx="539764" cy="57913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f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4</a:t>
            </a:r>
            <a:endParaRPr lang="en-US" altLang="en-US" sz="2800" dirty="0"/>
          </a:p>
        </p:txBody>
      </p:sp>
      <p:sp>
        <p:nvSpPr>
          <p:cNvPr id="77" name="Text Box 31"/>
          <p:cNvSpPr txBox="1">
            <a:spLocks noChangeArrowheads="1"/>
          </p:cNvSpPr>
          <p:nvPr/>
        </p:nvSpPr>
        <p:spPr bwMode="auto">
          <a:xfrm>
            <a:off x="4409239" y="4637554"/>
            <a:ext cx="530007" cy="57913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e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9</a:t>
            </a:r>
            <a:endParaRPr lang="en-US" altLang="en-US" sz="2800" dirty="0"/>
          </a:p>
        </p:txBody>
      </p:sp>
      <p:sp>
        <p:nvSpPr>
          <p:cNvPr id="78" name="Line 43"/>
          <p:cNvSpPr>
            <a:spLocks noChangeShapeType="1"/>
          </p:cNvSpPr>
          <p:nvPr/>
        </p:nvSpPr>
        <p:spPr bwMode="auto">
          <a:xfrm rot="19062483" flipH="1">
            <a:off x="4516300" y="4251996"/>
            <a:ext cx="16761" cy="4367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4020178" y="3933863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14</a:t>
            </a:r>
          </a:p>
        </p:txBody>
      </p:sp>
      <p:sp>
        <p:nvSpPr>
          <p:cNvPr id="82" name="Line 23"/>
          <p:cNvSpPr>
            <a:spLocks noChangeShapeType="1"/>
          </p:cNvSpPr>
          <p:nvPr/>
        </p:nvSpPr>
        <p:spPr bwMode="auto">
          <a:xfrm flipH="1">
            <a:off x="4274212" y="3527890"/>
            <a:ext cx="359730" cy="4154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" name="Line 23"/>
          <p:cNvSpPr>
            <a:spLocks noChangeShapeType="1"/>
          </p:cNvSpPr>
          <p:nvPr/>
        </p:nvSpPr>
        <p:spPr bwMode="auto">
          <a:xfrm>
            <a:off x="4880956" y="3527890"/>
            <a:ext cx="368842" cy="4154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4" name="Text Box 36"/>
          <p:cNvSpPr txBox="1">
            <a:spLocks noChangeArrowheads="1"/>
          </p:cNvSpPr>
          <p:nvPr/>
        </p:nvSpPr>
        <p:spPr bwMode="auto">
          <a:xfrm>
            <a:off x="4990304" y="3933863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d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16</a:t>
            </a:r>
          </a:p>
        </p:txBody>
      </p:sp>
      <p:sp>
        <p:nvSpPr>
          <p:cNvPr id="87" name="Text Box 36"/>
          <p:cNvSpPr txBox="1">
            <a:spLocks noChangeArrowheads="1"/>
          </p:cNvSpPr>
          <p:nvPr/>
        </p:nvSpPr>
        <p:spPr bwMode="auto">
          <a:xfrm>
            <a:off x="1983383" y="2509117"/>
            <a:ext cx="518987" cy="78483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a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45</a:t>
            </a:r>
          </a:p>
        </p:txBody>
      </p:sp>
      <p:sp>
        <p:nvSpPr>
          <p:cNvPr id="30" name="Line 18"/>
          <p:cNvSpPr>
            <a:spLocks noChangeShapeType="1"/>
          </p:cNvSpPr>
          <p:nvPr/>
        </p:nvSpPr>
        <p:spPr bwMode="auto">
          <a:xfrm rot="2537517">
            <a:off x="2870498" y="3457423"/>
            <a:ext cx="22216" cy="4317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2502370" y="3842262"/>
            <a:ext cx="539764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c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12</a:t>
            </a:r>
            <a:endParaRPr lang="en-US" altLang="en-US" sz="2800" dirty="0"/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3307994" y="3840500"/>
            <a:ext cx="530007" cy="510589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b</a:t>
            </a:r>
          </a:p>
          <a:p>
            <a:pPr algn="ctr">
              <a:lnSpc>
                <a:spcPct val="0"/>
              </a:lnSpc>
              <a:spcBef>
                <a:spcPct val="50000"/>
              </a:spcBef>
              <a:buFontTx/>
              <a:buNone/>
            </a:pPr>
            <a:r>
              <a:rPr lang="en-US" altLang="en-US" sz="1800" dirty="0"/>
              <a:t>13</a:t>
            </a:r>
            <a:endParaRPr lang="en-US" altLang="en-US" sz="2800" dirty="0"/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 rot="19062483" flipH="1">
            <a:off x="3415055" y="3454942"/>
            <a:ext cx="16761" cy="4367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Text Box 45"/>
          <p:cNvSpPr txBox="1">
            <a:spLocks noChangeArrowheads="1"/>
          </p:cNvSpPr>
          <p:nvPr/>
        </p:nvSpPr>
        <p:spPr bwMode="auto">
          <a:xfrm>
            <a:off x="2918933" y="3136809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25</a:t>
            </a:r>
          </a:p>
        </p:txBody>
      </p:sp>
      <p:sp>
        <p:nvSpPr>
          <p:cNvPr id="36" name="Line 23"/>
          <p:cNvSpPr>
            <a:spLocks noChangeShapeType="1"/>
          </p:cNvSpPr>
          <p:nvPr/>
        </p:nvSpPr>
        <p:spPr bwMode="auto">
          <a:xfrm flipH="1">
            <a:off x="3123351" y="2873002"/>
            <a:ext cx="681520" cy="2733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Text Box 45"/>
          <p:cNvSpPr txBox="1">
            <a:spLocks noChangeArrowheads="1"/>
          </p:cNvSpPr>
          <p:nvPr/>
        </p:nvSpPr>
        <p:spPr bwMode="auto">
          <a:xfrm>
            <a:off x="4522349" y="3158558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30</a:t>
            </a:r>
          </a:p>
        </p:txBody>
      </p:sp>
      <p:sp>
        <p:nvSpPr>
          <p:cNvPr id="29" name="Line 23"/>
          <p:cNvSpPr>
            <a:spLocks noChangeShapeType="1"/>
          </p:cNvSpPr>
          <p:nvPr/>
        </p:nvSpPr>
        <p:spPr bwMode="auto">
          <a:xfrm>
            <a:off x="4069117" y="2873002"/>
            <a:ext cx="683816" cy="2855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45"/>
          <p:cNvSpPr txBox="1">
            <a:spLocks noChangeArrowheads="1"/>
          </p:cNvSpPr>
          <p:nvPr/>
        </p:nvSpPr>
        <p:spPr bwMode="auto">
          <a:xfrm>
            <a:off x="3663615" y="2503670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55</a:t>
            </a:r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 flipH="1">
            <a:off x="2201969" y="2234905"/>
            <a:ext cx="681520" cy="2733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Text Box 45"/>
          <p:cNvSpPr txBox="1">
            <a:spLocks noChangeArrowheads="1"/>
          </p:cNvSpPr>
          <p:nvPr/>
        </p:nvSpPr>
        <p:spPr bwMode="auto">
          <a:xfrm>
            <a:off x="2772252" y="1848663"/>
            <a:ext cx="480436" cy="36933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dirty="0"/>
              <a:t>60</a:t>
            </a:r>
          </a:p>
        </p:txBody>
      </p:sp>
      <p:sp>
        <p:nvSpPr>
          <p:cNvPr id="24" name="TextBox 1"/>
          <p:cNvSpPr txBox="1">
            <a:spLocks noChangeArrowheads="1"/>
          </p:cNvSpPr>
          <p:nvPr/>
        </p:nvSpPr>
        <p:spPr bwMode="auto">
          <a:xfrm>
            <a:off x="2324382" y="2058773"/>
            <a:ext cx="338577" cy="400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5" name="TextBox 1"/>
          <p:cNvSpPr txBox="1">
            <a:spLocks noChangeArrowheads="1"/>
          </p:cNvSpPr>
          <p:nvPr/>
        </p:nvSpPr>
        <p:spPr bwMode="auto">
          <a:xfrm>
            <a:off x="3234420" y="2701454"/>
            <a:ext cx="338577" cy="400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6" name="TextBox 1"/>
          <p:cNvSpPr txBox="1">
            <a:spLocks noChangeArrowheads="1"/>
          </p:cNvSpPr>
          <p:nvPr/>
        </p:nvSpPr>
        <p:spPr bwMode="auto">
          <a:xfrm>
            <a:off x="2615845" y="3431199"/>
            <a:ext cx="338577" cy="400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7" name="TextBox 1"/>
          <p:cNvSpPr txBox="1">
            <a:spLocks noChangeArrowheads="1"/>
          </p:cNvSpPr>
          <p:nvPr/>
        </p:nvSpPr>
        <p:spPr bwMode="auto">
          <a:xfrm>
            <a:off x="4175845" y="3506140"/>
            <a:ext cx="338577" cy="400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8" name="TextBox 1"/>
          <p:cNvSpPr txBox="1">
            <a:spLocks noChangeArrowheads="1"/>
          </p:cNvSpPr>
          <p:nvPr/>
        </p:nvSpPr>
        <p:spPr bwMode="auto">
          <a:xfrm>
            <a:off x="3712553" y="4246121"/>
            <a:ext cx="338577" cy="400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8" name="TextBox 1"/>
          <p:cNvSpPr txBox="1">
            <a:spLocks noChangeArrowheads="1"/>
          </p:cNvSpPr>
          <p:nvPr/>
        </p:nvSpPr>
        <p:spPr bwMode="auto">
          <a:xfrm>
            <a:off x="3373976" y="2058773"/>
            <a:ext cx="338577" cy="400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9" name="TextBox 1"/>
          <p:cNvSpPr txBox="1">
            <a:spLocks noChangeArrowheads="1"/>
          </p:cNvSpPr>
          <p:nvPr/>
        </p:nvSpPr>
        <p:spPr bwMode="auto">
          <a:xfrm>
            <a:off x="4305047" y="2701454"/>
            <a:ext cx="338577" cy="400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0" name="TextBox 1"/>
          <p:cNvSpPr txBox="1">
            <a:spLocks noChangeArrowheads="1"/>
          </p:cNvSpPr>
          <p:nvPr/>
        </p:nvSpPr>
        <p:spPr bwMode="auto">
          <a:xfrm>
            <a:off x="5013756" y="3506982"/>
            <a:ext cx="338577" cy="400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1" name="TextBox 1"/>
          <p:cNvSpPr txBox="1">
            <a:spLocks noChangeArrowheads="1"/>
          </p:cNvSpPr>
          <p:nvPr/>
        </p:nvSpPr>
        <p:spPr bwMode="auto">
          <a:xfrm>
            <a:off x="4456910" y="4227322"/>
            <a:ext cx="338577" cy="400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1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732240" y="1631442"/>
          <a:ext cx="16295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462">
                  <a:extLst>
                    <a:ext uri="{9D8B030D-6E8A-4147-A177-3AD203B41FA5}">
                      <a16:colId xmlns:a16="http://schemas.microsoft.com/office/drawing/2014/main" val="2009873612"/>
                    </a:ext>
                  </a:extLst>
                </a:gridCol>
                <a:gridCol w="968137">
                  <a:extLst>
                    <a:ext uri="{9D8B030D-6E8A-4147-A177-3AD203B41FA5}">
                      <a16:colId xmlns:a16="http://schemas.microsoft.com/office/drawing/2014/main" val="685557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823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276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272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18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491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914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922604"/>
                  </a:ext>
                </a:extLst>
              </a:tr>
            </a:tbl>
          </a:graphicData>
        </a:graphic>
      </p:graphicFrame>
      <p:sp>
        <p:nvSpPr>
          <p:cNvPr id="43" name="TextBox 1"/>
          <p:cNvSpPr txBox="1">
            <a:spLocks noChangeArrowheads="1"/>
          </p:cNvSpPr>
          <p:nvPr/>
        </p:nvSpPr>
        <p:spPr bwMode="auto">
          <a:xfrm>
            <a:off x="3408410" y="3427005"/>
            <a:ext cx="338577" cy="400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Symbol" pitchFamily="18" charset="2"/>
              <a:buChar char="·"/>
              <a:defRPr sz="3200"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Exercise 1.1 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3024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1.2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How many storage saved compared to ASCII                   code and shortest fixed-length code?</a:t>
            </a:r>
          </a:p>
          <a:p>
            <a:r>
              <a:rPr lang="en-US" sz="2800" dirty="0"/>
              <a:t>Huffman: 100,000 × (0.45×1 + 0.13×3 + 0.12×3 + 0.16×3+ 0.09×4 + 0.05×4) = 224,000 bits</a:t>
            </a:r>
          </a:p>
          <a:p>
            <a:r>
              <a:rPr lang="en-US" sz="2800" dirty="0"/>
              <a:t>ASCII: 100,000 × 8 = 800,000 bits</a:t>
            </a:r>
          </a:p>
          <a:p>
            <a:r>
              <a:rPr lang="en-US" sz="2800" dirty="0"/>
              <a:t>Fixed-length: 100,000 × ceil(log</a:t>
            </a:r>
            <a:r>
              <a:rPr lang="en-US" sz="2800" baseline="-25000" dirty="0"/>
              <a:t>2</a:t>
            </a:r>
            <a:r>
              <a:rPr lang="en-US" sz="2800" dirty="0"/>
              <a:t>6) = 300,000 bits</a:t>
            </a:r>
          </a:p>
          <a:p>
            <a:r>
              <a:rPr lang="en-US" sz="2800" dirty="0"/>
              <a:t>Savings are trivial and omitted here …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28892" y="0"/>
          <a:ext cx="211510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036">
                  <a:extLst>
                    <a:ext uri="{9D8B030D-6E8A-4147-A177-3AD203B41FA5}">
                      <a16:colId xmlns:a16="http://schemas.microsoft.com/office/drawing/2014/main" val="2009873612"/>
                    </a:ext>
                  </a:extLst>
                </a:gridCol>
                <a:gridCol w="705036">
                  <a:extLst>
                    <a:ext uri="{9D8B030D-6E8A-4147-A177-3AD203B41FA5}">
                      <a16:colId xmlns:a16="http://schemas.microsoft.com/office/drawing/2014/main" val="685557208"/>
                    </a:ext>
                  </a:extLst>
                </a:gridCol>
                <a:gridCol w="705036">
                  <a:extLst>
                    <a:ext uri="{9D8B030D-6E8A-4147-A177-3AD203B41FA5}">
                      <a16:colId xmlns:a16="http://schemas.microsoft.com/office/drawing/2014/main" val="1724868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Freq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823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276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272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18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491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0914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922604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3661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Huffman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Question: why the decoding is unique?</a:t>
            </a:r>
          </a:p>
          <a:p>
            <a:r>
              <a:rPr lang="en-US" dirty="0"/>
              <a:t>Question: can we compress an image with Huffman coding?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0839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Task: merge k sorted linked lists and obtain a sorted list.</a:t>
            </a:r>
          </a:p>
          <a:p>
            <a:r>
              <a:rPr lang="en-US" dirty="0"/>
              <a:t>Simpler task first: if k = 2?</a:t>
            </a:r>
          </a:p>
          <a:p>
            <a:r>
              <a:rPr lang="en-US" dirty="0"/>
              <a:t>Question: what is the complexity of your algorithm? (Suppose their sizes are n</a:t>
            </a:r>
            <a:r>
              <a:rPr lang="en-US" baseline="-25000" dirty="0"/>
              <a:t>1</a:t>
            </a:r>
            <a:r>
              <a:rPr lang="en-US" dirty="0"/>
              <a:t> and n</a:t>
            </a:r>
            <a:r>
              <a:rPr lang="en-US" baseline="-25000" dirty="0"/>
              <a:t>2</a:t>
            </a:r>
            <a:r>
              <a:rPr lang="en-US" dirty="0"/>
              <a:t> respectively, and total length is 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8042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Task: merge k sorted linked lists and obtain a sorted list.</a:t>
            </a:r>
          </a:p>
          <a:p>
            <a:r>
              <a:rPr lang="en-US" dirty="0"/>
              <a:t>Simpler task first: if k = 2? </a:t>
            </a:r>
            <a:r>
              <a:rPr lang="en-US" dirty="0">
                <a:solidFill>
                  <a:srgbClr val="FF0000"/>
                </a:solidFill>
              </a:rPr>
              <a:t>Recursively add the smaller head of the two lists to the output list until one list becomes empty, then append the remaining non-empty list to the output list.</a:t>
            </a:r>
          </a:p>
          <a:p>
            <a:r>
              <a:rPr lang="en-US" dirty="0"/>
              <a:t>Question: what is the complexity of your algorithm? </a:t>
            </a:r>
            <a:r>
              <a:rPr lang="en-US" dirty="0">
                <a:solidFill>
                  <a:srgbClr val="FF0000"/>
                </a:solidFill>
              </a:rPr>
              <a:t>O(n</a:t>
            </a:r>
            <a:r>
              <a:rPr lang="en-US" baseline="-25000" dirty="0">
                <a:solidFill>
                  <a:srgbClr val="FF0000"/>
                </a:solidFill>
              </a:rPr>
              <a:t>1 </a:t>
            </a:r>
            <a:r>
              <a:rPr lang="en-US" dirty="0">
                <a:solidFill>
                  <a:srgbClr val="FF0000"/>
                </a:solidFill>
              </a:rPr>
              <a:t>+ n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5175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Task: merge k sorted linked lists and obtain a sorted list.</a:t>
            </a:r>
          </a:p>
          <a:p>
            <a:r>
              <a:rPr lang="en-US" dirty="0"/>
              <a:t>How to do this? </a:t>
            </a:r>
            <a:r>
              <a:rPr lang="en-US" dirty="0">
                <a:solidFill>
                  <a:srgbClr val="FF0000"/>
                </a:solidFill>
              </a:rPr>
              <a:t>Recursively add the smallest head of any list to the output list until only one list is not empty and then append?</a:t>
            </a:r>
          </a:p>
          <a:p>
            <a:r>
              <a:rPr lang="en-US" dirty="0"/>
              <a:t>Question: what is the complexity of your algorithm? How to obtain the smallest head?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3080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Sorted List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Task: merge k sorted linked lists and obtain a sorted list (total amount of elements is </a:t>
                </a:r>
                <a:r>
                  <a:rPr lang="en-US" dirty="0">
                    <a:solidFill>
                      <a:srgbClr val="FF0000"/>
                    </a:solidFill>
                  </a:rPr>
                  <a:t>n</a:t>
                </a:r>
                <a:r>
                  <a:rPr lang="en-US" dirty="0"/>
                  <a:t>).</a:t>
                </a:r>
              </a:p>
              <a:p>
                <a:r>
                  <a:rPr lang="en-US" dirty="0"/>
                  <a:t>How to do this? </a:t>
                </a:r>
                <a:r>
                  <a:rPr lang="en-US" dirty="0">
                    <a:solidFill>
                      <a:srgbClr val="FF0000"/>
                    </a:solidFill>
                  </a:rPr>
                  <a:t>Recursively add the smallest head of any list to the output list until only one list is not empty and then append?</a:t>
                </a:r>
              </a:p>
              <a:p>
                <a:r>
                  <a:rPr lang="en-US" dirty="0"/>
                  <a:t>Question: what is the complexity of your algorithm? How to obtain the smallest head? </a:t>
                </a:r>
                <a:r>
                  <a:rPr lang="en-US" dirty="0">
                    <a:solidFill>
                      <a:srgbClr val="FF0000"/>
                    </a:solidFill>
                  </a:rPr>
                  <a:t>If going through all list heads,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𝑛𝑘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; with heap, O(</a:t>
                </a:r>
                <a:r>
                  <a:rPr lang="en-US" dirty="0" err="1">
                    <a:solidFill>
                      <a:srgbClr val="FF0000"/>
                    </a:solidFill>
                  </a:rPr>
                  <a:t>nlogk</a:t>
                </a:r>
                <a:r>
                  <a:rPr lang="en-US" dirty="0">
                    <a:solidFill>
                      <a:srgbClr val="FF0000"/>
                    </a:solidFill>
                  </a:rPr>
                  <a:t>).</a:t>
                </a:r>
              </a:p>
              <a:p>
                <a:r>
                  <a:rPr lang="en-US" dirty="0"/>
                  <a:t>Concatenate all lists and sorting: </a:t>
                </a:r>
                <a:r>
                  <a:rPr lang="en-US" dirty="0">
                    <a:solidFill>
                      <a:srgbClr val="FF0000"/>
                    </a:solidFill>
                  </a:rPr>
                  <a:t>O(</a:t>
                </a:r>
                <a:r>
                  <a:rPr lang="en-US" dirty="0" err="1">
                    <a:solidFill>
                      <a:srgbClr val="FF0000"/>
                    </a:solidFill>
                  </a:rPr>
                  <a:t>nlogn</a:t>
                </a:r>
                <a:r>
                  <a:rPr lang="en-US" dirty="0">
                    <a:solidFill>
                      <a:srgbClr val="FF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2695" b="-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3010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Topological Sort</a:t>
            </a:r>
          </a:p>
          <a:p>
            <a:pPr lvl="1"/>
            <a:r>
              <a:rPr lang="en-US" altLang="zh-CN" dirty="0"/>
              <a:t>Kahn's Algorithm</a:t>
            </a:r>
          </a:p>
          <a:p>
            <a:pPr lvl="1"/>
            <a:r>
              <a:rPr lang="en-US" altLang="zh-CN" dirty="0"/>
              <a:t>DFS-based Algorithm</a:t>
            </a:r>
          </a:p>
          <a:p>
            <a:r>
              <a:rPr lang="en-US" altLang="zh-CN" dirty="0"/>
              <a:t>Heap</a:t>
            </a:r>
          </a:p>
          <a:p>
            <a:pPr lvl="1"/>
            <a:r>
              <a:rPr lang="en-US" altLang="zh-CN" dirty="0"/>
              <a:t>Huffman Coding</a:t>
            </a:r>
          </a:p>
          <a:p>
            <a:pPr lvl="1"/>
            <a:r>
              <a:rPr lang="en-US" altLang="zh-CN" dirty="0"/>
              <a:t>Merge Sorted List</a:t>
            </a:r>
          </a:p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470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8100"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2052</TotalTime>
  <Words>2179</Words>
  <Application>Microsoft Macintosh PowerPoint</Application>
  <PresentationFormat>全屏显示(4:3)</PresentationFormat>
  <Paragraphs>774</Paragraphs>
  <Slides>62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68" baseType="lpstr">
      <vt:lpstr>cmmi10</vt:lpstr>
      <vt:lpstr>Arial</vt:lpstr>
      <vt:lpstr>Calibri</vt:lpstr>
      <vt:lpstr>Cambria Math</vt:lpstr>
      <vt:lpstr>Courier New</vt:lpstr>
      <vt:lpstr>Office 主题</vt:lpstr>
      <vt:lpstr>CSCI2520 Tutorial 10: Topological Sort and Heap</vt:lpstr>
      <vt:lpstr>Outline</vt:lpstr>
      <vt:lpstr>Topological Sort</vt:lpstr>
      <vt:lpstr>Topological Sort</vt:lpstr>
      <vt:lpstr>Topological Sort</vt:lpstr>
      <vt:lpstr>Toposort Examples</vt:lpstr>
      <vt:lpstr>Toposort Examples</vt:lpstr>
      <vt:lpstr>Why DAG?</vt:lpstr>
      <vt:lpstr>How to do it?</vt:lpstr>
      <vt:lpstr>Kahn's Algorithm</vt:lpstr>
      <vt:lpstr>Kahn's Algorithm</vt:lpstr>
      <vt:lpstr>Kahn's Algorithm</vt:lpstr>
      <vt:lpstr>Kahn's Algorithm</vt:lpstr>
      <vt:lpstr>Kahn's Algorithm</vt:lpstr>
      <vt:lpstr>Kahn's Algorithm</vt:lpstr>
      <vt:lpstr>Kahn's Algorithm</vt:lpstr>
      <vt:lpstr>Kahn's Algorithm</vt:lpstr>
      <vt:lpstr>Kahn's Algorithm Pseudocode</vt:lpstr>
      <vt:lpstr>Kahn's Algorithm Details</vt:lpstr>
      <vt:lpstr>Kahn's Algorithm Details</vt:lpstr>
      <vt:lpstr>Kahn's Algorithm Details</vt:lpstr>
      <vt:lpstr>Kahn's Algorithm Details</vt:lpstr>
      <vt:lpstr>DFS-based Algorithm</vt:lpstr>
      <vt:lpstr>DFS-based Algorithm</vt:lpstr>
      <vt:lpstr>DFS-based Algorithm</vt:lpstr>
      <vt:lpstr>DFS-based Algorithm</vt:lpstr>
      <vt:lpstr>DFS-based Algorithm</vt:lpstr>
      <vt:lpstr>DFS-based Algorithm</vt:lpstr>
      <vt:lpstr>DFS-based Algorithm</vt:lpstr>
      <vt:lpstr>DFS-based Algorithm</vt:lpstr>
      <vt:lpstr>DFS-based Algorithm</vt:lpstr>
      <vt:lpstr>DFS-based Algorithm</vt:lpstr>
      <vt:lpstr>DFS-based Algorithm</vt:lpstr>
      <vt:lpstr>DFS-based Algorithm</vt:lpstr>
      <vt:lpstr>DFS-based Algorithm</vt:lpstr>
      <vt:lpstr>DFS-based Algorithm Pseudocode</vt:lpstr>
      <vt:lpstr>DFS-based Algorithm</vt:lpstr>
      <vt:lpstr>DFS-based Algorithm</vt:lpstr>
      <vt:lpstr>Practices</vt:lpstr>
      <vt:lpstr>Heap</vt:lpstr>
      <vt:lpstr>Heap</vt:lpstr>
      <vt:lpstr>Huffman Coding</vt:lpstr>
      <vt:lpstr>Exercise</vt:lpstr>
      <vt:lpstr>Exercise 1.1 Solution</vt:lpstr>
      <vt:lpstr>Exercise 1.1 Solution</vt:lpstr>
      <vt:lpstr>Exercise 1.1 Solution</vt:lpstr>
      <vt:lpstr>Exercise 1.1 Solution</vt:lpstr>
      <vt:lpstr>Exercise 1.1 Solution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Exercise 1.1 Solution</vt:lpstr>
      <vt:lpstr>Exercise 1.2 Solution</vt:lpstr>
      <vt:lpstr>Huffman Coding</vt:lpstr>
      <vt:lpstr>Merge Sorted List</vt:lpstr>
      <vt:lpstr>Merge Sorted List</vt:lpstr>
      <vt:lpstr>Merge Sorted List</vt:lpstr>
      <vt:lpstr>Merge Sorted List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CSCI2520 Tutorial 1 (Week 2): C Programming Review</dc:title>
  <dc:creator>gjchen</dc:creator>
  <cp:lastModifiedBy>LI, Hui</cp:lastModifiedBy>
  <cp:revision>166</cp:revision>
  <dcterms:created xsi:type="dcterms:W3CDTF">2016-01-18T13:38:47Z</dcterms:created>
  <dcterms:modified xsi:type="dcterms:W3CDTF">2025-04-10T09:11:29Z</dcterms:modified>
</cp:coreProperties>
</file>