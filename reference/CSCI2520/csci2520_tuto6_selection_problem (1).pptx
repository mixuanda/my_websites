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8"/>
  </p:notesMasterIdLst>
  <p:sldIdLst>
    <p:sldId id="256" r:id="rId2"/>
    <p:sldId id="282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6" r:id="rId19"/>
    <p:sldId id="275" r:id="rId20"/>
    <p:sldId id="274" r:id="rId21"/>
    <p:sldId id="277" r:id="rId22"/>
    <p:sldId id="278" r:id="rId23"/>
    <p:sldId id="279" r:id="rId24"/>
    <p:sldId id="280" r:id="rId25"/>
    <p:sldId id="281" r:id="rId26"/>
    <p:sldId id="283" r:id="rId2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/>
    <p:restoredTop sz="85205" autoAdjust="0"/>
  </p:normalViewPr>
  <p:slideViewPr>
    <p:cSldViewPr>
      <p:cViewPr varScale="1">
        <p:scale>
          <a:sx n="137" d="100"/>
          <a:sy n="137" d="100"/>
        </p:scale>
        <p:origin x="2476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, Hui" userId="2acf357a-d887-4e08-95d2-f44b1823070d" providerId="ADAL" clId="{DE08FE91-4B39-1F4A-9391-63FA9FBBB33A}"/>
    <pc:docChg chg="modSld">
      <pc:chgData name="LI, Hui" userId="2acf357a-d887-4e08-95d2-f44b1823070d" providerId="ADAL" clId="{DE08FE91-4B39-1F4A-9391-63FA9FBBB33A}" dt="2025-03-06T08:43:33.156" v="18" actId="20577"/>
      <pc:docMkLst>
        <pc:docMk/>
      </pc:docMkLst>
      <pc:sldChg chg="modSp mod">
        <pc:chgData name="LI, Hui" userId="2acf357a-d887-4e08-95d2-f44b1823070d" providerId="ADAL" clId="{DE08FE91-4B39-1F4A-9391-63FA9FBBB33A}" dt="2025-03-06T08:43:33.156" v="18" actId="20577"/>
        <pc:sldMkLst>
          <pc:docMk/>
          <pc:sldMk cId="1346080441" sldId="256"/>
        </pc:sldMkLst>
        <pc:spChg chg="mod">
          <ac:chgData name="LI, Hui" userId="2acf357a-d887-4e08-95d2-f44b1823070d" providerId="ADAL" clId="{DE08FE91-4B39-1F4A-9391-63FA9FBBB33A}" dt="2025-03-06T08:43:33.156" v="18" actId="20577"/>
          <ac:spMkLst>
            <pc:docMk/>
            <pc:sldMk cId="1346080441" sldId="256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624543-D117-4FAE-B2D8-BA38168DA83B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D16CBC-8DC5-4156-9E82-CF8406BBC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644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D16CBC-8DC5-4156-9E82-CF8406BBCF0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666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D16CBC-8DC5-4156-9E82-CF8406BBCF0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5541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D16CBC-8DC5-4156-9E82-CF8406BBCF0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548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B1723-DD24-4D9D-BF3E-8DA5A09FDDE7}" type="datetime1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6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0C0DD-8547-4700-BC7B-FE8AA369233A}" type="datetime1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6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D7181-6256-4C8D-92D0-C49FB1775050}" type="datetime1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6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44554-DDF4-4F70-85D7-FDBFD86A740A}" type="datetime1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6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78A77-1280-4217-90D6-846CCCCEEBAB}" type="datetime1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6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24406-8B97-4E0C-A990-A3F1E585137F}" type="datetime1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6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D3899-2670-4C7D-BFE6-FFDF10769A00}" type="datetime1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6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33278-95BA-4953-9111-482EB7E724B1}" type="datetime1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6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0327C-08D6-45B2-9046-0AA5BBB999F0}" type="datetime1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6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EC64D-F567-42FE-B032-4A7714DAC6F6}" type="datetime1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6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D36FA-2FD7-46EF-AD28-6AA795810510}" type="datetime1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6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93E2A6-900C-49BD-9277-B91755853B5C}" type="datetime1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CSCI2520 Tutorial 6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zypan24@cse.cuhk.edu.h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google.com/forms/d/e/1FAIpQLSdPmwH3oIzRxZpwW-1XebTrdTnOyDGjTdPOwpnPqgwnmgwi6Q/viewform?usp=header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forms/d/e/1FAIpQLSeQae3jZ9up030JrhCl7LyjZAr3PGCvO0NQo0zzIhaL0jOeOg/viewform?usp=header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CSCI2520 Tutorial 6</a:t>
            </a:r>
            <a:br>
              <a:rPr lang="en-US" dirty="0"/>
            </a:br>
            <a:r>
              <a:rPr lang="en-US" dirty="0"/>
              <a:t>Selection Problem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CN" dirty="0"/>
              <a:t>Pan Zhenyu</a:t>
            </a:r>
          </a:p>
          <a:p>
            <a:r>
              <a:rPr lang="en-US" altLang="zh-CN" dirty="0">
                <a:hlinkClick r:id="rId2"/>
              </a:rPr>
              <a:t>zypan24@cse.cuhk.edu.hk</a:t>
            </a:r>
            <a:endParaRPr lang="en-US" altLang="zh-CN" dirty="0"/>
          </a:p>
          <a:p>
            <a:r>
              <a:rPr lang="en-US" altLang="zh-CN" dirty="0"/>
              <a:t>Slide Ack: modified based on the slides from Li Hui</a:t>
            </a:r>
          </a:p>
        </p:txBody>
      </p:sp>
    </p:spTree>
    <p:extLst>
      <p:ext uri="{BB962C8B-B14F-4D97-AF65-F5344CB8AC3E}">
        <p14:creationId xmlns:p14="http://schemas.microsoft.com/office/powerpoint/2010/main" val="1346080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D1076-C331-13F4-FF15-61AAAAB9F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8EA595-EBEF-F695-9444-D366157FD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6</a:t>
            </a:r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59FCA7A-AED0-EDCE-290C-2C1F9F8C7E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4201" y="1944019"/>
            <a:ext cx="2895599" cy="282799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B2BAC3A9-8E03-EF96-3405-19061F3F98A3}"/>
              </a:ext>
            </a:extLst>
          </p:cNvPr>
          <p:cNvSpPr txBox="1"/>
          <p:nvPr/>
        </p:nvSpPr>
        <p:spPr>
          <a:xfrm>
            <a:off x="1367643" y="1268760"/>
            <a:ext cx="64087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/>
              <a:t>1st Midterm Feedback Survey</a:t>
            </a:r>
            <a:endParaRPr lang="zh-CN" altLang="en-US" sz="3600" b="1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180970A-30F7-295C-D74C-F78DCEFC5230}"/>
              </a:ext>
            </a:extLst>
          </p:cNvPr>
          <p:cNvSpPr txBox="1"/>
          <p:nvPr/>
        </p:nvSpPr>
        <p:spPr>
          <a:xfrm>
            <a:off x="2285999" y="4964019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hlinkClick r:id="rId4"/>
              </a:rPr>
              <a:t>https://docs.google.com/forms/d/e/1FAIpQLSdPmwH3oIzRxZpwW-1XebTrdTnOyDGjTdPOwpnPqgwnmgwi6Q/viewform?usp=header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49014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Selection Problem</a:t>
            </a:r>
          </a:p>
          <a:p>
            <a:r>
              <a:rPr lang="en-US" dirty="0"/>
              <a:t>Two Naive Approaches</a:t>
            </a:r>
          </a:p>
          <a:p>
            <a:r>
              <a:rPr lang="en-US" dirty="0" err="1"/>
              <a:t>Quickselect</a:t>
            </a:r>
            <a:r>
              <a:rPr lang="en-US" dirty="0"/>
              <a:t> – extension of quicksort</a:t>
            </a:r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6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5833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selection algorithm is an algorithm for finding the </a:t>
            </a:r>
            <a:r>
              <a:rPr lang="en-US" b="1" i="1" dirty="0">
                <a:solidFill>
                  <a:srgbClr val="FF0000"/>
                </a:solidFill>
              </a:rPr>
              <a:t>kth smallest </a:t>
            </a:r>
            <a:r>
              <a:rPr lang="en-US" dirty="0"/>
              <a:t>element in a list.</a:t>
            </a:r>
          </a:p>
          <a:p>
            <a:r>
              <a:rPr lang="en-US" dirty="0"/>
              <a:t>For example</a:t>
            </a:r>
          </a:p>
          <a:p>
            <a:pPr lvl="1"/>
            <a:r>
              <a:rPr lang="en-US" dirty="0"/>
              <a:t>For array (11, 6, 43, 7, 14, 28, 9, 2, 4, 37, 18, 34, 8)</a:t>
            </a:r>
          </a:p>
          <a:p>
            <a:pPr lvl="1"/>
            <a:r>
              <a:rPr lang="en-US" dirty="0"/>
              <a:t>What’s the answer if k = 3? k = 7? k = 1? k = 13?</a:t>
            </a:r>
          </a:p>
          <a:p>
            <a:r>
              <a:rPr lang="en-US" dirty="0"/>
              <a:t>Question: what value of k makes the problem simplest?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6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403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37112"/>
          </a:xfrm>
        </p:spPr>
        <p:txBody>
          <a:bodyPr>
            <a:normAutofit/>
          </a:bodyPr>
          <a:lstStyle/>
          <a:p>
            <a:r>
              <a:rPr lang="en-US" dirty="0"/>
              <a:t>Special cases for selection problem: find the minimum/maximum of a list.</a:t>
            </a:r>
          </a:p>
          <a:p>
            <a:r>
              <a:rPr lang="en-US" dirty="0"/>
              <a:t>How to solve it? Easy!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Question: what is the complexity?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6</a:t>
            </a:r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403648" y="3212976"/>
            <a:ext cx="5262979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Func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FindMinimum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</a:t>
            </a:r>
            <a:r>
              <a:rPr lang="en-US" sz="2000" dirty="0" err="1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arr</a:t>
            </a:r>
            <a:r>
              <a:rPr lang="en-US" sz="2000" dirty="0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: 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list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, </a:t>
            </a:r>
            <a:r>
              <a:rPr lang="en-US" sz="2000" dirty="0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n: 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):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min = </a:t>
            </a:r>
            <a:r>
              <a:rPr lang="en-US" sz="2000" dirty="0">
                <a:solidFill>
                  <a:srgbClr val="6F008A"/>
                </a:solidFill>
                <a:highlight>
                  <a:srgbClr val="FFFFFF"/>
                </a:highlight>
                <a:latin typeface="Consolas"/>
              </a:rPr>
              <a:t>INT_MAX</a:t>
            </a: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nn-NO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nn-NO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for</a:t>
            </a:r>
            <a:r>
              <a:rPr lang="nn-NO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nn-NO" altLang="zh-CN" sz="2000" dirty="0">
                <a:solidFill>
                  <a:schemeClr val="bg2">
                    <a:lumMod val="50000"/>
                  </a:schemeClr>
                </a:solidFill>
                <a:highlight>
                  <a:srgbClr val="FFFFFF"/>
                </a:highlight>
                <a:latin typeface="Consolas"/>
              </a:rPr>
              <a:t>i</a:t>
            </a:r>
            <a:r>
              <a:rPr lang="nn-NO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 from </a:t>
            </a:r>
            <a:r>
              <a:rPr lang="nn-NO" altLang="zh-CN" sz="2000" dirty="0">
                <a:solidFill>
                  <a:schemeClr val="bg2">
                    <a:lumMod val="50000"/>
                  </a:schemeClr>
                </a:solidFill>
                <a:highlight>
                  <a:srgbClr val="FFFFFF"/>
                </a:highlight>
                <a:latin typeface="Consolas"/>
              </a:rPr>
              <a:t>0</a:t>
            </a:r>
            <a:r>
              <a:rPr lang="nn-NO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 to </a:t>
            </a:r>
            <a:r>
              <a:rPr lang="nn-NO" altLang="zh-CN" sz="2000" dirty="0">
                <a:solidFill>
                  <a:schemeClr val="bg2">
                    <a:lumMod val="50000"/>
                  </a:schemeClr>
                </a:solidFill>
                <a:highlight>
                  <a:srgbClr val="FFFFFF"/>
                </a:highlight>
                <a:latin typeface="Consolas"/>
              </a:rPr>
              <a:t>n-1</a:t>
            </a:r>
            <a:r>
              <a:rPr lang="nn-NO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:</a:t>
            </a:r>
            <a:endParaRPr lang="nn-NO" altLang="zh-CN" sz="20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if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2000" dirty="0" err="1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arr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[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] &lt; min: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	     min = </a:t>
            </a:r>
            <a:r>
              <a:rPr lang="en-US" sz="2000" dirty="0" err="1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arr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[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]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	 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=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+ 1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return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min</a:t>
            </a:r>
          </a:p>
        </p:txBody>
      </p:sp>
    </p:spTree>
    <p:extLst>
      <p:ext uri="{BB962C8B-B14F-4D97-AF65-F5344CB8AC3E}">
        <p14:creationId xmlns:p14="http://schemas.microsoft.com/office/powerpoint/2010/main" val="1486965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37112"/>
          </a:xfrm>
        </p:spPr>
        <p:txBody>
          <a:bodyPr>
            <a:normAutofit/>
          </a:bodyPr>
          <a:lstStyle/>
          <a:p>
            <a:r>
              <a:rPr lang="en-US" dirty="0"/>
              <a:t>Special cases for selection problem: find the minimum/maximum of a list.</a:t>
            </a:r>
          </a:p>
          <a:p>
            <a:r>
              <a:rPr lang="en-US" dirty="0"/>
              <a:t>How to solve it? Easy!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Question: what is the complexity? </a:t>
            </a:r>
            <a:r>
              <a:rPr lang="en-US" b="1" i="1" dirty="0">
                <a:solidFill>
                  <a:srgbClr val="FF0000"/>
                </a:solidFill>
              </a:rPr>
              <a:t>O(n)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6</a:t>
            </a:r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403648" y="3212976"/>
            <a:ext cx="5262979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Func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FindMinimum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</a:t>
            </a:r>
            <a:r>
              <a:rPr lang="en-US" altLang="zh-CN" sz="2000" dirty="0" err="1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arr</a:t>
            </a:r>
            <a:r>
              <a:rPr lang="en-US" altLang="zh-CN" sz="2000" dirty="0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: 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list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, </a:t>
            </a:r>
            <a:r>
              <a:rPr lang="en-US" altLang="zh-CN" sz="2000" dirty="0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n: 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):</a:t>
            </a: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min = </a:t>
            </a:r>
            <a:r>
              <a:rPr lang="en-US" altLang="zh-CN" sz="2000" dirty="0">
                <a:solidFill>
                  <a:srgbClr val="6F008A"/>
                </a:solidFill>
                <a:highlight>
                  <a:srgbClr val="FFFFFF"/>
                </a:highlight>
                <a:latin typeface="Consolas"/>
              </a:rPr>
              <a:t>INT_MAX</a:t>
            </a:r>
            <a:endParaRPr lang="en-US" altLang="zh-CN" sz="20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nn-NO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nn-NO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for</a:t>
            </a:r>
            <a:r>
              <a:rPr lang="nn-NO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nn-NO" altLang="zh-CN" sz="2000" dirty="0">
                <a:solidFill>
                  <a:schemeClr val="bg2">
                    <a:lumMod val="50000"/>
                  </a:schemeClr>
                </a:solidFill>
                <a:highlight>
                  <a:srgbClr val="FFFFFF"/>
                </a:highlight>
                <a:latin typeface="Consolas"/>
              </a:rPr>
              <a:t>i</a:t>
            </a:r>
            <a:r>
              <a:rPr lang="nn-NO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 from </a:t>
            </a:r>
            <a:r>
              <a:rPr lang="nn-NO" altLang="zh-CN" sz="2000" dirty="0">
                <a:solidFill>
                  <a:schemeClr val="bg2">
                    <a:lumMod val="50000"/>
                  </a:schemeClr>
                </a:solidFill>
                <a:highlight>
                  <a:srgbClr val="FFFFFF"/>
                </a:highlight>
                <a:latin typeface="Consolas"/>
              </a:rPr>
              <a:t>0</a:t>
            </a:r>
            <a:r>
              <a:rPr lang="nn-NO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 to </a:t>
            </a:r>
            <a:r>
              <a:rPr lang="nn-NO" altLang="zh-CN" sz="2000" dirty="0">
                <a:solidFill>
                  <a:schemeClr val="bg2">
                    <a:lumMod val="50000"/>
                  </a:schemeClr>
                </a:solidFill>
                <a:highlight>
                  <a:srgbClr val="FFFFFF"/>
                </a:highlight>
                <a:latin typeface="Consolas"/>
              </a:rPr>
              <a:t>n-1</a:t>
            </a:r>
            <a:r>
              <a:rPr lang="nn-NO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:</a:t>
            </a:r>
            <a:endParaRPr lang="nn-NO" altLang="zh-CN" sz="20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if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altLang="zh-CN" sz="2000" dirty="0" err="1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arr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[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] &lt; min:</a:t>
            </a: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	     min = </a:t>
            </a:r>
            <a:r>
              <a:rPr lang="en-US" altLang="zh-CN" sz="2000" dirty="0" err="1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arr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[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]</a:t>
            </a: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	 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=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+ 1</a:t>
            </a: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return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min</a:t>
            </a:r>
          </a:p>
        </p:txBody>
      </p:sp>
    </p:spTree>
    <p:extLst>
      <p:ext uri="{BB962C8B-B14F-4D97-AF65-F5344CB8AC3E}">
        <p14:creationId xmlns:p14="http://schemas.microsoft.com/office/powerpoint/2010/main" val="1296308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Naive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to find kth smallest element of a list?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6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2805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Naive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to find kth smallest element of a list?</a:t>
            </a:r>
          </a:p>
          <a:p>
            <a:pPr lvl="1"/>
            <a:r>
              <a:rPr lang="en-US" dirty="0"/>
              <a:t>Sort the array and go to the kth position.</a:t>
            </a:r>
          </a:p>
          <a:p>
            <a:pPr lvl="1"/>
            <a:r>
              <a:rPr lang="en-US" dirty="0"/>
              <a:t>Find the smallest element, remove it from the list, and find the (k-1)</a:t>
            </a:r>
            <a:r>
              <a:rPr lang="en-US" dirty="0" err="1"/>
              <a:t>th</a:t>
            </a:r>
            <a:r>
              <a:rPr lang="en-US" dirty="0"/>
              <a:t> smallest element in the remaining list.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6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9207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Implement the second approach with the following prototype.</a:t>
            </a:r>
          </a:p>
          <a:p>
            <a:pPr lvl="1"/>
            <a:r>
              <a:rPr lang="en-US" dirty="0"/>
              <a:t>find the smallest element</a:t>
            </a:r>
          </a:p>
          <a:p>
            <a:pPr lvl="1"/>
            <a:r>
              <a:rPr lang="en-US" dirty="0"/>
              <a:t>remove it from the list</a:t>
            </a:r>
          </a:p>
          <a:p>
            <a:pPr lvl="1"/>
            <a:r>
              <a:rPr lang="en-US" dirty="0"/>
              <a:t>find the (k-1)</a:t>
            </a:r>
            <a:r>
              <a:rPr lang="en-US" dirty="0" err="1"/>
              <a:t>th</a:t>
            </a:r>
            <a:r>
              <a:rPr lang="en-US" dirty="0"/>
              <a:t> smallest element in the remaining list.</a:t>
            </a:r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6</a:t>
            </a:r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2555776" y="371703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176184" y="5002951"/>
            <a:ext cx="6673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Func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FindKthElement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</a:t>
            </a:r>
            <a:r>
              <a:rPr lang="en-US" altLang="zh-CN" sz="2000" dirty="0" err="1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arr</a:t>
            </a:r>
            <a:r>
              <a:rPr lang="en-US" altLang="zh-CN" sz="2000" dirty="0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: 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list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, </a:t>
            </a:r>
            <a:r>
              <a:rPr lang="en-US" altLang="zh-CN" sz="2000" dirty="0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n: 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int, </a:t>
            </a:r>
            <a:r>
              <a:rPr lang="en-US" altLang="zh-CN" sz="2000" dirty="0">
                <a:solidFill>
                  <a:schemeClr val="bg2">
                    <a:lumMod val="50000"/>
                  </a:schemeClr>
                </a:solidFill>
                <a:highlight>
                  <a:srgbClr val="FFFFFF"/>
                </a:highlight>
                <a:latin typeface="Consolas"/>
              </a:rPr>
              <a:t>k: 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825767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 Solution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6</a:t>
            </a:r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683568" y="1628800"/>
            <a:ext cx="6136616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Func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FindKthElement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</a:t>
            </a:r>
            <a:r>
              <a:rPr lang="en-US" altLang="zh-CN" dirty="0" err="1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arr</a:t>
            </a:r>
            <a:r>
              <a:rPr lang="en-US" altLang="zh-CN" dirty="0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: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list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, </a:t>
            </a:r>
            <a:r>
              <a:rPr lang="en-US" altLang="zh-CN" dirty="0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n: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int, 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  <a:highlight>
                  <a:srgbClr val="FFFFFF"/>
                </a:highlight>
                <a:latin typeface="Consolas"/>
              </a:rPr>
              <a:t>k: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, j,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iMin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,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tmp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= 0</a:t>
            </a:r>
          </a:p>
          <a:p>
            <a:r>
              <a:rPr lang="nn-NO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nn-NO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for</a:t>
            </a:r>
            <a:r>
              <a:rPr lang="nn-NO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i = 0 to </a:t>
            </a:r>
            <a:r>
              <a:rPr lang="nn-NO" dirty="0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k-1</a:t>
            </a:r>
            <a:r>
              <a:rPr lang="nn-NO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: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iMin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=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for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j =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+ 1 to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n-1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: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if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(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arr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[j] &lt; 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arr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[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iMin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])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     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iMin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= j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	     j = j + 1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tmp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= 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arr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[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]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arr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[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] = 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arr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[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iMin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]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arr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[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iMin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] =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tmp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=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+ 1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return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arr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[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k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- 1]</a:t>
            </a:r>
          </a:p>
        </p:txBody>
      </p:sp>
      <p:sp>
        <p:nvSpPr>
          <p:cNvPr id="9" name="AutoShape 6"/>
          <p:cNvSpPr>
            <a:spLocks noChangeArrowheads="1"/>
          </p:cNvSpPr>
          <p:nvPr/>
        </p:nvSpPr>
        <p:spPr bwMode="auto">
          <a:xfrm>
            <a:off x="6804025" y="4426387"/>
            <a:ext cx="2339975" cy="715089"/>
          </a:xfrm>
          <a:prstGeom prst="wedgeRoundRectCallout">
            <a:avLst>
              <a:gd name="adj1" fmla="val -130348"/>
              <a:gd name="adj2" fmla="val -53187"/>
              <a:gd name="adj3" fmla="val 16667"/>
            </a:avLst>
          </a:prstGeom>
          <a:solidFill>
            <a:srgbClr val="FFFF99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1800" dirty="0"/>
              <a:t>Exchange </a:t>
            </a:r>
            <a:r>
              <a:rPr lang="en-US" altLang="zh-TW" sz="1600" b="1" dirty="0" err="1">
                <a:solidFill>
                  <a:srgbClr val="0000FF"/>
                </a:solidFill>
                <a:latin typeface="Courier New" pitchFamily="49" charset="0"/>
              </a:rPr>
              <a:t>arr</a:t>
            </a:r>
            <a:r>
              <a:rPr lang="en-US" altLang="zh-TW" sz="1600" b="1" dirty="0">
                <a:solidFill>
                  <a:srgbClr val="0000FF"/>
                </a:solidFill>
                <a:latin typeface="Courier New" pitchFamily="49" charset="0"/>
              </a:rPr>
              <a:t>[</a:t>
            </a:r>
            <a:r>
              <a:rPr lang="en-US" altLang="zh-TW" sz="1600" b="1" dirty="0" err="1">
                <a:solidFill>
                  <a:srgbClr val="0000FF"/>
                </a:solidFill>
                <a:latin typeface="Courier New" pitchFamily="49" charset="0"/>
              </a:rPr>
              <a:t>i</a:t>
            </a:r>
            <a:r>
              <a:rPr lang="en-US" altLang="zh-TW" sz="1600" b="1" dirty="0">
                <a:solidFill>
                  <a:srgbClr val="0000FF"/>
                </a:solidFill>
                <a:latin typeface="Courier New" pitchFamily="49" charset="0"/>
              </a:rPr>
              <a:t>]</a:t>
            </a:r>
            <a:r>
              <a:rPr lang="en-US" altLang="zh-TW" sz="1800" dirty="0"/>
              <a:t> and </a:t>
            </a:r>
            <a:r>
              <a:rPr lang="en-US" altLang="zh-TW" sz="1600" b="1" dirty="0" err="1">
                <a:solidFill>
                  <a:srgbClr val="0000FF"/>
                </a:solidFill>
                <a:latin typeface="Courier New" pitchFamily="49" charset="0"/>
              </a:rPr>
              <a:t>arr</a:t>
            </a:r>
            <a:r>
              <a:rPr lang="en-US" altLang="zh-TW" sz="1600" b="1" dirty="0">
                <a:solidFill>
                  <a:srgbClr val="0000FF"/>
                </a:solidFill>
                <a:latin typeface="Courier New" pitchFamily="49" charset="0"/>
              </a:rPr>
              <a:t>[</a:t>
            </a:r>
            <a:r>
              <a:rPr lang="en-US" altLang="zh-TW" sz="1600" b="1" dirty="0" err="1">
                <a:solidFill>
                  <a:srgbClr val="0000FF"/>
                </a:solidFill>
                <a:latin typeface="Courier New" pitchFamily="49" charset="0"/>
              </a:rPr>
              <a:t>iMin</a:t>
            </a:r>
            <a:r>
              <a:rPr lang="en-US" altLang="zh-TW" sz="1600" b="1" dirty="0">
                <a:solidFill>
                  <a:srgbClr val="0000FF"/>
                </a:solidFill>
                <a:latin typeface="Courier New" pitchFamily="49" charset="0"/>
              </a:rPr>
              <a:t>]</a:t>
            </a:r>
          </a:p>
        </p:txBody>
      </p:sp>
      <p:sp>
        <p:nvSpPr>
          <p:cNvPr id="10" name="AutoShape 7"/>
          <p:cNvSpPr>
            <a:spLocks/>
          </p:cNvSpPr>
          <p:nvPr/>
        </p:nvSpPr>
        <p:spPr bwMode="auto">
          <a:xfrm>
            <a:off x="5578475" y="2492375"/>
            <a:ext cx="433388" cy="1081088"/>
          </a:xfrm>
          <a:prstGeom prst="rightBrace">
            <a:avLst>
              <a:gd name="adj1" fmla="val 20788"/>
              <a:gd name="adj2" fmla="val 50000"/>
            </a:avLst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1" name="AutoShape 8"/>
          <p:cNvSpPr>
            <a:spLocks/>
          </p:cNvSpPr>
          <p:nvPr/>
        </p:nvSpPr>
        <p:spPr bwMode="auto">
          <a:xfrm>
            <a:off x="4469209" y="3990181"/>
            <a:ext cx="433387" cy="793750"/>
          </a:xfrm>
          <a:prstGeom prst="rightBrace">
            <a:avLst>
              <a:gd name="adj1" fmla="val 15263"/>
              <a:gd name="adj2" fmla="val 50000"/>
            </a:avLst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2" name="AutoShape 9"/>
          <p:cNvSpPr>
            <a:spLocks noChangeArrowheads="1"/>
          </p:cNvSpPr>
          <p:nvPr/>
        </p:nvSpPr>
        <p:spPr bwMode="auto">
          <a:xfrm>
            <a:off x="1262063" y="5441136"/>
            <a:ext cx="6619875" cy="919401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/>
              <a:t>Round </a:t>
            </a:r>
            <a:r>
              <a:rPr lang="en-US" altLang="zh-TW" sz="2000" b="1" dirty="0">
                <a:solidFill>
                  <a:srgbClr val="0000FF"/>
                </a:solidFill>
                <a:latin typeface="Courier New" pitchFamily="49" charset="0"/>
              </a:rPr>
              <a:t>i</a:t>
            </a:r>
            <a:r>
              <a:rPr lang="en-US" altLang="zh-TW" sz="2400" dirty="0"/>
              <a:t>: find the smallest element in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000" b="1" dirty="0" err="1">
                <a:solidFill>
                  <a:srgbClr val="0000FF"/>
                </a:solidFill>
                <a:latin typeface="Courier New" pitchFamily="49" charset="0"/>
              </a:rPr>
              <a:t>arr</a:t>
            </a:r>
            <a:r>
              <a:rPr lang="en-US" altLang="zh-TW" sz="2000" b="1" dirty="0">
                <a:solidFill>
                  <a:srgbClr val="0000FF"/>
                </a:solidFill>
                <a:latin typeface="Courier New" pitchFamily="49" charset="0"/>
              </a:rPr>
              <a:t>[</a:t>
            </a:r>
            <a:r>
              <a:rPr lang="en-US" altLang="zh-TW" sz="2000" b="1" dirty="0" err="1">
                <a:solidFill>
                  <a:srgbClr val="0000FF"/>
                </a:solidFill>
                <a:latin typeface="Courier New" pitchFamily="49" charset="0"/>
              </a:rPr>
              <a:t>i</a:t>
            </a:r>
            <a:r>
              <a:rPr lang="en-US" altLang="zh-TW" sz="2400" dirty="0"/>
              <a:t> … </a:t>
            </a:r>
            <a:r>
              <a:rPr lang="en-US" altLang="zh-TW" sz="2000" b="1" dirty="0">
                <a:solidFill>
                  <a:srgbClr val="0000FF"/>
                </a:solidFill>
                <a:latin typeface="Courier New" pitchFamily="49" charset="0"/>
              </a:rPr>
              <a:t>n-1]</a:t>
            </a:r>
            <a:r>
              <a:rPr lang="en-US" altLang="zh-TW" sz="2400" dirty="0"/>
              <a:t> and exchange it with </a:t>
            </a:r>
            <a:r>
              <a:rPr lang="en-US" altLang="zh-TW" sz="2000" b="1" dirty="0" err="1">
                <a:solidFill>
                  <a:srgbClr val="0000FF"/>
                </a:solidFill>
                <a:latin typeface="Courier New" pitchFamily="49" charset="0"/>
              </a:rPr>
              <a:t>arr</a:t>
            </a:r>
            <a:r>
              <a:rPr lang="en-US" altLang="zh-TW" sz="2000" b="1" dirty="0">
                <a:solidFill>
                  <a:srgbClr val="0000FF"/>
                </a:solidFill>
                <a:latin typeface="Courier New" pitchFamily="49" charset="0"/>
              </a:rPr>
              <a:t>[</a:t>
            </a:r>
            <a:r>
              <a:rPr lang="en-US" altLang="zh-TW" sz="2000" b="1" dirty="0" err="1">
                <a:solidFill>
                  <a:srgbClr val="0000FF"/>
                </a:solidFill>
                <a:latin typeface="Courier New" pitchFamily="49" charset="0"/>
              </a:rPr>
              <a:t>i</a:t>
            </a:r>
            <a:r>
              <a:rPr lang="en-US" altLang="zh-TW" sz="2000" b="1" dirty="0">
                <a:solidFill>
                  <a:srgbClr val="0000FF"/>
                </a:solidFill>
                <a:latin typeface="Courier New" pitchFamily="49" charset="0"/>
              </a:rPr>
              <a:t>]</a:t>
            </a:r>
            <a:r>
              <a:rPr lang="en-US" altLang="zh-TW" sz="2400" dirty="0"/>
              <a:t>.</a:t>
            </a:r>
          </a:p>
        </p:txBody>
      </p:sp>
      <p:sp>
        <p:nvSpPr>
          <p:cNvPr id="13" name="AutoShape 10"/>
          <p:cNvSpPr>
            <a:spLocks noChangeArrowheads="1"/>
          </p:cNvSpPr>
          <p:nvPr/>
        </p:nvSpPr>
        <p:spPr bwMode="auto">
          <a:xfrm>
            <a:off x="6588225" y="2557820"/>
            <a:ext cx="2555776" cy="1328023"/>
          </a:xfrm>
          <a:prstGeom prst="wedgeRoundRectCallout">
            <a:avLst>
              <a:gd name="adj1" fmla="val -68528"/>
              <a:gd name="adj2" fmla="val -12736"/>
              <a:gd name="adj3" fmla="val 16667"/>
            </a:avLst>
          </a:prstGeom>
          <a:solidFill>
            <a:srgbClr val="FFFF99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1800" dirty="0"/>
              <a:t>Find the index </a:t>
            </a:r>
            <a:r>
              <a:rPr lang="en-US" altLang="zh-TW" sz="1600" b="1" dirty="0" err="1">
                <a:solidFill>
                  <a:srgbClr val="0000FF"/>
                </a:solidFill>
                <a:latin typeface="Courier New" pitchFamily="49" charset="0"/>
              </a:rPr>
              <a:t>iMin</a:t>
            </a:r>
            <a:r>
              <a:rPr lang="en-US" altLang="zh-TW" sz="1800" dirty="0"/>
              <a:t> such that </a:t>
            </a:r>
            <a:r>
              <a:rPr lang="en-US" altLang="zh-TW" sz="1600" b="1" dirty="0" err="1">
                <a:solidFill>
                  <a:srgbClr val="0000FF"/>
                </a:solidFill>
                <a:latin typeface="Courier New" pitchFamily="49" charset="0"/>
              </a:rPr>
              <a:t>arr</a:t>
            </a:r>
            <a:r>
              <a:rPr lang="en-US" altLang="zh-TW" sz="1600" b="1" dirty="0">
                <a:solidFill>
                  <a:srgbClr val="0000FF"/>
                </a:solidFill>
                <a:latin typeface="Courier New" pitchFamily="49" charset="0"/>
              </a:rPr>
              <a:t>[</a:t>
            </a:r>
            <a:r>
              <a:rPr lang="en-US" altLang="zh-TW" sz="1600" b="1" dirty="0" err="1">
                <a:solidFill>
                  <a:srgbClr val="0000FF"/>
                </a:solidFill>
                <a:latin typeface="Courier New" pitchFamily="49" charset="0"/>
              </a:rPr>
              <a:t>iMin</a:t>
            </a:r>
            <a:r>
              <a:rPr lang="en-US" altLang="zh-TW" sz="1600" b="1" dirty="0">
                <a:solidFill>
                  <a:srgbClr val="0000FF"/>
                </a:solidFill>
                <a:latin typeface="Courier New" pitchFamily="49" charset="0"/>
              </a:rPr>
              <a:t>]</a:t>
            </a:r>
            <a:r>
              <a:rPr lang="en-US" altLang="zh-TW" sz="1800" dirty="0"/>
              <a:t> is the smallest in </a:t>
            </a:r>
            <a:r>
              <a:rPr lang="en-US" altLang="zh-TW" sz="1600" b="1" dirty="0" err="1">
                <a:solidFill>
                  <a:srgbClr val="0000FF"/>
                </a:solidFill>
                <a:latin typeface="Courier New" pitchFamily="49" charset="0"/>
              </a:rPr>
              <a:t>arr</a:t>
            </a:r>
            <a:r>
              <a:rPr lang="en-US" altLang="zh-TW" sz="1600" b="1" dirty="0">
                <a:solidFill>
                  <a:srgbClr val="0000FF"/>
                </a:solidFill>
                <a:latin typeface="Courier New" pitchFamily="49" charset="0"/>
              </a:rPr>
              <a:t>[</a:t>
            </a:r>
            <a:r>
              <a:rPr lang="en-US" altLang="zh-TW" sz="1600" b="1" dirty="0" err="1">
                <a:solidFill>
                  <a:srgbClr val="0000FF"/>
                </a:solidFill>
                <a:latin typeface="Courier New" pitchFamily="49" charset="0"/>
              </a:rPr>
              <a:t>i</a:t>
            </a:r>
            <a:r>
              <a:rPr lang="en-US" altLang="zh-TW" sz="1800" dirty="0"/>
              <a:t> … </a:t>
            </a:r>
            <a:r>
              <a:rPr lang="en-US" altLang="zh-TW" sz="1600" b="1" dirty="0">
                <a:solidFill>
                  <a:srgbClr val="0000FF"/>
                </a:solidFill>
                <a:latin typeface="Courier New" pitchFamily="49" charset="0"/>
              </a:rPr>
              <a:t>n-1]</a:t>
            </a:r>
          </a:p>
        </p:txBody>
      </p:sp>
      <p:sp>
        <p:nvSpPr>
          <p:cNvPr id="14" name="AutoShape 11"/>
          <p:cNvSpPr>
            <a:spLocks noChangeArrowheads="1"/>
          </p:cNvSpPr>
          <p:nvPr/>
        </p:nvSpPr>
        <p:spPr bwMode="auto">
          <a:xfrm>
            <a:off x="8023225" y="1844675"/>
            <a:ext cx="1120775" cy="398463"/>
          </a:xfrm>
          <a:prstGeom prst="wedgeRoundRectCallout">
            <a:avLst>
              <a:gd name="adj1" fmla="val -280454"/>
              <a:gd name="adj2" fmla="val 72708"/>
              <a:gd name="adj3" fmla="val 16667"/>
            </a:avLst>
          </a:prstGeom>
          <a:solidFill>
            <a:srgbClr val="FFFF99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1800"/>
              <a:t>Round </a:t>
            </a:r>
            <a:r>
              <a:rPr lang="en-US" altLang="zh-TW" sz="1600" b="1">
                <a:solidFill>
                  <a:srgbClr val="0000FF"/>
                </a:solidFill>
                <a:latin typeface="Courier New" pitchFamily="49" charset="0"/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2201582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very similar to …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6</a:t>
            </a:r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683568" y="1628800"/>
            <a:ext cx="4996881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Func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SelectionSort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arr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: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list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,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n: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, j,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iMin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,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tmp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= 0</a:t>
            </a:r>
          </a:p>
          <a:p>
            <a:r>
              <a:rPr lang="nn-NO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nn-NO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for</a:t>
            </a:r>
            <a:r>
              <a:rPr lang="nn-NO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i = 0 to </a:t>
            </a:r>
            <a:r>
              <a:rPr lang="nn-NO" dirty="0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n</a:t>
            </a:r>
            <a:r>
              <a:rPr lang="nn-NO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– 1: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iMin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=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for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j =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+ 1 to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n – 1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: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if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arr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[j] &lt; 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arr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[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iMin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]: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     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iMin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= j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	     j = j + 1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tmp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= 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arr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[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]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arr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[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] = 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arr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[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iMin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]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array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[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iMin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] =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tmp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=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+ 1</a:t>
            </a:r>
          </a:p>
        </p:txBody>
      </p:sp>
      <p:sp>
        <p:nvSpPr>
          <p:cNvPr id="7" name="AutoShape 6"/>
          <p:cNvSpPr>
            <a:spLocks noChangeArrowheads="1"/>
          </p:cNvSpPr>
          <p:nvPr/>
        </p:nvSpPr>
        <p:spPr bwMode="auto">
          <a:xfrm>
            <a:off x="6804025" y="4426387"/>
            <a:ext cx="2339975" cy="715089"/>
          </a:xfrm>
          <a:prstGeom prst="wedgeRoundRectCallout">
            <a:avLst>
              <a:gd name="adj1" fmla="val -125228"/>
              <a:gd name="adj2" fmla="val -66075"/>
              <a:gd name="adj3" fmla="val 16667"/>
            </a:avLst>
          </a:prstGeom>
          <a:solidFill>
            <a:srgbClr val="FFFF99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1800" dirty="0"/>
              <a:t>Exchange </a:t>
            </a:r>
            <a:r>
              <a:rPr lang="en-US" altLang="zh-TW" sz="1600" b="1" dirty="0" err="1">
                <a:solidFill>
                  <a:srgbClr val="0000FF"/>
                </a:solidFill>
                <a:latin typeface="Courier New" pitchFamily="49" charset="0"/>
              </a:rPr>
              <a:t>arr</a:t>
            </a:r>
            <a:r>
              <a:rPr lang="en-US" altLang="zh-TW" sz="1600" b="1" dirty="0">
                <a:solidFill>
                  <a:srgbClr val="0000FF"/>
                </a:solidFill>
                <a:latin typeface="Courier New" pitchFamily="49" charset="0"/>
              </a:rPr>
              <a:t>[</a:t>
            </a:r>
            <a:r>
              <a:rPr lang="en-US" altLang="zh-TW" sz="1600" b="1" dirty="0" err="1">
                <a:solidFill>
                  <a:srgbClr val="0000FF"/>
                </a:solidFill>
                <a:latin typeface="Courier New" pitchFamily="49" charset="0"/>
              </a:rPr>
              <a:t>i</a:t>
            </a:r>
            <a:r>
              <a:rPr lang="en-US" altLang="zh-TW" sz="1600" b="1" dirty="0">
                <a:solidFill>
                  <a:srgbClr val="0000FF"/>
                </a:solidFill>
                <a:latin typeface="Courier New" pitchFamily="49" charset="0"/>
              </a:rPr>
              <a:t>]</a:t>
            </a:r>
            <a:r>
              <a:rPr lang="en-US" altLang="zh-TW" sz="1800" dirty="0"/>
              <a:t> and </a:t>
            </a:r>
            <a:r>
              <a:rPr lang="en-US" altLang="zh-TW" sz="1600" b="1" dirty="0" err="1">
                <a:solidFill>
                  <a:srgbClr val="0000FF"/>
                </a:solidFill>
                <a:latin typeface="Courier New" pitchFamily="49" charset="0"/>
              </a:rPr>
              <a:t>arr</a:t>
            </a:r>
            <a:r>
              <a:rPr lang="en-US" altLang="zh-TW" sz="1600" b="1" dirty="0">
                <a:solidFill>
                  <a:srgbClr val="0000FF"/>
                </a:solidFill>
                <a:latin typeface="Courier New" pitchFamily="49" charset="0"/>
              </a:rPr>
              <a:t>[k]</a:t>
            </a:r>
          </a:p>
        </p:txBody>
      </p:sp>
      <p:sp>
        <p:nvSpPr>
          <p:cNvPr id="8" name="AutoShape 7"/>
          <p:cNvSpPr>
            <a:spLocks/>
          </p:cNvSpPr>
          <p:nvPr/>
        </p:nvSpPr>
        <p:spPr bwMode="auto">
          <a:xfrm>
            <a:off x="5578475" y="2492375"/>
            <a:ext cx="433388" cy="1081088"/>
          </a:xfrm>
          <a:prstGeom prst="rightBrace">
            <a:avLst>
              <a:gd name="adj1" fmla="val 20788"/>
              <a:gd name="adj2" fmla="val 50000"/>
            </a:avLst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9" name="AutoShape 8"/>
          <p:cNvSpPr>
            <a:spLocks/>
          </p:cNvSpPr>
          <p:nvPr/>
        </p:nvSpPr>
        <p:spPr bwMode="auto">
          <a:xfrm>
            <a:off x="4572000" y="3933056"/>
            <a:ext cx="433387" cy="793750"/>
          </a:xfrm>
          <a:prstGeom prst="rightBrace">
            <a:avLst>
              <a:gd name="adj1" fmla="val 15263"/>
              <a:gd name="adj2" fmla="val 50000"/>
            </a:avLst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0" name="AutoShape 9"/>
          <p:cNvSpPr>
            <a:spLocks noChangeArrowheads="1"/>
          </p:cNvSpPr>
          <p:nvPr/>
        </p:nvSpPr>
        <p:spPr bwMode="auto">
          <a:xfrm>
            <a:off x="1262063" y="5441136"/>
            <a:ext cx="6619875" cy="919401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/>
              <a:t>Round </a:t>
            </a:r>
            <a:r>
              <a:rPr lang="en-US" altLang="zh-TW" sz="2000" b="1" dirty="0">
                <a:solidFill>
                  <a:srgbClr val="0000FF"/>
                </a:solidFill>
                <a:latin typeface="Courier New" pitchFamily="49" charset="0"/>
              </a:rPr>
              <a:t>i</a:t>
            </a:r>
            <a:r>
              <a:rPr lang="en-US" altLang="zh-TW" sz="2400" dirty="0"/>
              <a:t>: find the smallest element in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000" b="1" dirty="0" err="1">
                <a:solidFill>
                  <a:srgbClr val="0000FF"/>
                </a:solidFill>
                <a:latin typeface="Courier New" pitchFamily="49" charset="0"/>
              </a:rPr>
              <a:t>arr</a:t>
            </a:r>
            <a:r>
              <a:rPr lang="en-US" altLang="zh-TW" sz="2000" b="1" dirty="0">
                <a:solidFill>
                  <a:srgbClr val="0000FF"/>
                </a:solidFill>
                <a:latin typeface="Courier New" pitchFamily="49" charset="0"/>
              </a:rPr>
              <a:t>[</a:t>
            </a:r>
            <a:r>
              <a:rPr lang="en-US" altLang="zh-TW" sz="2000" b="1" dirty="0" err="1">
                <a:solidFill>
                  <a:srgbClr val="0000FF"/>
                </a:solidFill>
                <a:latin typeface="Courier New" pitchFamily="49" charset="0"/>
              </a:rPr>
              <a:t>i</a:t>
            </a:r>
            <a:r>
              <a:rPr lang="en-US" altLang="zh-TW" sz="2400" dirty="0"/>
              <a:t> … </a:t>
            </a:r>
            <a:r>
              <a:rPr lang="en-US" altLang="zh-TW" sz="2000" b="1" dirty="0">
                <a:solidFill>
                  <a:srgbClr val="0000FF"/>
                </a:solidFill>
                <a:latin typeface="Courier New" pitchFamily="49" charset="0"/>
              </a:rPr>
              <a:t>n-1]</a:t>
            </a:r>
            <a:r>
              <a:rPr lang="en-US" altLang="zh-TW" sz="2400" dirty="0"/>
              <a:t> and exchange it with </a:t>
            </a:r>
            <a:r>
              <a:rPr lang="en-US" altLang="zh-TW" sz="2000" b="1" dirty="0" err="1">
                <a:solidFill>
                  <a:srgbClr val="0000FF"/>
                </a:solidFill>
                <a:latin typeface="Courier New" pitchFamily="49" charset="0"/>
              </a:rPr>
              <a:t>arr</a:t>
            </a:r>
            <a:r>
              <a:rPr lang="en-US" altLang="zh-TW" sz="2000" b="1" dirty="0">
                <a:solidFill>
                  <a:srgbClr val="0000FF"/>
                </a:solidFill>
                <a:latin typeface="Courier New" pitchFamily="49" charset="0"/>
              </a:rPr>
              <a:t>[</a:t>
            </a:r>
            <a:r>
              <a:rPr lang="en-US" altLang="zh-TW" sz="2000" b="1" dirty="0" err="1">
                <a:solidFill>
                  <a:srgbClr val="0000FF"/>
                </a:solidFill>
                <a:latin typeface="Courier New" pitchFamily="49" charset="0"/>
              </a:rPr>
              <a:t>i</a:t>
            </a:r>
            <a:r>
              <a:rPr lang="en-US" altLang="zh-TW" sz="2000" b="1" dirty="0">
                <a:solidFill>
                  <a:srgbClr val="0000FF"/>
                </a:solidFill>
                <a:latin typeface="Courier New" pitchFamily="49" charset="0"/>
              </a:rPr>
              <a:t>]</a:t>
            </a:r>
            <a:r>
              <a:rPr lang="en-US" altLang="zh-TW" sz="2400" dirty="0"/>
              <a:t>.</a:t>
            </a:r>
          </a:p>
        </p:txBody>
      </p:sp>
      <p:sp>
        <p:nvSpPr>
          <p:cNvPr id="11" name="AutoShape 10"/>
          <p:cNvSpPr>
            <a:spLocks noChangeArrowheads="1"/>
          </p:cNvSpPr>
          <p:nvPr/>
        </p:nvSpPr>
        <p:spPr bwMode="auto">
          <a:xfrm>
            <a:off x="6948488" y="2557820"/>
            <a:ext cx="2195512" cy="1328023"/>
          </a:xfrm>
          <a:prstGeom prst="wedgeRoundRectCallout">
            <a:avLst>
              <a:gd name="adj1" fmla="val -90634"/>
              <a:gd name="adj2" fmla="val -14981"/>
              <a:gd name="adj3" fmla="val 16667"/>
            </a:avLst>
          </a:prstGeom>
          <a:solidFill>
            <a:srgbClr val="FFFF99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1800" dirty="0"/>
              <a:t>Find the index </a:t>
            </a:r>
            <a:r>
              <a:rPr lang="en-US" altLang="zh-TW" sz="1600" b="1" dirty="0">
                <a:solidFill>
                  <a:srgbClr val="0000FF"/>
                </a:solidFill>
                <a:latin typeface="Courier New" pitchFamily="49" charset="0"/>
              </a:rPr>
              <a:t>k</a:t>
            </a:r>
            <a:r>
              <a:rPr lang="en-US" altLang="zh-TW" sz="1800" dirty="0"/>
              <a:t> such that </a:t>
            </a:r>
            <a:r>
              <a:rPr lang="en-US" altLang="zh-TW" sz="1600" b="1" dirty="0" err="1">
                <a:solidFill>
                  <a:srgbClr val="0000FF"/>
                </a:solidFill>
                <a:latin typeface="Courier New" pitchFamily="49" charset="0"/>
              </a:rPr>
              <a:t>arr</a:t>
            </a:r>
            <a:r>
              <a:rPr lang="en-US" altLang="zh-TW" sz="1600" b="1" dirty="0">
                <a:solidFill>
                  <a:srgbClr val="0000FF"/>
                </a:solidFill>
                <a:latin typeface="Courier New" pitchFamily="49" charset="0"/>
              </a:rPr>
              <a:t>[k]</a:t>
            </a:r>
            <a:r>
              <a:rPr lang="en-US" altLang="zh-TW" sz="1800" dirty="0"/>
              <a:t> is the smallest in </a:t>
            </a:r>
            <a:r>
              <a:rPr lang="en-US" altLang="zh-TW" sz="1600" b="1" dirty="0" err="1">
                <a:solidFill>
                  <a:srgbClr val="0000FF"/>
                </a:solidFill>
                <a:latin typeface="Courier New" pitchFamily="49" charset="0"/>
              </a:rPr>
              <a:t>arr</a:t>
            </a:r>
            <a:r>
              <a:rPr lang="en-US" altLang="zh-TW" sz="1600" b="1" dirty="0">
                <a:solidFill>
                  <a:srgbClr val="0000FF"/>
                </a:solidFill>
                <a:latin typeface="Courier New" pitchFamily="49" charset="0"/>
              </a:rPr>
              <a:t>[</a:t>
            </a:r>
            <a:r>
              <a:rPr lang="en-US" altLang="zh-TW" sz="1600" b="1" dirty="0" err="1">
                <a:solidFill>
                  <a:srgbClr val="0000FF"/>
                </a:solidFill>
                <a:latin typeface="Courier New" pitchFamily="49" charset="0"/>
              </a:rPr>
              <a:t>i</a:t>
            </a:r>
            <a:r>
              <a:rPr lang="en-US" altLang="zh-TW" sz="1800" dirty="0"/>
              <a:t> … </a:t>
            </a:r>
            <a:r>
              <a:rPr lang="en-US" altLang="zh-TW" sz="1600" b="1" dirty="0">
                <a:solidFill>
                  <a:srgbClr val="0000FF"/>
                </a:solidFill>
                <a:latin typeface="Courier New" pitchFamily="49" charset="0"/>
              </a:rPr>
              <a:t>n-1]</a:t>
            </a:r>
          </a:p>
        </p:txBody>
      </p:sp>
      <p:sp>
        <p:nvSpPr>
          <p:cNvPr id="12" name="AutoShape 11"/>
          <p:cNvSpPr>
            <a:spLocks noChangeArrowheads="1"/>
          </p:cNvSpPr>
          <p:nvPr/>
        </p:nvSpPr>
        <p:spPr bwMode="auto">
          <a:xfrm>
            <a:off x="8023225" y="1844675"/>
            <a:ext cx="1120775" cy="398463"/>
          </a:xfrm>
          <a:prstGeom prst="wedgeRoundRectCallout">
            <a:avLst>
              <a:gd name="adj1" fmla="val -280454"/>
              <a:gd name="adj2" fmla="val 72708"/>
              <a:gd name="adj3" fmla="val 16667"/>
            </a:avLst>
          </a:prstGeom>
          <a:solidFill>
            <a:srgbClr val="FFFF99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1800"/>
              <a:t>Round </a:t>
            </a:r>
            <a:r>
              <a:rPr lang="en-US" altLang="zh-TW" sz="1600" b="1">
                <a:solidFill>
                  <a:srgbClr val="0000FF"/>
                </a:solidFill>
                <a:latin typeface="Courier New" pitchFamily="49" charset="0"/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2323751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Naive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to find </a:t>
            </a:r>
            <a:r>
              <a:rPr lang="en-US" dirty="0">
                <a:solidFill>
                  <a:srgbClr val="FF0000"/>
                </a:solidFill>
              </a:rPr>
              <a:t>k</a:t>
            </a:r>
            <a:r>
              <a:rPr lang="en-US" dirty="0"/>
              <a:t>th smallest element of a list?</a:t>
            </a:r>
          </a:p>
          <a:p>
            <a:pPr lvl="1"/>
            <a:r>
              <a:rPr lang="en-US" dirty="0"/>
              <a:t>Sort the array and look up.</a:t>
            </a:r>
          </a:p>
          <a:p>
            <a:pPr lvl="1"/>
            <a:r>
              <a:rPr lang="en-US" dirty="0"/>
              <a:t>Partial selection sort.</a:t>
            </a:r>
          </a:p>
          <a:p>
            <a:r>
              <a:rPr lang="en-US" dirty="0"/>
              <a:t>Question: what are the complexities of them (suppose array length is </a:t>
            </a:r>
            <a:r>
              <a:rPr lang="en-US" dirty="0">
                <a:solidFill>
                  <a:srgbClr val="FF0000"/>
                </a:solidFill>
              </a:rPr>
              <a:t>n</a:t>
            </a:r>
            <a:r>
              <a:rPr lang="en-US" dirty="0"/>
              <a:t>)?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6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05978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Naive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Sort the array and look up.</a:t>
            </a:r>
          </a:p>
          <a:p>
            <a:pPr lvl="1"/>
            <a:r>
              <a:rPr lang="en-US" dirty="0"/>
              <a:t>Sorting takes </a:t>
            </a:r>
            <a:r>
              <a:rPr lang="en-US" dirty="0">
                <a:solidFill>
                  <a:srgbClr val="FF0000"/>
                </a:solidFill>
              </a:rPr>
              <a:t>O(</a:t>
            </a:r>
            <a:r>
              <a:rPr lang="en-US" dirty="0" err="1">
                <a:solidFill>
                  <a:srgbClr val="FF0000"/>
                </a:solidFill>
              </a:rPr>
              <a:t>nlogn</a:t>
            </a:r>
            <a:r>
              <a:rPr lang="en-US" dirty="0">
                <a:solidFill>
                  <a:srgbClr val="FF0000"/>
                </a:solidFill>
              </a:rPr>
              <a:t>) </a:t>
            </a:r>
            <a:r>
              <a:rPr lang="en-US" dirty="0"/>
              <a:t>(merge sort, quicksort …)</a:t>
            </a:r>
          </a:p>
          <a:p>
            <a:pPr lvl="1"/>
            <a:r>
              <a:rPr lang="en-US" dirty="0"/>
              <a:t>Looking up to kth position takes </a:t>
            </a:r>
            <a:r>
              <a:rPr lang="en-US" dirty="0">
                <a:solidFill>
                  <a:srgbClr val="FF0000"/>
                </a:solidFill>
              </a:rPr>
              <a:t>O(1)</a:t>
            </a:r>
          </a:p>
          <a:p>
            <a:pPr lvl="1"/>
            <a:r>
              <a:rPr lang="en-US" dirty="0"/>
              <a:t>Totally, </a:t>
            </a:r>
            <a:r>
              <a:rPr lang="en-US" b="1" i="1" dirty="0">
                <a:solidFill>
                  <a:srgbClr val="FF0000"/>
                </a:solidFill>
              </a:rPr>
              <a:t>O(</a:t>
            </a:r>
            <a:r>
              <a:rPr lang="en-US" b="1" i="1" dirty="0" err="1">
                <a:solidFill>
                  <a:srgbClr val="FF0000"/>
                </a:solidFill>
              </a:rPr>
              <a:t>nlogn</a:t>
            </a:r>
            <a:r>
              <a:rPr lang="en-US" b="1" i="1" dirty="0">
                <a:solidFill>
                  <a:srgbClr val="FF0000"/>
                </a:solidFill>
              </a:rPr>
              <a:t>)</a:t>
            </a:r>
          </a:p>
          <a:p>
            <a:r>
              <a:rPr lang="en-US" dirty="0"/>
              <a:t>Partial selection sort.</a:t>
            </a:r>
          </a:p>
          <a:p>
            <a:pPr lvl="1"/>
            <a:r>
              <a:rPr lang="en-US" dirty="0"/>
              <a:t>Round </a:t>
            </a:r>
            <a:r>
              <a:rPr lang="en-US" dirty="0" err="1"/>
              <a:t>i</a:t>
            </a:r>
            <a:r>
              <a:rPr lang="en-US" dirty="0"/>
              <a:t> needs (n-</a:t>
            </a:r>
            <a:r>
              <a:rPr lang="en-US" dirty="0" err="1"/>
              <a:t>i</a:t>
            </a:r>
            <a:r>
              <a:rPr lang="en-US" dirty="0"/>
              <a:t>) comparisons and takes </a:t>
            </a:r>
            <a:r>
              <a:rPr lang="en-US" dirty="0">
                <a:solidFill>
                  <a:srgbClr val="FF0000"/>
                </a:solidFill>
              </a:rPr>
              <a:t>O(n)</a:t>
            </a:r>
          </a:p>
          <a:p>
            <a:pPr lvl="1"/>
            <a:r>
              <a:rPr lang="en-US" dirty="0"/>
              <a:t>There totally k rounds. Thus, </a:t>
            </a:r>
            <a:r>
              <a:rPr lang="en-US" b="1" i="1" dirty="0">
                <a:solidFill>
                  <a:srgbClr val="FF0000"/>
                </a:solidFill>
              </a:rPr>
              <a:t>O(</a:t>
            </a:r>
            <a:r>
              <a:rPr lang="en-US" b="1" i="1" dirty="0" err="1">
                <a:solidFill>
                  <a:srgbClr val="FF0000"/>
                </a:solidFill>
              </a:rPr>
              <a:t>kn</a:t>
            </a:r>
            <a:r>
              <a:rPr lang="en-US" b="1" i="1" dirty="0">
                <a:solidFill>
                  <a:srgbClr val="FF0000"/>
                </a:solidFill>
              </a:rPr>
              <a:t>)</a:t>
            </a:r>
          </a:p>
          <a:p>
            <a:r>
              <a:rPr lang="en-US" dirty="0"/>
              <a:t>Question: which one is better?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6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6473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Naive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Which one is better? It depends!</a:t>
            </a:r>
          </a:p>
          <a:p>
            <a:pPr lvl="1"/>
            <a:r>
              <a:rPr lang="en-US" dirty="0"/>
              <a:t>If k is </a:t>
            </a:r>
            <a:r>
              <a:rPr lang="en-US" dirty="0">
                <a:solidFill>
                  <a:srgbClr val="FF0000"/>
                </a:solidFill>
              </a:rPr>
              <a:t>small</a:t>
            </a:r>
            <a:r>
              <a:rPr lang="en-US" dirty="0"/>
              <a:t> (e.g., 1 or 3, i.e., k = O(1)), O(</a:t>
            </a:r>
            <a:r>
              <a:rPr lang="en-US" dirty="0" err="1"/>
              <a:t>kn</a:t>
            </a:r>
            <a:r>
              <a:rPr lang="en-US" dirty="0"/>
              <a:t>) = O(n) &lt; O(</a:t>
            </a:r>
            <a:r>
              <a:rPr lang="en-US" dirty="0" err="1"/>
              <a:t>nlogn</a:t>
            </a:r>
            <a:r>
              <a:rPr lang="en-US" dirty="0"/>
              <a:t>). Then, partial selection sort is better.</a:t>
            </a:r>
          </a:p>
          <a:p>
            <a:pPr lvl="1"/>
            <a:r>
              <a:rPr lang="en-US" dirty="0"/>
              <a:t>If k is very big (e.g. n-1 or n-3)?</a:t>
            </a:r>
          </a:p>
          <a:p>
            <a:pPr lvl="1"/>
            <a:r>
              <a:rPr lang="en-US" dirty="0"/>
              <a:t>If we want to find the </a:t>
            </a:r>
            <a:r>
              <a:rPr lang="en-US" dirty="0">
                <a:solidFill>
                  <a:srgbClr val="FF0000"/>
                </a:solidFill>
              </a:rPr>
              <a:t>median</a:t>
            </a:r>
            <a:r>
              <a:rPr lang="en-US" dirty="0"/>
              <a:t>, k = n/2 = O(n), O(</a:t>
            </a:r>
            <a:r>
              <a:rPr lang="en-US" dirty="0" err="1"/>
              <a:t>kn</a:t>
            </a:r>
            <a:r>
              <a:rPr lang="en-US" dirty="0"/>
              <a:t>) = O(n</a:t>
            </a:r>
            <a:r>
              <a:rPr lang="en-US" baseline="30000" dirty="0"/>
              <a:t>2</a:t>
            </a:r>
            <a:r>
              <a:rPr lang="en-US" dirty="0"/>
              <a:t>) &gt; O(</a:t>
            </a:r>
            <a:r>
              <a:rPr lang="en-US" dirty="0" err="1"/>
              <a:t>nlogn</a:t>
            </a:r>
            <a:r>
              <a:rPr lang="en-US" dirty="0"/>
              <a:t>). Then merge sort or quicksort is better.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6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09302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Quickselect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>
                <a:solidFill>
                  <a:srgbClr val="FF0000"/>
                </a:solidFill>
              </a:rPr>
              <a:t>complete</a:t>
            </a:r>
            <a:r>
              <a:rPr lang="en-US" dirty="0"/>
              <a:t> sorting can always solve the problem. However, for selection sort, it is enough to stop in the middle (after k rounds).</a:t>
            </a:r>
          </a:p>
          <a:p>
            <a:r>
              <a:rPr lang="en-US" dirty="0"/>
              <a:t>Selection sort can be extended to partial selection sort for “selection” problem. How about other sorting algorithms?</a:t>
            </a:r>
          </a:p>
          <a:p>
            <a:r>
              <a:rPr lang="en-US" dirty="0"/>
              <a:t>Let’s look at quicksort!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6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01597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Quicksort Algorithm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6</a:t>
            </a:r>
            <a:endParaRPr lang="zh-CN" altLang="en-US"/>
          </a:p>
        </p:txBody>
      </p:sp>
      <p:graphicFrame>
        <p:nvGraphicFramePr>
          <p:cNvPr id="6" name="Group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70299"/>
              </p:ext>
            </p:extLst>
          </p:nvPr>
        </p:nvGraphicFramePr>
        <p:xfrm>
          <a:off x="2228850" y="2217867"/>
          <a:ext cx="4648200" cy="517880"/>
        </p:xfrm>
        <a:graphic>
          <a:graphicData uri="http://schemas.openxmlformats.org/drawingml/2006/table">
            <a:tbl>
              <a:tblPr/>
              <a:tblGrid>
                <a:gridCol w="581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56</a:t>
                      </a:r>
                    </a:p>
                  </a:txBody>
                  <a:tcPr marT="45580" marB="455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25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37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58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95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19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73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30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Group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1679516"/>
              </p:ext>
            </p:extLst>
          </p:nvPr>
        </p:nvGraphicFramePr>
        <p:xfrm>
          <a:off x="2228850" y="3657729"/>
          <a:ext cx="4648200" cy="517880"/>
        </p:xfrm>
        <a:graphic>
          <a:graphicData uri="http://schemas.openxmlformats.org/drawingml/2006/table">
            <a:tbl>
              <a:tblPr/>
              <a:tblGrid>
                <a:gridCol w="581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19</a:t>
                      </a:r>
                    </a:p>
                  </a:txBody>
                  <a:tcPr marT="45580" marB="455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25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37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30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56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95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73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58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8" name="AutoShape 75"/>
          <p:cNvCxnSpPr>
            <a:cxnSpLocks noChangeShapeType="1"/>
          </p:cNvCxnSpPr>
          <p:nvPr/>
        </p:nvCxnSpPr>
        <p:spPr bwMode="auto">
          <a:xfrm>
            <a:off x="2519363" y="2735392"/>
            <a:ext cx="2324100" cy="922337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" name="AutoShape 76"/>
          <p:cNvCxnSpPr>
            <a:cxnSpLocks noChangeShapeType="1"/>
          </p:cNvCxnSpPr>
          <p:nvPr/>
        </p:nvCxnSpPr>
        <p:spPr bwMode="auto">
          <a:xfrm>
            <a:off x="3100388" y="2735392"/>
            <a:ext cx="0" cy="922337"/>
          </a:xfrm>
          <a:prstGeom prst="straightConnector1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AutoShape 77"/>
          <p:cNvCxnSpPr>
            <a:cxnSpLocks noChangeShapeType="1"/>
          </p:cNvCxnSpPr>
          <p:nvPr/>
        </p:nvCxnSpPr>
        <p:spPr bwMode="auto">
          <a:xfrm>
            <a:off x="3681413" y="2735392"/>
            <a:ext cx="0" cy="922337"/>
          </a:xfrm>
          <a:prstGeom prst="straightConnector1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AutoShape 78"/>
          <p:cNvCxnSpPr>
            <a:cxnSpLocks noChangeShapeType="1"/>
          </p:cNvCxnSpPr>
          <p:nvPr/>
        </p:nvCxnSpPr>
        <p:spPr bwMode="auto">
          <a:xfrm>
            <a:off x="4262438" y="2735392"/>
            <a:ext cx="2324100" cy="922337"/>
          </a:xfrm>
          <a:prstGeom prst="straightConnector1">
            <a:avLst/>
          </a:prstGeom>
          <a:noFill/>
          <a:ln w="9525">
            <a:solidFill>
              <a:srgbClr val="008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AutoShape 79"/>
          <p:cNvCxnSpPr>
            <a:cxnSpLocks noChangeShapeType="1"/>
          </p:cNvCxnSpPr>
          <p:nvPr/>
        </p:nvCxnSpPr>
        <p:spPr bwMode="auto">
          <a:xfrm>
            <a:off x="4843463" y="2735392"/>
            <a:ext cx="581025" cy="922337"/>
          </a:xfrm>
          <a:prstGeom prst="straightConnector1">
            <a:avLst/>
          </a:prstGeom>
          <a:noFill/>
          <a:ln w="9525">
            <a:solidFill>
              <a:srgbClr val="008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AutoShape 80"/>
          <p:cNvCxnSpPr>
            <a:cxnSpLocks noChangeShapeType="1"/>
          </p:cNvCxnSpPr>
          <p:nvPr/>
        </p:nvCxnSpPr>
        <p:spPr bwMode="auto">
          <a:xfrm flipH="1">
            <a:off x="2519363" y="2735392"/>
            <a:ext cx="2905125" cy="922337"/>
          </a:xfrm>
          <a:prstGeom prst="straightConnector1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AutoShape 81"/>
          <p:cNvCxnSpPr>
            <a:cxnSpLocks noChangeShapeType="1"/>
          </p:cNvCxnSpPr>
          <p:nvPr/>
        </p:nvCxnSpPr>
        <p:spPr bwMode="auto">
          <a:xfrm>
            <a:off x="6005513" y="2735392"/>
            <a:ext cx="0" cy="922337"/>
          </a:xfrm>
          <a:prstGeom prst="straightConnector1">
            <a:avLst/>
          </a:prstGeom>
          <a:noFill/>
          <a:ln w="9525">
            <a:solidFill>
              <a:srgbClr val="008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AutoShape 82"/>
          <p:cNvCxnSpPr>
            <a:cxnSpLocks noChangeShapeType="1"/>
          </p:cNvCxnSpPr>
          <p:nvPr/>
        </p:nvCxnSpPr>
        <p:spPr bwMode="auto">
          <a:xfrm flipH="1">
            <a:off x="4262438" y="2735392"/>
            <a:ext cx="2324100" cy="922337"/>
          </a:xfrm>
          <a:prstGeom prst="straightConnector1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6" name="Group 8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9418278"/>
              </p:ext>
            </p:extLst>
          </p:nvPr>
        </p:nvGraphicFramePr>
        <p:xfrm>
          <a:off x="2228850" y="5097592"/>
          <a:ext cx="4648200" cy="517880"/>
        </p:xfrm>
        <a:graphic>
          <a:graphicData uri="http://schemas.openxmlformats.org/drawingml/2006/table">
            <a:tbl>
              <a:tblPr/>
              <a:tblGrid>
                <a:gridCol w="581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19</a:t>
                      </a:r>
                    </a:p>
                  </a:txBody>
                  <a:tcPr marT="45580" marB="455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25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30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37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56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58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73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95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7" name="AutoShape 104"/>
          <p:cNvCxnSpPr>
            <a:cxnSpLocks noChangeShapeType="1"/>
          </p:cNvCxnSpPr>
          <p:nvPr/>
        </p:nvCxnSpPr>
        <p:spPr bwMode="auto">
          <a:xfrm>
            <a:off x="4843463" y="4175254"/>
            <a:ext cx="0" cy="922338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" name="AutoShape 105"/>
          <p:cNvCxnSpPr>
            <a:cxnSpLocks noChangeShapeType="1"/>
          </p:cNvCxnSpPr>
          <p:nvPr/>
        </p:nvCxnSpPr>
        <p:spPr bwMode="auto">
          <a:xfrm>
            <a:off x="3390900" y="4175254"/>
            <a:ext cx="0" cy="922338"/>
          </a:xfrm>
          <a:prstGeom prst="straightConnector1">
            <a:avLst/>
          </a:prstGeom>
          <a:noFill/>
          <a:ln w="254000">
            <a:solidFill>
              <a:srgbClr val="0000FF"/>
            </a:solidFill>
            <a:round/>
            <a:headEnd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" name="AutoShape 106"/>
          <p:cNvCxnSpPr>
            <a:cxnSpLocks noChangeShapeType="1"/>
          </p:cNvCxnSpPr>
          <p:nvPr/>
        </p:nvCxnSpPr>
        <p:spPr bwMode="auto">
          <a:xfrm>
            <a:off x="6005513" y="4175254"/>
            <a:ext cx="0" cy="922338"/>
          </a:xfrm>
          <a:prstGeom prst="straightConnector1">
            <a:avLst/>
          </a:prstGeom>
          <a:noFill/>
          <a:ln w="254000">
            <a:solidFill>
              <a:srgbClr val="008000"/>
            </a:solidFill>
            <a:round/>
            <a:headEnd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" name="AutoShape 107"/>
          <p:cNvCxnSpPr>
            <a:cxnSpLocks noChangeShapeType="1"/>
          </p:cNvCxnSpPr>
          <p:nvPr/>
        </p:nvCxnSpPr>
        <p:spPr bwMode="auto">
          <a:xfrm>
            <a:off x="4552950" y="3657729"/>
            <a:ext cx="0" cy="1957388"/>
          </a:xfrm>
          <a:prstGeom prst="straightConnector1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AutoShape 108"/>
          <p:cNvCxnSpPr>
            <a:cxnSpLocks noChangeShapeType="1"/>
          </p:cNvCxnSpPr>
          <p:nvPr/>
        </p:nvCxnSpPr>
        <p:spPr bwMode="auto">
          <a:xfrm>
            <a:off x="5133975" y="3657729"/>
            <a:ext cx="0" cy="1957388"/>
          </a:xfrm>
          <a:prstGeom prst="straightConnector1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" name="AutoShape 109"/>
          <p:cNvSpPr>
            <a:spLocks noChangeArrowheads="1"/>
          </p:cNvSpPr>
          <p:nvPr/>
        </p:nvSpPr>
        <p:spPr bwMode="auto">
          <a:xfrm>
            <a:off x="0" y="3524379"/>
            <a:ext cx="4486275" cy="723900"/>
          </a:xfrm>
          <a:prstGeom prst="roundRect">
            <a:avLst>
              <a:gd name="adj" fmla="val 16667"/>
            </a:avLst>
          </a:prstGeom>
          <a:noFill/>
          <a:ln w="9525" algn="ctr">
            <a:solidFill>
              <a:srgbClr val="00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b="1" dirty="0">
                <a:solidFill>
                  <a:srgbClr val="0000FF"/>
                </a:solidFill>
              </a:rPr>
              <a:t>All values &lt; 56</a:t>
            </a:r>
          </a:p>
        </p:txBody>
      </p:sp>
      <p:sp>
        <p:nvSpPr>
          <p:cNvPr id="23" name="AutoShape 110"/>
          <p:cNvSpPr>
            <a:spLocks noChangeArrowheads="1"/>
          </p:cNvSpPr>
          <p:nvPr/>
        </p:nvSpPr>
        <p:spPr bwMode="auto">
          <a:xfrm>
            <a:off x="5173663" y="3524379"/>
            <a:ext cx="3970337" cy="723900"/>
          </a:xfrm>
          <a:prstGeom prst="roundRect">
            <a:avLst>
              <a:gd name="adj" fmla="val 16667"/>
            </a:avLst>
          </a:prstGeom>
          <a:noFill/>
          <a:ln w="9525" algn="ctr">
            <a:solidFill>
              <a:srgbClr val="008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TW" sz="2400" b="1" dirty="0">
                <a:solidFill>
                  <a:srgbClr val="008000"/>
                </a:solidFill>
                <a:sym typeface="Symbol" pitchFamily="18" charset="2"/>
              </a:rPr>
              <a:t>All values </a:t>
            </a:r>
            <a:r>
              <a:rPr lang="en-US" altLang="zh-TW" sz="2400" b="1" dirty="0">
                <a:solidFill>
                  <a:srgbClr val="008000"/>
                </a:solidFill>
              </a:rPr>
              <a:t> 56</a:t>
            </a:r>
          </a:p>
        </p:txBody>
      </p:sp>
      <p:sp>
        <p:nvSpPr>
          <p:cNvPr id="24" name="Text Box 111"/>
          <p:cNvSpPr txBox="1">
            <a:spLocks noChangeArrowheads="1"/>
          </p:cNvSpPr>
          <p:nvPr/>
        </p:nvSpPr>
        <p:spPr bwMode="auto">
          <a:xfrm>
            <a:off x="925513" y="4426079"/>
            <a:ext cx="1990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000" i="1">
                <a:solidFill>
                  <a:srgbClr val="0000FF"/>
                </a:solidFill>
              </a:rPr>
              <a:t>Recursively sort</a:t>
            </a:r>
          </a:p>
        </p:txBody>
      </p:sp>
      <p:sp>
        <p:nvSpPr>
          <p:cNvPr id="25" name="Text Box 112"/>
          <p:cNvSpPr txBox="1">
            <a:spLocks noChangeArrowheads="1"/>
          </p:cNvSpPr>
          <p:nvPr/>
        </p:nvSpPr>
        <p:spPr bwMode="auto">
          <a:xfrm>
            <a:off x="6397625" y="4426079"/>
            <a:ext cx="1990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000" i="1">
                <a:solidFill>
                  <a:srgbClr val="008000"/>
                </a:solidFill>
              </a:rPr>
              <a:t>Recursively sort</a:t>
            </a:r>
          </a:p>
        </p:txBody>
      </p:sp>
      <p:sp>
        <p:nvSpPr>
          <p:cNvPr id="26" name="AutoShape 113"/>
          <p:cNvSpPr>
            <a:spLocks noChangeArrowheads="1"/>
          </p:cNvSpPr>
          <p:nvPr/>
        </p:nvSpPr>
        <p:spPr bwMode="auto">
          <a:xfrm>
            <a:off x="6804248" y="2868732"/>
            <a:ext cx="1512168" cy="442674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000" i="1" dirty="0">
                <a:solidFill>
                  <a:srgbClr val="FF0000"/>
                </a:solidFill>
              </a:rPr>
              <a:t>partitioning</a:t>
            </a:r>
            <a:endParaRPr lang="en-US" altLang="zh-TW" sz="2000" dirty="0"/>
          </a:p>
        </p:txBody>
      </p:sp>
      <p:sp>
        <p:nvSpPr>
          <p:cNvPr id="27" name="Text Box 114"/>
          <p:cNvSpPr txBox="1">
            <a:spLocks noChangeArrowheads="1"/>
          </p:cNvSpPr>
          <p:nvPr/>
        </p:nvSpPr>
        <p:spPr bwMode="auto">
          <a:xfrm>
            <a:off x="7200900" y="5157917"/>
            <a:ext cx="889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000" i="1">
                <a:solidFill>
                  <a:srgbClr val="FF0000"/>
                </a:solidFill>
              </a:rPr>
              <a:t>sorted</a:t>
            </a:r>
          </a:p>
        </p:txBody>
      </p:sp>
      <p:sp>
        <p:nvSpPr>
          <p:cNvPr id="28" name="AutoShape 118"/>
          <p:cNvSpPr>
            <a:spLocks noChangeArrowheads="1"/>
          </p:cNvSpPr>
          <p:nvPr/>
        </p:nvSpPr>
        <p:spPr bwMode="auto">
          <a:xfrm>
            <a:off x="5111822" y="5866646"/>
            <a:ext cx="864096" cy="442674"/>
          </a:xfrm>
          <a:prstGeom prst="wedgeRoundRectCallout">
            <a:avLst>
              <a:gd name="adj1" fmla="val -79002"/>
              <a:gd name="adj2" fmla="val -103337"/>
              <a:gd name="adj3" fmla="val 16667"/>
            </a:avLst>
          </a:prstGeom>
          <a:solidFill>
            <a:srgbClr val="FFFF99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000" i="1" dirty="0">
                <a:solidFill>
                  <a:srgbClr val="FF0000"/>
                </a:solidFill>
              </a:rPr>
              <a:t>pivot</a:t>
            </a:r>
            <a:endParaRPr lang="en-US" altLang="zh-TW" sz="2000" dirty="0"/>
          </a:p>
        </p:txBody>
      </p:sp>
      <p:sp>
        <p:nvSpPr>
          <p:cNvPr id="29" name="TextBox 28"/>
          <p:cNvSpPr txBox="1"/>
          <p:nvPr/>
        </p:nvSpPr>
        <p:spPr>
          <a:xfrm>
            <a:off x="323528" y="1340768"/>
            <a:ext cx="8640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dirty="0">
                <a:solidFill>
                  <a:srgbClr val="FF0000"/>
                </a:solidFill>
              </a:rPr>
              <a:t>For “selection”, are both recursive calls necessary?</a:t>
            </a:r>
          </a:p>
        </p:txBody>
      </p:sp>
    </p:spTree>
    <p:extLst>
      <p:ext uri="{BB962C8B-B14F-4D97-AF65-F5344CB8AC3E}">
        <p14:creationId xmlns:p14="http://schemas.microsoft.com/office/powerpoint/2010/main" val="3396719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/>
      <p:bldP spid="25" grpId="0"/>
      <p:bldP spid="26" grpId="0" animBg="1"/>
      <p:bldP spid="27" grpId="0"/>
      <p:bldP spid="2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</a:t>
            </a:r>
            <a:r>
              <a:rPr lang="en-US" altLang="zh-TW" dirty="0" err="1"/>
              <a:t>Quickselect</a:t>
            </a:r>
            <a:r>
              <a:rPr lang="en-US" altLang="zh-TW" dirty="0"/>
              <a:t> Algorithm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6</a:t>
            </a:r>
            <a:endParaRPr lang="zh-CN" altLang="en-US"/>
          </a:p>
        </p:txBody>
      </p:sp>
      <p:graphicFrame>
        <p:nvGraphicFramePr>
          <p:cNvPr id="6" name="Group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7095158"/>
              </p:ext>
            </p:extLst>
          </p:nvPr>
        </p:nvGraphicFramePr>
        <p:xfrm>
          <a:off x="2228850" y="2217867"/>
          <a:ext cx="4648200" cy="517880"/>
        </p:xfrm>
        <a:graphic>
          <a:graphicData uri="http://schemas.openxmlformats.org/drawingml/2006/table">
            <a:tbl>
              <a:tblPr/>
              <a:tblGrid>
                <a:gridCol w="581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56</a:t>
                      </a:r>
                    </a:p>
                  </a:txBody>
                  <a:tcPr marT="45580" marB="455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25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37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58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95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19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73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30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Group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1054221"/>
              </p:ext>
            </p:extLst>
          </p:nvPr>
        </p:nvGraphicFramePr>
        <p:xfrm>
          <a:off x="2228850" y="3657729"/>
          <a:ext cx="4648200" cy="517880"/>
        </p:xfrm>
        <a:graphic>
          <a:graphicData uri="http://schemas.openxmlformats.org/drawingml/2006/table">
            <a:tbl>
              <a:tblPr/>
              <a:tblGrid>
                <a:gridCol w="581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19</a:t>
                      </a:r>
                    </a:p>
                  </a:txBody>
                  <a:tcPr marT="45580" marB="455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25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37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30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56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95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73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58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8" name="AutoShape 75"/>
          <p:cNvCxnSpPr>
            <a:cxnSpLocks noChangeShapeType="1"/>
          </p:cNvCxnSpPr>
          <p:nvPr/>
        </p:nvCxnSpPr>
        <p:spPr bwMode="auto">
          <a:xfrm>
            <a:off x="2519363" y="2735392"/>
            <a:ext cx="2324100" cy="922337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" name="AutoShape 76"/>
          <p:cNvCxnSpPr>
            <a:cxnSpLocks noChangeShapeType="1"/>
          </p:cNvCxnSpPr>
          <p:nvPr/>
        </p:nvCxnSpPr>
        <p:spPr bwMode="auto">
          <a:xfrm>
            <a:off x="3100388" y="2735392"/>
            <a:ext cx="0" cy="922337"/>
          </a:xfrm>
          <a:prstGeom prst="straightConnector1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AutoShape 77"/>
          <p:cNvCxnSpPr>
            <a:cxnSpLocks noChangeShapeType="1"/>
          </p:cNvCxnSpPr>
          <p:nvPr/>
        </p:nvCxnSpPr>
        <p:spPr bwMode="auto">
          <a:xfrm>
            <a:off x="3681413" y="2735392"/>
            <a:ext cx="0" cy="922337"/>
          </a:xfrm>
          <a:prstGeom prst="straightConnector1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AutoShape 78"/>
          <p:cNvCxnSpPr>
            <a:cxnSpLocks noChangeShapeType="1"/>
          </p:cNvCxnSpPr>
          <p:nvPr/>
        </p:nvCxnSpPr>
        <p:spPr bwMode="auto">
          <a:xfrm>
            <a:off x="4262438" y="2735392"/>
            <a:ext cx="2324100" cy="922337"/>
          </a:xfrm>
          <a:prstGeom prst="straightConnector1">
            <a:avLst/>
          </a:prstGeom>
          <a:noFill/>
          <a:ln w="9525">
            <a:solidFill>
              <a:srgbClr val="008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AutoShape 79"/>
          <p:cNvCxnSpPr>
            <a:cxnSpLocks noChangeShapeType="1"/>
          </p:cNvCxnSpPr>
          <p:nvPr/>
        </p:nvCxnSpPr>
        <p:spPr bwMode="auto">
          <a:xfrm>
            <a:off x="4843463" y="2735392"/>
            <a:ext cx="581025" cy="922337"/>
          </a:xfrm>
          <a:prstGeom prst="straightConnector1">
            <a:avLst/>
          </a:prstGeom>
          <a:noFill/>
          <a:ln w="9525">
            <a:solidFill>
              <a:srgbClr val="008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AutoShape 80"/>
          <p:cNvCxnSpPr>
            <a:cxnSpLocks noChangeShapeType="1"/>
          </p:cNvCxnSpPr>
          <p:nvPr/>
        </p:nvCxnSpPr>
        <p:spPr bwMode="auto">
          <a:xfrm flipH="1">
            <a:off x="2519363" y="2735392"/>
            <a:ext cx="2905125" cy="922337"/>
          </a:xfrm>
          <a:prstGeom prst="straightConnector1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AutoShape 81"/>
          <p:cNvCxnSpPr>
            <a:cxnSpLocks noChangeShapeType="1"/>
          </p:cNvCxnSpPr>
          <p:nvPr/>
        </p:nvCxnSpPr>
        <p:spPr bwMode="auto">
          <a:xfrm>
            <a:off x="6005513" y="2735392"/>
            <a:ext cx="0" cy="922337"/>
          </a:xfrm>
          <a:prstGeom prst="straightConnector1">
            <a:avLst/>
          </a:prstGeom>
          <a:noFill/>
          <a:ln w="9525">
            <a:solidFill>
              <a:srgbClr val="008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AutoShape 82"/>
          <p:cNvCxnSpPr>
            <a:cxnSpLocks noChangeShapeType="1"/>
          </p:cNvCxnSpPr>
          <p:nvPr/>
        </p:nvCxnSpPr>
        <p:spPr bwMode="auto">
          <a:xfrm flipH="1">
            <a:off x="4262438" y="2735392"/>
            <a:ext cx="2324100" cy="922337"/>
          </a:xfrm>
          <a:prstGeom prst="straightConnector1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6" name="Group 8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8247800"/>
              </p:ext>
            </p:extLst>
          </p:nvPr>
        </p:nvGraphicFramePr>
        <p:xfrm>
          <a:off x="2228850" y="5097592"/>
          <a:ext cx="2324100" cy="517880"/>
        </p:xfrm>
        <a:graphic>
          <a:graphicData uri="http://schemas.openxmlformats.org/drawingml/2006/table">
            <a:tbl>
              <a:tblPr/>
              <a:tblGrid>
                <a:gridCol w="581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19</a:t>
                      </a:r>
                    </a:p>
                  </a:txBody>
                  <a:tcPr marT="45580" marB="455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25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30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37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8" name="AutoShape 105"/>
          <p:cNvCxnSpPr>
            <a:cxnSpLocks noChangeShapeType="1"/>
          </p:cNvCxnSpPr>
          <p:nvPr/>
        </p:nvCxnSpPr>
        <p:spPr bwMode="auto">
          <a:xfrm>
            <a:off x="3390900" y="4175254"/>
            <a:ext cx="0" cy="922338"/>
          </a:xfrm>
          <a:prstGeom prst="straightConnector1">
            <a:avLst/>
          </a:prstGeom>
          <a:noFill/>
          <a:ln w="254000">
            <a:solidFill>
              <a:srgbClr val="0000FF"/>
            </a:solidFill>
            <a:round/>
            <a:headEnd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" name="AutoShape 109"/>
          <p:cNvSpPr>
            <a:spLocks noChangeArrowheads="1"/>
          </p:cNvSpPr>
          <p:nvPr/>
        </p:nvSpPr>
        <p:spPr bwMode="auto">
          <a:xfrm>
            <a:off x="0" y="3524379"/>
            <a:ext cx="4486275" cy="723900"/>
          </a:xfrm>
          <a:prstGeom prst="roundRect">
            <a:avLst>
              <a:gd name="adj" fmla="val 16667"/>
            </a:avLst>
          </a:prstGeom>
          <a:noFill/>
          <a:ln w="9525" algn="ctr">
            <a:solidFill>
              <a:srgbClr val="00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b="1" dirty="0">
                <a:solidFill>
                  <a:srgbClr val="0000FF"/>
                </a:solidFill>
              </a:rPr>
              <a:t>All values &lt; 56</a:t>
            </a:r>
          </a:p>
        </p:txBody>
      </p:sp>
      <p:sp>
        <p:nvSpPr>
          <p:cNvPr id="23" name="AutoShape 110"/>
          <p:cNvSpPr>
            <a:spLocks noChangeArrowheads="1"/>
          </p:cNvSpPr>
          <p:nvPr/>
        </p:nvSpPr>
        <p:spPr bwMode="auto">
          <a:xfrm>
            <a:off x="5173663" y="3524379"/>
            <a:ext cx="3970337" cy="723900"/>
          </a:xfrm>
          <a:prstGeom prst="roundRect">
            <a:avLst>
              <a:gd name="adj" fmla="val 16667"/>
            </a:avLst>
          </a:prstGeom>
          <a:noFill/>
          <a:ln w="9525" algn="ctr">
            <a:solidFill>
              <a:srgbClr val="008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TW" sz="2400" b="1" dirty="0">
                <a:solidFill>
                  <a:srgbClr val="008000"/>
                </a:solidFill>
                <a:sym typeface="Symbol" pitchFamily="18" charset="2"/>
              </a:rPr>
              <a:t>All values </a:t>
            </a:r>
            <a:r>
              <a:rPr lang="en-US" altLang="zh-TW" sz="2400" b="1" dirty="0">
                <a:solidFill>
                  <a:srgbClr val="008000"/>
                </a:solidFill>
              </a:rPr>
              <a:t> 56</a:t>
            </a:r>
          </a:p>
        </p:txBody>
      </p:sp>
      <p:sp>
        <p:nvSpPr>
          <p:cNvPr id="24" name="Text Box 111"/>
          <p:cNvSpPr txBox="1">
            <a:spLocks noChangeArrowheads="1"/>
          </p:cNvSpPr>
          <p:nvPr/>
        </p:nvSpPr>
        <p:spPr bwMode="auto">
          <a:xfrm>
            <a:off x="794607" y="4426079"/>
            <a:ext cx="225254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000" i="1" dirty="0">
                <a:solidFill>
                  <a:srgbClr val="0000FF"/>
                </a:solidFill>
              </a:rPr>
              <a:t>Recursively select</a:t>
            </a:r>
          </a:p>
        </p:txBody>
      </p:sp>
      <p:sp>
        <p:nvSpPr>
          <p:cNvPr id="26" name="AutoShape 113"/>
          <p:cNvSpPr>
            <a:spLocks noChangeArrowheads="1"/>
          </p:cNvSpPr>
          <p:nvPr/>
        </p:nvSpPr>
        <p:spPr bwMode="auto">
          <a:xfrm>
            <a:off x="6804248" y="2868732"/>
            <a:ext cx="1512168" cy="442674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000" i="1" dirty="0">
                <a:solidFill>
                  <a:srgbClr val="FF0000"/>
                </a:solidFill>
              </a:rPr>
              <a:t>partitioning</a:t>
            </a:r>
            <a:endParaRPr lang="en-US" altLang="zh-TW" sz="2000" dirty="0"/>
          </a:p>
        </p:txBody>
      </p:sp>
      <p:sp>
        <p:nvSpPr>
          <p:cNvPr id="29" name="TextBox 28"/>
          <p:cNvSpPr txBox="1"/>
          <p:nvPr/>
        </p:nvSpPr>
        <p:spPr>
          <a:xfrm>
            <a:off x="467544" y="1124744"/>
            <a:ext cx="81369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dirty="0">
                <a:solidFill>
                  <a:srgbClr val="FF0000"/>
                </a:solidFill>
              </a:rPr>
              <a:t>If k is smaller than the position of pivot (5 in this example), left part is enough!</a:t>
            </a:r>
          </a:p>
        </p:txBody>
      </p:sp>
    </p:spTree>
    <p:extLst>
      <p:ext uri="{BB962C8B-B14F-4D97-AF65-F5344CB8AC3E}">
        <p14:creationId xmlns:p14="http://schemas.microsoft.com/office/powerpoint/2010/main" val="2582162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/>
      <p:bldP spid="2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Quicksort: Example Run</a:t>
            </a:r>
          </a:p>
        </p:txBody>
      </p:sp>
      <p:graphicFrame>
        <p:nvGraphicFramePr>
          <p:cNvPr id="53" name="Group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610564"/>
              </p:ext>
            </p:extLst>
          </p:nvPr>
        </p:nvGraphicFramePr>
        <p:xfrm>
          <a:off x="3429595" y="1379538"/>
          <a:ext cx="3733800" cy="396875"/>
        </p:xfrm>
        <a:graphic>
          <a:graphicData uri="http://schemas.openxmlformats.org/drawingml/2006/table">
            <a:tbl>
              <a:tblPr/>
              <a:tblGrid>
                <a:gridCol w="4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56</a:t>
                      </a: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25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37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58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95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19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73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30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4" name="Group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4557003"/>
              </p:ext>
            </p:extLst>
          </p:nvPr>
        </p:nvGraphicFramePr>
        <p:xfrm>
          <a:off x="3429595" y="6418263"/>
          <a:ext cx="3733800" cy="396875"/>
        </p:xfrm>
        <a:graphic>
          <a:graphicData uri="http://schemas.openxmlformats.org/drawingml/2006/table">
            <a:tbl>
              <a:tblPr/>
              <a:tblGrid>
                <a:gridCol w="4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19</a:t>
                      </a: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25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30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37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56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58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73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95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5" name="AutoShape 42"/>
          <p:cNvSpPr>
            <a:spLocks noChangeArrowheads="1"/>
          </p:cNvSpPr>
          <p:nvPr/>
        </p:nvSpPr>
        <p:spPr bwMode="auto">
          <a:xfrm>
            <a:off x="1030882" y="6418263"/>
            <a:ext cx="2173288" cy="439737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000" i="1">
                <a:solidFill>
                  <a:srgbClr val="FF0000"/>
                </a:solidFill>
              </a:rPr>
              <a:t>Done and sorted!</a:t>
            </a:r>
          </a:p>
        </p:txBody>
      </p:sp>
      <p:graphicFrame>
        <p:nvGraphicFramePr>
          <p:cNvPr id="56" name="Group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09978"/>
              </p:ext>
            </p:extLst>
          </p:nvPr>
        </p:nvGraphicFramePr>
        <p:xfrm>
          <a:off x="5291732" y="2386013"/>
          <a:ext cx="466725" cy="396875"/>
        </p:xfrm>
        <a:graphic>
          <a:graphicData uri="http://schemas.openxmlformats.org/drawingml/2006/table">
            <a:tbl>
              <a:tblPr/>
              <a:tblGrid>
                <a:gridCol w="4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56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7" name="Group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4535617"/>
              </p:ext>
            </p:extLst>
          </p:nvPr>
        </p:nvGraphicFramePr>
        <p:xfrm>
          <a:off x="3208932" y="2386013"/>
          <a:ext cx="1866900" cy="396875"/>
        </p:xfrm>
        <a:graphic>
          <a:graphicData uri="http://schemas.openxmlformats.org/drawingml/2006/table">
            <a:tbl>
              <a:tblPr/>
              <a:tblGrid>
                <a:gridCol w="4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19</a:t>
                      </a: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25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37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30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8" name="Group 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2555386"/>
              </p:ext>
            </p:extLst>
          </p:nvPr>
        </p:nvGraphicFramePr>
        <p:xfrm>
          <a:off x="5979120" y="2386013"/>
          <a:ext cx="1400175" cy="396875"/>
        </p:xfrm>
        <a:graphic>
          <a:graphicData uri="http://schemas.openxmlformats.org/drawingml/2006/table">
            <a:tbl>
              <a:tblPr/>
              <a:tblGrid>
                <a:gridCol w="4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95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73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58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" name="Group 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338995"/>
              </p:ext>
            </p:extLst>
          </p:nvPr>
        </p:nvGraphicFramePr>
        <p:xfrm>
          <a:off x="3169245" y="3394075"/>
          <a:ext cx="466725" cy="396875"/>
        </p:xfrm>
        <a:graphic>
          <a:graphicData uri="http://schemas.openxmlformats.org/drawingml/2006/table">
            <a:tbl>
              <a:tblPr/>
              <a:tblGrid>
                <a:gridCol w="4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19</a:t>
                      </a: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0" name="Group 2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1283881"/>
              </p:ext>
            </p:extLst>
          </p:nvPr>
        </p:nvGraphicFramePr>
        <p:xfrm>
          <a:off x="3747095" y="3394075"/>
          <a:ext cx="1400175" cy="396875"/>
        </p:xfrm>
        <a:graphic>
          <a:graphicData uri="http://schemas.openxmlformats.org/drawingml/2006/table">
            <a:tbl>
              <a:tblPr/>
              <a:tblGrid>
                <a:gridCol w="4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25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37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30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1" name="Group 2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2983552"/>
              </p:ext>
            </p:extLst>
          </p:nvPr>
        </p:nvGraphicFramePr>
        <p:xfrm>
          <a:off x="3707407" y="4402138"/>
          <a:ext cx="466725" cy="396875"/>
        </p:xfrm>
        <a:graphic>
          <a:graphicData uri="http://schemas.openxmlformats.org/drawingml/2006/table">
            <a:tbl>
              <a:tblPr/>
              <a:tblGrid>
                <a:gridCol w="4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25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2" name="Group 2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8029995"/>
              </p:ext>
            </p:extLst>
          </p:nvPr>
        </p:nvGraphicFramePr>
        <p:xfrm>
          <a:off x="4286845" y="4402138"/>
          <a:ext cx="933450" cy="396875"/>
        </p:xfrm>
        <a:graphic>
          <a:graphicData uri="http://schemas.openxmlformats.org/drawingml/2006/table">
            <a:tbl>
              <a:tblPr/>
              <a:tblGrid>
                <a:gridCol w="4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37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30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3" name="AutoShape 101"/>
          <p:cNvCxnSpPr>
            <a:cxnSpLocks noChangeShapeType="1"/>
          </p:cNvCxnSpPr>
          <p:nvPr/>
        </p:nvCxnSpPr>
        <p:spPr bwMode="auto">
          <a:xfrm flipH="1">
            <a:off x="4142382" y="1774825"/>
            <a:ext cx="1154113" cy="611188"/>
          </a:xfrm>
          <a:prstGeom prst="straightConnector1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4" name="AutoShape 102"/>
          <p:cNvCxnSpPr>
            <a:cxnSpLocks noChangeShapeType="1"/>
          </p:cNvCxnSpPr>
          <p:nvPr/>
        </p:nvCxnSpPr>
        <p:spPr bwMode="auto">
          <a:xfrm>
            <a:off x="5296495" y="1774825"/>
            <a:ext cx="228600" cy="611188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" name="AutoShape 103"/>
          <p:cNvCxnSpPr>
            <a:cxnSpLocks noChangeShapeType="1"/>
          </p:cNvCxnSpPr>
          <p:nvPr/>
        </p:nvCxnSpPr>
        <p:spPr bwMode="auto">
          <a:xfrm>
            <a:off x="5296495" y="1774825"/>
            <a:ext cx="1382712" cy="611188"/>
          </a:xfrm>
          <a:prstGeom prst="straightConnector1">
            <a:avLst/>
          </a:prstGeom>
          <a:noFill/>
          <a:ln w="9525">
            <a:solidFill>
              <a:srgbClr val="008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6" name="AutoShape 104"/>
          <p:cNvCxnSpPr>
            <a:cxnSpLocks noChangeShapeType="1"/>
          </p:cNvCxnSpPr>
          <p:nvPr/>
        </p:nvCxnSpPr>
        <p:spPr bwMode="auto">
          <a:xfrm flipH="1">
            <a:off x="3402607" y="2781300"/>
            <a:ext cx="739775" cy="61277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7" name="AutoShape 105"/>
          <p:cNvCxnSpPr>
            <a:cxnSpLocks noChangeShapeType="1"/>
          </p:cNvCxnSpPr>
          <p:nvPr/>
        </p:nvCxnSpPr>
        <p:spPr bwMode="auto">
          <a:xfrm>
            <a:off x="4142382" y="2781300"/>
            <a:ext cx="304800" cy="612775"/>
          </a:xfrm>
          <a:prstGeom prst="straightConnector1">
            <a:avLst/>
          </a:prstGeom>
          <a:noFill/>
          <a:ln w="9525">
            <a:solidFill>
              <a:srgbClr val="008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8" name="AutoShape 106"/>
          <p:cNvCxnSpPr>
            <a:cxnSpLocks noChangeShapeType="1"/>
          </p:cNvCxnSpPr>
          <p:nvPr/>
        </p:nvCxnSpPr>
        <p:spPr bwMode="auto">
          <a:xfrm flipH="1">
            <a:off x="3940770" y="3789363"/>
            <a:ext cx="506412" cy="61277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9" name="AutoShape 107"/>
          <p:cNvCxnSpPr>
            <a:cxnSpLocks noChangeShapeType="1"/>
          </p:cNvCxnSpPr>
          <p:nvPr/>
        </p:nvCxnSpPr>
        <p:spPr bwMode="auto">
          <a:xfrm>
            <a:off x="4447182" y="3789363"/>
            <a:ext cx="306388" cy="612775"/>
          </a:xfrm>
          <a:prstGeom prst="straightConnector1">
            <a:avLst/>
          </a:prstGeom>
          <a:noFill/>
          <a:ln w="9525">
            <a:solidFill>
              <a:srgbClr val="008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70" name="Group 2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203580"/>
              </p:ext>
            </p:extLst>
          </p:nvPr>
        </p:nvGraphicFramePr>
        <p:xfrm>
          <a:off x="4248745" y="5410200"/>
          <a:ext cx="466725" cy="396875"/>
        </p:xfrm>
        <a:graphic>
          <a:graphicData uri="http://schemas.openxmlformats.org/drawingml/2006/table">
            <a:tbl>
              <a:tblPr/>
              <a:tblGrid>
                <a:gridCol w="4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30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1" name="Group 2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3126112"/>
              </p:ext>
            </p:extLst>
          </p:nvPr>
        </p:nvGraphicFramePr>
        <p:xfrm>
          <a:off x="4825007" y="5410200"/>
          <a:ext cx="466725" cy="396875"/>
        </p:xfrm>
        <a:graphic>
          <a:graphicData uri="http://schemas.openxmlformats.org/drawingml/2006/table">
            <a:tbl>
              <a:tblPr/>
              <a:tblGrid>
                <a:gridCol w="4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37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2" name="AutoShape 114"/>
          <p:cNvCxnSpPr>
            <a:cxnSpLocks noChangeShapeType="1"/>
          </p:cNvCxnSpPr>
          <p:nvPr/>
        </p:nvCxnSpPr>
        <p:spPr bwMode="auto">
          <a:xfrm flipH="1">
            <a:off x="4482107" y="4797425"/>
            <a:ext cx="271463" cy="612775"/>
          </a:xfrm>
          <a:prstGeom prst="straightConnector1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3" name="AutoShape 115"/>
          <p:cNvCxnSpPr>
            <a:cxnSpLocks noChangeShapeType="1"/>
          </p:cNvCxnSpPr>
          <p:nvPr/>
        </p:nvCxnSpPr>
        <p:spPr bwMode="auto">
          <a:xfrm>
            <a:off x="4753570" y="4797425"/>
            <a:ext cx="304800" cy="61277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74" name="Group 1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1610959"/>
              </p:ext>
            </p:extLst>
          </p:nvPr>
        </p:nvGraphicFramePr>
        <p:xfrm>
          <a:off x="6985595" y="3394075"/>
          <a:ext cx="466725" cy="396875"/>
        </p:xfrm>
        <a:graphic>
          <a:graphicData uri="http://schemas.openxmlformats.org/drawingml/2006/table">
            <a:tbl>
              <a:tblPr/>
              <a:tblGrid>
                <a:gridCol w="4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95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5" name="Group 2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7874073"/>
              </p:ext>
            </p:extLst>
          </p:nvPr>
        </p:nvGraphicFramePr>
        <p:xfrm>
          <a:off x="5942607" y="3394075"/>
          <a:ext cx="933450" cy="396875"/>
        </p:xfrm>
        <a:graphic>
          <a:graphicData uri="http://schemas.openxmlformats.org/drawingml/2006/table">
            <a:tbl>
              <a:tblPr/>
              <a:tblGrid>
                <a:gridCol w="4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58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73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6" name="AutoShape 150"/>
          <p:cNvCxnSpPr>
            <a:cxnSpLocks noChangeShapeType="1"/>
          </p:cNvCxnSpPr>
          <p:nvPr/>
        </p:nvCxnSpPr>
        <p:spPr bwMode="auto">
          <a:xfrm flipH="1">
            <a:off x="6409332" y="2781300"/>
            <a:ext cx="269875" cy="612775"/>
          </a:xfrm>
          <a:prstGeom prst="straightConnector1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7" name="AutoShape 151"/>
          <p:cNvCxnSpPr>
            <a:cxnSpLocks noChangeShapeType="1"/>
          </p:cNvCxnSpPr>
          <p:nvPr/>
        </p:nvCxnSpPr>
        <p:spPr bwMode="auto">
          <a:xfrm>
            <a:off x="6679207" y="2781300"/>
            <a:ext cx="539750" cy="61277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8" name="AutoShape 164"/>
          <p:cNvCxnSpPr>
            <a:cxnSpLocks noChangeShapeType="1"/>
          </p:cNvCxnSpPr>
          <p:nvPr/>
        </p:nvCxnSpPr>
        <p:spPr bwMode="auto">
          <a:xfrm flipH="1">
            <a:off x="6137870" y="3789363"/>
            <a:ext cx="271462" cy="61277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9" name="AutoShape 165"/>
          <p:cNvCxnSpPr>
            <a:cxnSpLocks noChangeShapeType="1"/>
          </p:cNvCxnSpPr>
          <p:nvPr/>
        </p:nvCxnSpPr>
        <p:spPr bwMode="auto">
          <a:xfrm>
            <a:off x="6409332" y="3789363"/>
            <a:ext cx="304800" cy="612775"/>
          </a:xfrm>
          <a:prstGeom prst="straightConnector1">
            <a:avLst/>
          </a:prstGeom>
          <a:noFill/>
          <a:ln w="9525">
            <a:solidFill>
              <a:srgbClr val="008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0" name="AutoShape 213"/>
          <p:cNvCxnSpPr>
            <a:cxnSpLocks noChangeShapeType="1"/>
          </p:cNvCxnSpPr>
          <p:nvPr/>
        </p:nvCxnSpPr>
        <p:spPr bwMode="auto">
          <a:xfrm>
            <a:off x="3402607" y="3789363"/>
            <a:ext cx="260350" cy="2628900"/>
          </a:xfrm>
          <a:prstGeom prst="straightConnector1">
            <a:avLst/>
          </a:prstGeom>
          <a:noFill/>
          <a:ln w="9525">
            <a:solidFill>
              <a:srgbClr val="FF66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1" name="AutoShape 214"/>
          <p:cNvCxnSpPr>
            <a:cxnSpLocks noChangeShapeType="1"/>
          </p:cNvCxnSpPr>
          <p:nvPr/>
        </p:nvCxnSpPr>
        <p:spPr bwMode="auto">
          <a:xfrm>
            <a:off x="3940770" y="4797425"/>
            <a:ext cx="188912" cy="1620838"/>
          </a:xfrm>
          <a:prstGeom prst="straightConnector1">
            <a:avLst/>
          </a:prstGeom>
          <a:noFill/>
          <a:ln w="9525">
            <a:solidFill>
              <a:srgbClr val="FF66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" name="AutoShape 215"/>
          <p:cNvCxnSpPr>
            <a:cxnSpLocks noChangeShapeType="1"/>
          </p:cNvCxnSpPr>
          <p:nvPr/>
        </p:nvCxnSpPr>
        <p:spPr bwMode="auto">
          <a:xfrm>
            <a:off x="4482107" y="5805488"/>
            <a:ext cx="114300" cy="612775"/>
          </a:xfrm>
          <a:prstGeom prst="straightConnector1">
            <a:avLst/>
          </a:prstGeom>
          <a:noFill/>
          <a:ln w="9525">
            <a:solidFill>
              <a:srgbClr val="FF66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83" name="Group 2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2837562"/>
              </p:ext>
            </p:extLst>
          </p:nvPr>
        </p:nvGraphicFramePr>
        <p:xfrm>
          <a:off x="5904507" y="4402138"/>
          <a:ext cx="466725" cy="396875"/>
        </p:xfrm>
        <a:graphic>
          <a:graphicData uri="http://schemas.openxmlformats.org/drawingml/2006/table">
            <a:tbl>
              <a:tblPr/>
              <a:tblGrid>
                <a:gridCol w="4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58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84" name="AutoShape 216"/>
          <p:cNvCxnSpPr>
            <a:cxnSpLocks noChangeShapeType="1"/>
          </p:cNvCxnSpPr>
          <p:nvPr/>
        </p:nvCxnSpPr>
        <p:spPr bwMode="auto">
          <a:xfrm>
            <a:off x="5058370" y="5805488"/>
            <a:ext cx="4762" cy="612775"/>
          </a:xfrm>
          <a:prstGeom prst="straightConnector1">
            <a:avLst/>
          </a:prstGeom>
          <a:noFill/>
          <a:ln w="9525">
            <a:solidFill>
              <a:srgbClr val="FF66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" name="AutoShape 217"/>
          <p:cNvCxnSpPr>
            <a:cxnSpLocks noChangeShapeType="1"/>
          </p:cNvCxnSpPr>
          <p:nvPr/>
        </p:nvCxnSpPr>
        <p:spPr bwMode="auto">
          <a:xfrm>
            <a:off x="5525095" y="2781300"/>
            <a:ext cx="4762" cy="3636963"/>
          </a:xfrm>
          <a:prstGeom prst="straightConnector1">
            <a:avLst/>
          </a:prstGeom>
          <a:noFill/>
          <a:ln w="9525">
            <a:solidFill>
              <a:srgbClr val="FF66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6" name="AutoShape 218"/>
          <p:cNvCxnSpPr>
            <a:cxnSpLocks noChangeShapeType="1"/>
          </p:cNvCxnSpPr>
          <p:nvPr/>
        </p:nvCxnSpPr>
        <p:spPr bwMode="auto">
          <a:xfrm flipH="1">
            <a:off x="5996582" y="4797425"/>
            <a:ext cx="141288" cy="1620838"/>
          </a:xfrm>
          <a:prstGeom prst="straightConnector1">
            <a:avLst/>
          </a:prstGeom>
          <a:noFill/>
          <a:ln w="9525">
            <a:solidFill>
              <a:srgbClr val="FF66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7" name="AutoShape 219"/>
          <p:cNvCxnSpPr>
            <a:cxnSpLocks noChangeShapeType="1"/>
          </p:cNvCxnSpPr>
          <p:nvPr/>
        </p:nvCxnSpPr>
        <p:spPr bwMode="auto">
          <a:xfrm flipH="1">
            <a:off x="6463307" y="4797425"/>
            <a:ext cx="250825" cy="1620838"/>
          </a:xfrm>
          <a:prstGeom prst="straightConnector1">
            <a:avLst/>
          </a:prstGeom>
          <a:noFill/>
          <a:ln w="9525">
            <a:solidFill>
              <a:srgbClr val="FF66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8" name="AutoShape 220"/>
          <p:cNvCxnSpPr>
            <a:cxnSpLocks noChangeShapeType="1"/>
          </p:cNvCxnSpPr>
          <p:nvPr/>
        </p:nvCxnSpPr>
        <p:spPr bwMode="auto">
          <a:xfrm flipH="1">
            <a:off x="6930032" y="3789363"/>
            <a:ext cx="288925" cy="2628900"/>
          </a:xfrm>
          <a:prstGeom prst="straightConnector1">
            <a:avLst/>
          </a:prstGeom>
          <a:noFill/>
          <a:ln w="9525">
            <a:solidFill>
              <a:srgbClr val="FF66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89" name="Group 2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4170798"/>
              </p:ext>
            </p:extLst>
          </p:nvPr>
        </p:nvGraphicFramePr>
        <p:xfrm>
          <a:off x="6480770" y="4402138"/>
          <a:ext cx="466725" cy="396875"/>
        </p:xfrm>
        <a:graphic>
          <a:graphicData uri="http://schemas.openxmlformats.org/drawingml/2006/table">
            <a:tbl>
              <a:tblPr/>
              <a:tblGrid>
                <a:gridCol w="4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73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1" name="Line 255"/>
          <p:cNvSpPr>
            <a:spLocks noChangeShapeType="1"/>
          </p:cNvSpPr>
          <p:nvPr/>
        </p:nvSpPr>
        <p:spPr bwMode="auto">
          <a:xfrm>
            <a:off x="1029295" y="3829050"/>
            <a:ext cx="0" cy="287338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2" name="Text Box 256"/>
          <p:cNvSpPr txBox="1">
            <a:spLocks noChangeArrowheads="1"/>
          </p:cNvSpPr>
          <p:nvPr/>
        </p:nvSpPr>
        <p:spPr bwMode="auto">
          <a:xfrm>
            <a:off x="1029295" y="3789363"/>
            <a:ext cx="1517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1800">
                <a:solidFill>
                  <a:srgbClr val="0000FF"/>
                </a:solidFill>
              </a:rPr>
              <a:t>Left subarray</a:t>
            </a:r>
          </a:p>
        </p:txBody>
      </p:sp>
      <p:sp>
        <p:nvSpPr>
          <p:cNvPr id="93" name="Line 257"/>
          <p:cNvSpPr>
            <a:spLocks noChangeShapeType="1"/>
          </p:cNvSpPr>
          <p:nvPr/>
        </p:nvSpPr>
        <p:spPr bwMode="auto">
          <a:xfrm>
            <a:off x="1029295" y="4981575"/>
            <a:ext cx="0" cy="287338"/>
          </a:xfrm>
          <a:prstGeom prst="line">
            <a:avLst/>
          </a:prstGeom>
          <a:noFill/>
          <a:ln w="9525">
            <a:solidFill>
              <a:srgbClr val="008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4" name="Text Box 258"/>
          <p:cNvSpPr txBox="1">
            <a:spLocks noChangeArrowheads="1"/>
          </p:cNvSpPr>
          <p:nvPr/>
        </p:nvSpPr>
        <p:spPr bwMode="auto">
          <a:xfrm>
            <a:off x="1029295" y="4941888"/>
            <a:ext cx="1670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1800">
                <a:solidFill>
                  <a:srgbClr val="008000"/>
                </a:solidFill>
              </a:rPr>
              <a:t>Right subarray</a:t>
            </a:r>
          </a:p>
        </p:txBody>
      </p:sp>
      <p:sp>
        <p:nvSpPr>
          <p:cNvPr id="95" name="Line 259"/>
          <p:cNvSpPr>
            <a:spLocks noChangeShapeType="1"/>
          </p:cNvSpPr>
          <p:nvPr/>
        </p:nvSpPr>
        <p:spPr bwMode="auto">
          <a:xfrm>
            <a:off x="1029295" y="4405313"/>
            <a:ext cx="0" cy="28733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6" name="Text Box 260"/>
          <p:cNvSpPr txBox="1">
            <a:spLocks noChangeArrowheads="1"/>
          </p:cNvSpPr>
          <p:nvPr/>
        </p:nvSpPr>
        <p:spPr bwMode="auto">
          <a:xfrm>
            <a:off x="1029295" y="4365625"/>
            <a:ext cx="692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1800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97" name="Line 261"/>
          <p:cNvSpPr>
            <a:spLocks noChangeShapeType="1"/>
          </p:cNvSpPr>
          <p:nvPr/>
        </p:nvSpPr>
        <p:spPr bwMode="auto">
          <a:xfrm>
            <a:off x="1029295" y="5549900"/>
            <a:ext cx="0" cy="287338"/>
          </a:xfrm>
          <a:prstGeom prst="line">
            <a:avLst/>
          </a:prstGeom>
          <a:noFill/>
          <a:ln w="9525">
            <a:solidFill>
              <a:srgbClr val="FF66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8" name="Text Box 262"/>
          <p:cNvSpPr txBox="1">
            <a:spLocks noChangeArrowheads="1"/>
          </p:cNvSpPr>
          <p:nvPr/>
        </p:nvSpPr>
        <p:spPr bwMode="auto">
          <a:xfrm>
            <a:off x="1029295" y="5510213"/>
            <a:ext cx="1543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1800">
                <a:solidFill>
                  <a:srgbClr val="FF6600"/>
                </a:solidFill>
              </a:rPr>
              <a:t>Virtual merge</a:t>
            </a:r>
          </a:p>
        </p:txBody>
      </p:sp>
    </p:spTree>
    <p:extLst>
      <p:ext uri="{BB962C8B-B14F-4D97-AF65-F5344CB8AC3E}">
        <p14:creationId xmlns:p14="http://schemas.microsoft.com/office/powerpoint/2010/main" val="2358756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"/>
                            </p:stCondLst>
                            <p:childTnLst>
                              <p:par>
                                <p:cTn id="1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1500"/>
                            </p:stCondLst>
                            <p:childTnLst>
                              <p:par>
                                <p:cTn id="1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2000"/>
                            </p:stCondLst>
                            <p:childTnLst>
                              <p:par>
                                <p:cTn id="1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2500"/>
                            </p:stCondLst>
                            <p:childTnLst>
                              <p:par>
                                <p:cTn id="1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3000"/>
                            </p:stCondLst>
                            <p:childTnLst>
                              <p:par>
                                <p:cTn id="1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3500"/>
                            </p:stCondLst>
                            <p:childTnLst>
                              <p:par>
                                <p:cTn id="1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4000"/>
                            </p:stCondLst>
                            <p:childTnLst>
                              <p:par>
                                <p:cTn id="15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4500"/>
                            </p:stCondLst>
                            <p:childTnLst>
                              <p:par>
                                <p:cTn id="16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91" grpId="0" animBg="1"/>
      <p:bldP spid="92" grpId="0"/>
      <p:bldP spid="93" grpId="0" animBg="1"/>
      <p:bldP spid="94" grpId="0"/>
      <p:bldP spid="95" grpId="0" animBg="1"/>
      <p:bldP spid="96" grpId="0"/>
      <p:bldP spid="97" grpId="0" animBg="1"/>
      <p:bldP spid="9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Quickselect</a:t>
            </a:r>
            <a:r>
              <a:rPr lang="en-US" dirty="0"/>
              <a:t>: Example Run</a:t>
            </a:r>
          </a:p>
        </p:txBody>
      </p:sp>
      <p:sp>
        <p:nvSpPr>
          <p:cNvPr id="91" name="Line 255"/>
          <p:cNvSpPr>
            <a:spLocks noChangeShapeType="1"/>
          </p:cNvSpPr>
          <p:nvPr/>
        </p:nvSpPr>
        <p:spPr bwMode="auto">
          <a:xfrm>
            <a:off x="7219627" y="5143499"/>
            <a:ext cx="0" cy="287338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2" name="Text Box 256"/>
          <p:cNvSpPr txBox="1">
            <a:spLocks noChangeArrowheads="1"/>
          </p:cNvSpPr>
          <p:nvPr/>
        </p:nvSpPr>
        <p:spPr bwMode="auto">
          <a:xfrm>
            <a:off x="7219627" y="5103812"/>
            <a:ext cx="1517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1800">
                <a:solidFill>
                  <a:srgbClr val="0000FF"/>
                </a:solidFill>
              </a:rPr>
              <a:t>Left subarray</a:t>
            </a:r>
          </a:p>
        </p:txBody>
      </p:sp>
      <p:sp>
        <p:nvSpPr>
          <p:cNvPr id="93" name="Line 257"/>
          <p:cNvSpPr>
            <a:spLocks noChangeShapeType="1"/>
          </p:cNvSpPr>
          <p:nvPr/>
        </p:nvSpPr>
        <p:spPr bwMode="auto">
          <a:xfrm>
            <a:off x="7219627" y="6296024"/>
            <a:ext cx="0" cy="287338"/>
          </a:xfrm>
          <a:prstGeom prst="line">
            <a:avLst/>
          </a:prstGeom>
          <a:noFill/>
          <a:ln w="9525">
            <a:solidFill>
              <a:srgbClr val="008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4" name="Text Box 258"/>
          <p:cNvSpPr txBox="1">
            <a:spLocks noChangeArrowheads="1"/>
          </p:cNvSpPr>
          <p:nvPr/>
        </p:nvSpPr>
        <p:spPr bwMode="auto">
          <a:xfrm>
            <a:off x="7219627" y="6256337"/>
            <a:ext cx="1670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1800" dirty="0">
                <a:solidFill>
                  <a:srgbClr val="008000"/>
                </a:solidFill>
              </a:rPr>
              <a:t>Right subarray</a:t>
            </a:r>
          </a:p>
        </p:txBody>
      </p:sp>
      <p:sp>
        <p:nvSpPr>
          <p:cNvPr id="95" name="Line 259"/>
          <p:cNvSpPr>
            <a:spLocks noChangeShapeType="1"/>
          </p:cNvSpPr>
          <p:nvPr/>
        </p:nvSpPr>
        <p:spPr bwMode="auto">
          <a:xfrm>
            <a:off x="7219627" y="5719762"/>
            <a:ext cx="0" cy="28733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6" name="Text Box 260"/>
          <p:cNvSpPr txBox="1">
            <a:spLocks noChangeArrowheads="1"/>
          </p:cNvSpPr>
          <p:nvPr/>
        </p:nvSpPr>
        <p:spPr bwMode="auto">
          <a:xfrm>
            <a:off x="7219627" y="5680074"/>
            <a:ext cx="692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1800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99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lang="en-US" altLang="zh-CN"/>
              <a:t>CSCI2520 Tutorial 6</a:t>
            </a:r>
            <a:endParaRPr lang="zh-CN" altLang="en-US"/>
          </a:p>
        </p:txBody>
      </p:sp>
      <p:sp>
        <p:nvSpPr>
          <p:cNvPr id="101" name="TextBox 100"/>
          <p:cNvSpPr txBox="1"/>
          <p:nvPr/>
        </p:nvSpPr>
        <p:spPr>
          <a:xfrm>
            <a:off x="251520" y="1157843"/>
            <a:ext cx="29052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find the 2-th smallest value in this array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51520" y="2204864"/>
            <a:ext cx="28332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</a:rPr>
              <a:t>find the 2-th smallest value in the left subarray</a:t>
            </a:r>
          </a:p>
        </p:txBody>
      </p:sp>
      <p:graphicFrame>
        <p:nvGraphicFramePr>
          <p:cNvPr id="141" name="Group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0357103"/>
              </p:ext>
            </p:extLst>
          </p:nvPr>
        </p:nvGraphicFramePr>
        <p:xfrm>
          <a:off x="3430265" y="1379538"/>
          <a:ext cx="3733800" cy="396875"/>
        </p:xfrm>
        <a:graphic>
          <a:graphicData uri="http://schemas.openxmlformats.org/drawingml/2006/table">
            <a:tbl>
              <a:tblPr/>
              <a:tblGrid>
                <a:gridCol w="4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56</a:t>
                      </a: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25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37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58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95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19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73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30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3" name="Group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4388050"/>
              </p:ext>
            </p:extLst>
          </p:nvPr>
        </p:nvGraphicFramePr>
        <p:xfrm>
          <a:off x="5292402" y="2386013"/>
          <a:ext cx="466725" cy="396875"/>
        </p:xfrm>
        <a:graphic>
          <a:graphicData uri="http://schemas.openxmlformats.org/drawingml/2006/table">
            <a:tbl>
              <a:tblPr/>
              <a:tblGrid>
                <a:gridCol w="4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56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4" name="Group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290935"/>
              </p:ext>
            </p:extLst>
          </p:nvPr>
        </p:nvGraphicFramePr>
        <p:xfrm>
          <a:off x="3209602" y="2386013"/>
          <a:ext cx="1866900" cy="396875"/>
        </p:xfrm>
        <a:graphic>
          <a:graphicData uri="http://schemas.openxmlformats.org/drawingml/2006/table">
            <a:tbl>
              <a:tblPr/>
              <a:tblGrid>
                <a:gridCol w="4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19</a:t>
                      </a: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25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37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30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5" name="Group 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185562"/>
              </p:ext>
            </p:extLst>
          </p:nvPr>
        </p:nvGraphicFramePr>
        <p:xfrm>
          <a:off x="5979790" y="2386013"/>
          <a:ext cx="1400175" cy="396875"/>
        </p:xfrm>
        <a:graphic>
          <a:graphicData uri="http://schemas.openxmlformats.org/drawingml/2006/table">
            <a:tbl>
              <a:tblPr/>
              <a:tblGrid>
                <a:gridCol w="4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95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73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58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6" name="Group 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4790768"/>
              </p:ext>
            </p:extLst>
          </p:nvPr>
        </p:nvGraphicFramePr>
        <p:xfrm>
          <a:off x="3169915" y="3394075"/>
          <a:ext cx="466725" cy="396875"/>
        </p:xfrm>
        <a:graphic>
          <a:graphicData uri="http://schemas.openxmlformats.org/drawingml/2006/table">
            <a:tbl>
              <a:tblPr/>
              <a:tblGrid>
                <a:gridCol w="4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19</a:t>
                      </a: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7" name="Group 2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1155930"/>
              </p:ext>
            </p:extLst>
          </p:nvPr>
        </p:nvGraphicFramePr>
        <p:xfrm>
          <a:off x="3747765" y="3394075"/>
          <a:ext cx="1400175" cy="396875"/>
        </p:xfrm>
        <a:graphic>
          <a:graphicData uri="http://schemas.openxmlformats.org/drawingml/2006/table">
            <a:tbl>
              <a:tblPr/>
              <a:tblGrid>
                <a:gridCol w="4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25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37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30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8" name="Group 2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8172987"/>
              </p:ext>
            </p:extLst>
          </p:nvPr>
        </p:nvGraphicFramePr>
        <p:xfrm>
          <a:off x="3708077" y="4402138"/>
          <a:ext cx="466725" cy="396875"/>
        </p:xfrm>
        <a:graphic>
          <a:graphicData uri="http://schemas.openxmlformats.org/drawingml/2006/table">
            <a:tbl>
              <a:tblPr/>
              <a:tblGrid>
                <a:gridCol w="4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25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9" name="Group 2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8792505"/>
              </p:ext>
            </p:extLst>
          </p:nvPr>
        </p:nvGraphicFramePr>
        <p:xfrm>
          <a:off x="4287515" y="4402138"/>
          <a:ext cx="933450" cy="396875"/>
        </p:xfrm>
        <a:graphic>
          <a:graphicData uri="http://schemas.openxmlformats.org/drawingml/2006/table">
            <a:tbl>
              <a:tblPr/>
              <a:tblGrid>
                <a:gridCol w="4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37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30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50" name="AutoShape 101"/>
          <p:cNvCxnSpPr>
            <a:cxnSpLocks noChangeShapeType="1"/>
          </p:cNvCxnSpPr>
          <p:nvPr/>
        </p:nvCxnSpPr>
        <p:spPr bwMode="auto">
          <a:xfrm flipH="1">
            <a:off x="4143052" y="1774825"/>
            <a:ext cx="1154113" cy="611188"/>
          </a:xfrm>
          <a:prstGeom prst="straightConnector1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1" name="AutoShape 102"/>
          <p:cNvCxnSpPr>
            <a:cxnSpLocks noChangeShapeType="1"/>
          </p:cNvCxnSpPr>
          <p:nvPr/>
        </p:nvCxnSpPr>
        <p:spPr bwMode="auto">
          <a:xfrm>
            <a:off x="5297165" y="1774825"/>
            <a:ext cx="228600" cy="611188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2" name="AutoShape 103"/>
          <p:cNvCxnSpPr>
            <a:cxnSpLocks noChangeShapeType="1"/>
          </p:cNvCxnSpPr>
          <p:nvPr/>
        </p:nvCxnSpPr>
        <p:spPr bwMode="auto">
          <a:xfrm>
            <a:off x="5297165" y="1774825"/>
            <a:ext cx="1382712" cy="611188"/>
          </a:xfrm>
          <a:prstGeom prst="straightConnector1">
            <a:avLst/>
          </a:prstGeom>
          <a:noFill/>
          <a:ln w="9525">
            <a:solidFill>
              <a:srgbClr val="008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" name="AutoShape 104"/>
          <p:cNvCxnSpPr>
            <a:cxnSpLocks noChangeShapeType="1"/>
          </p:cNvCxnSpPr>
          <p:nvPr/>
        </p:nvCxnSpPr>
        <p:spPr bwMode="auto">
          <a:xfrm flipH="1">
            <a:off x="3403277" y="2781300"/>
            <a:ext cx="739775" cy="61277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" name="AutoShape 105"/>
          <p:cNvCxnSpPr>
            <a:cxnSpLocks noChangeShapeType="1"/>
          </p:cNvCxnSpPr>
          <p:nvPr/>
        </p:nvCxnSpPr>
        <p:spPr bwMode="auto">
          <a:xfrm>
            <a:off x="4143052" y="2781300"/>
            <a:ext cx="304800" cy="612775"/>
          </a:xfrm>
          <a:prstGeom prst="straightConnector1">
            <a:avLst/>
          </a:prstGeom>
          <a:noFill/>
          <a:ln w="9525">
            <a:solidFill>
              <a:srgbClr val="008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5" name="AutoShape 106"/>
          <p:cNvCxnSpPr>
            <a:cxnSpLocks noChangeShapeType="1"/>
          </p:cNvCxnSpPr>
          <p:nvPr/>
        </p:nvCxnSpPr>
        <p:spPr bwMode="auto">
          <a:xfrm flipH="1">
            <a:off x="3941440" y="3789363"/>
            <a:ext cx="506412" cy="61277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6" name="AutoShape 107"/>
          <p:cNvCxnSpPr>
            <a:cxnSpLocks noChangeShapeType="1"/>
          </p:cNvCxnSpPr>
          <p:nvPr/>
        </p:nvCxnSpPr>
        <p:spPr bwMode="auto">
          <a:xfrm>
            <a:off x="4447852" y="3789363"/>
            <a:ext cx="306388" cy="612775"/>
          </a:xfrm>
          <a:prstGeom prst="straightConnector1">
            <a:avLst/>
          </a:prstGeom>
          <a:noFill/>
          <a:ln w="9525">
            <a:solidFill>
              <a:srgbClr val="008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8" name="TextBox 177"/>
          <p:cNvSpPr txBox="1"/>
          <p:nvPr/>
        </p:nvSpPr>
        <p:spPr>
          <a:xfrm>
            <a:off x="251520" y="3284984"/>
            <a:ext cx="28803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8000"/>
                </a:solidFill>
              </a:rPr>
              <a:t>find the 1-th smallest value in the right subarray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251520" y="4397042"/>
            <a:ext cx="28332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pivot is the 1-th smallest!</a:t>
            </a:r>
          </a:p>
        </p:txBody>
      </p:sp>
    </p:spTree>
    <p:extLst>
      <p:ext uri="{BB962C8B-B14F-4D97-AF65-F5344CB8AC3E}">
        <p14:creationId xmlns:p14="http://schemas.microsoft.com/office/powerpoint/2010/main" val="4041133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 animBg="1"/>
      <p:bldP spid="92" grpId="0"/>
      <p:bldP spid="93" grpId="0" animBg="1"/>
      <p:bldP spid="94" grpId="0"/>
      <p:bldP spid="95" grpId="0" animBg="1"/>
      <p:bldP spid="9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Implement </a:t>
            </a:r>
            <a:r>
              <a:rPr lang="en-US" dirty="0" err="1"/>
              <a:t>quickselect</a:t>
            </a:r>
            <a:r>
              <a:rPr lang="en-US" dirty="0"/>
              <a:t> with the following prototype</a:t>
            </a:r>
          </a:p>
          <a:p>
            <a:endParaRPr lang="en-US" dirty="0"/>
          </a:p>
          <a:p>
            <a:r>
              <a:rPr lang="en-US" dirty="0"/>
              <a:t>Hint: quicksort is like this …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6</a:t>
            </a:r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763688" y="4061971"/>
            <a:ext cx="537679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Func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Quicksort(</a:t>
            </a:r>
            <a:r>
              <a:rPr lang="en-US" altLang="zh-CN" dirty="0" err="1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arr</a:t>
            </a:r>
            <a:r>
              <a:rPr lang="en-US" altLang="zh-CN" dirty="0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: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list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, </a:t>
            </a:r>
            <a:r>
              <a:rPr lang="en-US" altLang="zh-CN" dirty="0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n: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if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&gt; 1: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p = Partition(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arr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,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Quicksort(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arr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, p)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Quicksort(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arr</a:t>
            </a:r>
            <a:r>
              <a:rPr lang="en-US" dirty="0">
                <a:highlight>
                  <a:srgbClr val="FFFFFF"/>
                </a:highlight>
                <a:latin typeface="Consolas"/>
              </a:rPr>
              <a:t>[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p + 1:],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- p - 1)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63688" y="2771636"/>
            <a:ext cx="62504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Func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Quickselect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</a:t>
            </a:r>
            <a:r>
              <a:rPr lang="en-US" sz="2000" dirty="0" err="1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arr</a:t>
            </a:r>
            <a:r>
              <a:rPr lang="en-US" sz="2000" dirty="0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: 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list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, </a:t>
            </a:r>
            <a:r>
              <a:rPr lang="en-US" sz="2000" dirty="0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n: 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, </a:t>
            </a:r>
            <a:r>
              <a:rPr lang="en-US" sz="2000" dirty="0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k: 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148887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 Solution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6</a:t>
            </a:r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79512" y="1844824"/>
            <a:ext cx="8416086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Func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Quickselect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</a:t>
            </a:r>
            <a:r>
              <a:rPr lang="en-US" altLang="zh-CN" dirty="0" err="1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arr</a:t>
            </a:r>
            <a:r>
              <a:rPr lang="en-US" altLang="zh-CN" dirty="0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: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list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, </a:t>
            </a:r>
            <a:r>
              <a:rPr lang="en-US" altLang="zh-CN" dirty="0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n: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, </a:t>
            </a:r>
            <a:r>
              <a:rPr lang="en-US" altLang="zh-CN" dirty="0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k: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if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== 1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return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arr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[0]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else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: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p = Partition(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arr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,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if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(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k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- 1) &lt; p: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return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Quickselect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arr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, p,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k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else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return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Quickselect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arr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[p + 1:],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- p - 1,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k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- p - 1)</a:t>
            </a:r>
          </a:p>
        </p:txBody>
      </p:sp>
      <p:sp>
        <p:nvSpPr>
          <p:cNvPr id="6" name="AutoShape 8"/>
          <p:cNvSpPr>
            <a:spLocks noChangeArrowheads="1"/>
          </p:cNvSpPr>
          <p:nvPr/>
        </p:nvSpPr>
        <p:spPr bwMode="auto">
          <a:xfrm>
            <a:off x="6156176" y="3284984"/>
            <a:ext cx="1979613" cy="666750"/>
          </a:xfrm>
          <a:prstGeom prst="wedgeRoundRectCallout">
            <a:avLst>
              <a:gd name="adj1" fmla="val -77066"/>
              <a:gd name="adj2" fmla="val 74283"/>
              <a:gd name="adj3" fmla="val 16667"/>
            </a:avLst>
          </a:prstGeom>
          <a:solidFill>
            <a:srgbClr val="FFFF99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000"/>
              <a:t>Two </a:t>
            </a:r>
            <a:r>
              <a:rPr lang="en-US" altLang="zh-TW" sz="2000" i="1">
                <a:solidFill>
                  <a:srgbClr val="0000FF"/>
                </a:solidFill>
              </a:rPr>
              <a:t>recursive calls</a:t>
            </a:r>
            <a:endParaRPr lang="en-US" altLang="zh-TW" sz="2000"/>
          </a:p>
        </p:txBody>
      </p:sp>
      <p:sp>
        <p:nvSpPr>
          <p:cNvPr id="7" name="AutoShape 9"/>
          <p:cNvSpPr>
            <a:spLocks noChangeArrowheads="1"/>
          </p:cNvSpPr>
          <p:nvPr/>
        </p:nvSpPr>
        <p:spPr bwMode="auto">
          <a:xfrm>
            <a:off x="6156176" y="3284984"/>
            <a:ext cx="1979613" cy="666750"/>
          </a:xfrm>
          <a:prstGeom prst="wedgeRoundRectCallout">
            <a:avLst>
              <a:gd name="adj1" fmla="val -71648"/>
              <a:gd name="adj2" fmla="val 10847"/>
              <a:gd name="adj3" fmla="val 16667"/>
            </a:avLst>
          </a:prstGeom>
          <a:solidFill>
            <a:srgbClr val="FFFF99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/>
              <a:t>Two </a:t>
            </a:r>
            <a:r>
              <a:rPr lang="en-US" altLang="zh-TW" sz="2000" i="1" dirty="0">
                <a:solidFill>
                  <a:srgbClr val="0000FF"/>
                </a:solidFill>
              </a:rPr>
              <a:t>recursive calls</a:t>
            </a:r>
            <a:endParaRPr lang="en-US" altLang="zh-TW" sz="2000" dirty="0"/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5796136" y="1843571"/>
            <a:ext cx="1855787" cy="666750"/>
          </a:xfrm>
          <a:prstGeom prst="wedgeRoundRectCallout">
            <a:avLst>
              <a:gd name="adj1" fmla="val -239306"/>
              <a:gd name="adj2" fmla="val 14764"/>
              <a:gd name="adj3" fmla="val 16667"/>
            </a:avLst>
          </a:prstGeom>
          <a:solidFill>
            <a:srgbClr val="FFFF99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0" bIns="0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000"/>
              <a:t>A </a:t>
            </a:r>
            <a:r>
              <a:rPr lang="en-US" altLang="zh-TW" sz="2000" i="1">
                <a:solidFill>
                  <a:srgbClr val="0000FF"/>
                </a:solidFill>
              </a:rPr>
              <a:t>test</a:t>
            </a:r>
            <a:r>
              <a:rPr lang="en-US" altLang="zh-TW" sz="2000"/>
              <a:t> to stop or continue</a:t>
            </a:r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5796136" y="2636912"/>
            <a:ext cx="1828000" cy="340519"/>
          </a:xfrm>
          <a:prstGeom prst="wedgeRoundRectCallout">
            <a:avLst>
              <a:gd name="adj1" fmla="val -188477"/>
              <a:gd name="adj2" fmla="val -61661"/>
              <a:gd name="adj3" fmla="val 16667"/>
            </a:avLst>
          </a:prstGeom>
          <a:solidFill>
            <a:srgbClr val="FFFF99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tIns="0" bIns="0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/>
              <a:t>An </a:t>
            </a:r>
            <a:r>
              <a:rPr lang="en-US" altLang="zh-TW" sz="2000" i="1" dirty="0">
                <a:solidFill>
                  <a:srgbClr val="0000FF"/>
                </a:solidFill>
              </a:rPr>
              <a:t>end case</a:t>
            </a:r>
            <a:endParaRPr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1332768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Quickselect</a:t>
            </a:r>
            <a:r>
              <a:rPr lang="en-US" dirty="0"/>
              <a:t> Complexity (Optional)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525963"/>
          </a:xfrm>
        </p:spPr>
        <p:txBody>
          <a:bodyPr>
            <a:normAutofit/>
          </a:bodyPr>
          <a:lstStyle/>
          <a:p>
            <a:r>
              <a:rPr lang="en-US" sz="2800" dirty="0"/>
              <a:t>Computational complexity of </a:t>
            </a:r>
            <a:r>
              <a:rPr lang="en-US" sz="2800" dirty="0" err="1"/>
              <a:t>quickselect</a:t>
            </a:r>
            <a:r>
              <a:rPr lang="en-US" sz="2800" dirty="0"/>
              <a:t> is similar to that of quicksort. The time for partition is </a:t>
            </a:r>
            <a:r>
              <a:rPr kumimoji="1" lang="en-US" altLang="zh-TW" sz="2800" kern="0" dirty="0">
                <a:solidFill>
                  <a:srgbClr val="0000FF"/>
                </a:solidFill>
              </a:rPr>
              <a:t>O(n)</a:t>
            </a:r>
            <a:r>
              <a:rPr kumimoji="1" lang="en-US" altLang="zh-TW" sz="2400" kern="0" dirty="0">
                <a:latin typeface="Arial"/>
              </a:rPr>
              <a:t>.</a:t>
            </a:r>
            <a:endParaRPr lang="en-US" sz="2800" dirty="0"/>
          </a:p>
          <a:p>
            <a:r>
              <a:rPr lang="en-US" sz="2800" dirty="0"/>
              <a:t>In the </a:t>
            </a:r>
            <a:r>
              <a:rPr lang="en-US" sz="2800" i="1" dirty="0">
                <a:solidFill>
                  <a:srgbClr val="FF0000"/>
                </a:solidFill>
              </a:rPr>
              <a:t>worst</a:t>
            </a:r>
            <a:r>
              <a:rPr lang="en-US" sz="2800" dirty="0"/>
              <a:t> case, target subarray is much larger than the other. </a:t>
            </a:r>
            <a:r>
              <a:rPr kumimoji="1" lang="en-US" altLang="zh-TW" sz="2800" kern="0" dirty="0">
                <a:solidFill>
                  <a:srgbClr val="000000"/>
                </a:solidFill>
              </a:rPr>
              <a:t>There are </a:t>
            </a:r>
            <a:r>
              <a:rPr kumimoji="1" lang="en-US" altLang="zh-TW" sz="2800" kern="0" dirty="0">
                <a:solidFill>
                  <a:srgbClr val="0000FF"/>
                </a:solidFill>
              </a:rPr>
              <a:t>O(n)</a:t>
            </a:r>
            <a:r>
              <a:rPr kumimoji="1" lang="en-US" altLang="zh-TW" sz="2800" kern="0" dirty="0">
                <a:solidFill>
                  <a:srgbClr val="000000"/>
                </a:solidFill>
              </a:rPr>
              <a:t> levels. Each level executes in </a:t>
            </a:r>
            <a:r>
              <a:rPr kumimoji="1" lang="en-US" altLang="zh-TW" sz="2800" kern="0" dirty="0">
                <a:solidFill>
                  <a:srgbClr val="0000FF"/>
                </a:solidFill>
              </a:rPr>
              <a:t>O(n)</a:t>
            </a:r>
            <a:r>
              <a:rPr kumimoji="1" lang="en-US" altLang="zh-TW" sz="2800" kern="0" dirty="0">
                <a:solidFill>
                  <a:srgbClr val="000000"/>
                </a:solidFill>
              </a:rPr>
              <a:t> time. Thus, </a:t>
            </a:r>
            <a:r>
              <a:rPr kumimoji="1" lang="en-US" altLang="zh-TW" sz="2800" i="1" kern="0" dirty="0">
                <a:solidFill>
                  <a:srgbClr val="FF0000"/>
                </a:solidFill>
              </a:rPr>
              <a:t>worst case</a:t>
            </a:r>
            <a:r>
              <a:rPr kumimoji="1" lang="en-US" altLang="zh-TW" sz="2800" kern="0" dirty="0">
                <a:solidFill>
                  <a:srgbClr val="000000"/>
                </a:solidFill>
              </a:rPr>
              <a:t> time complexity is </a:t>
            </a:r>
            <a:r>
              <a:rPr kumimoji="1" lang="en-US" altLang="zh-TW" sz="2800" kern="0" dirty="0">
                <a:solidFill>
                  <a:srgbClr val="0000FF"/>
                </a:solidFill>
              </a:rPr>
              <a:t>O(n</a:t>
            </a:r>
            <a:r>
              <a:rPr kumimoji="1" lang="en-US" altLang="zh-TW" sz="2800" kern="0" baseline="30000" dirty="0">
                <a:solidFill>
                  <a:srgbClr val="0000FF"/>
                </a:solidFill>
              </a:rPr>
              <a:t>2</a:t>
            </a:r>
            <a:r>
              <a:rPr kumimoji="1" lang="en-US" altLang="zh-TW" sz="2800" kern="0" dirty="0">
                <a:solidFill>
                  <a:srgbClr val="0000FF"/>
                </a:solidFill>
              </a:rPr>
              <a:t>)</a:t>
            </a:r>
            <a:r>
              <a:rPr kumimoji="1" lang="en-US" altLang="zh-TW" sz="2800" kern="0" dirty="0">
                <a:solidFill>
                  <a:srgbClr val="000000"/>
                </a:solidFill>
              </a:rPr>
              <a:t>.</a:t>
            </a:r>
          </a:p>
          <a:p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6</a:t>
            </a:r>
            <a:endParaRPr lang="zh-CN" altLang="en-US"/>
          </a:p>
        </p:txBody>
      </p:sp>
      <p:sp>
        <p:nvSpPr>
          <p:cNvPr id="26" name="Rectangle 2"/>
          <p:cNvSpPr>
            <a:spLocks noChangeAspect="1" noChangeArrowheads="1"/>
          </p:cNvSpPr>
          <p:nvPr/>
        </p:nvSpPr>
        <p:spPr bwMode="auto">
          <a:xfrm>
            <a:off x="1182688" y="3886473"/>
            <a:ext cx="6638925" cy="214312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0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1400" b="1">
                <a:solidFill>
                  <a:srgbClr val="0000FF"/>
                </a:solidFill>
                <a:latin typeface="Courier New" pitchFamily="49" charset="0"/>
              </a:rPr>
              <a:t>array</a:t>
            </a:r>
          </a:p>
        </p:txBody>
      </p:sp>
      <p:sp>
        <p:nvSpPr>
          <p:cNvPr id="27" name="Rectangle 4"/>
          <p:cNvSpPr>
            <a:spLocks noChangeArrowheads="1"/>
          </p:cNvSpPr>
          <p:nvPr/>
        </p:nvSpPr>
        <p:spPr bwMode="auto">
          <a:xfrm>
            <a:off x="1463675" y="4527823"/>
            <a:ext cx="6467475" cy="215900"/>
          </a:xfrm>
          <a:prstGeom prst="rect">
            <a:avLst/>
          </a:prstGeom>
          <a:solidFill>
            <a:srgbClr val="0080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8" name="Rectangle 5"/>
          <p:cNvSpPr>
            <a:spLocks noChangeAspect="1" noChangeArrowheads="1"/>
          </p:cNvSpPr>
          <p:nvPr/>
        </p:nvSpPr>
        <p:spPr bwMode="auto">
          <a:xfrm>
            <a:off x="1074738" y="4527823"/>
            <a:ext cx="214312" cy="215900"/>
          </a:xfrm>
          <a:prstGeom prst="rect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9" name="Rectangle 10"/>
          <p:cNvSpPr>
            <a:spLocks noChangeArrowheads="1"/>
          </p:cNvSpPr>
          <p:nvPr/>
        </p:nvSpPr>
        <p:spPr bwMode="auto">
          <a:xfrm>
            <a:off x="1698625" y="5170760"/>
            <a:ext cx="6294438" cy="214313"/>
          </a:xfrm>
          <a:prstGeom prst="rect">
            <a:avLst/>
          </a:prstGeom>
          <a:solidFill>
            <a:srgbClr val="0080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0" name="Rectangle 11"/>
          <p:cNvSpPr>
            <a:spLocks noChangeAspect="1" noChangeArrowheads="1"/>
          </p:cNvSpPr>
          <p:nvPr/>
        </p:nvSpPr>
        <p:spPr bwMode="auto">
          <a:xfrm>
            <a:off x="1398588" y="5170760"/>
            <a:ext cx="214312" cy="214313"/>
          </a:xfrm>
          <a:prstGeom prst="rect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1" name="Rectangle 22"/>
          <p:cNvSpPr>
            <a:spLocks noChangeArrowheads="1"/>
          </p:cNvSpPr>
          <p:nvPr/>
        </p:nvSpPr>
        <p:spPr bwMode="auto">
          <a:xfrm>
            <a:off x="1909763" y="5812110"/>
            <a:ext cx="6121400" cy="215900"/>
          </a:xfrm>
          <a:prstGeom prst="rect">
            <a:avLst/>
          </a:prstGeom>
          <a:solidFill>
            <a:srgbClr val="0080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2" name="Rectangle 23"/>
          <p:cNvSpPr>
            <a:spLocks noChangeAspect="1" noChangeArrowheads="1"/>
          </p:cNvSpPr>
          <p:nvPr/>
        </p:nvSpPr>
        <p:spPr bwMode="auto">
          <a:xfrm>
            <a:off x="1654175" y="5812110"/>
            <a:ext cx="214313" cy="215900"/>
          </a:xfrm>
          <a:prstGeom prst="rect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3" name="Rectangle 28"/>
          <p:cNvSpPr>
            <a:spLocks noChangeArrowheads="1"/>
          </p:cNvSpPr>
          <p:nvPr/>
        </p:nvSpPr>
        <p:spPr bwMode="auto">
          <a:xfrm>
            <a:off x="2122488" y="6455048"/>
            <a:ext cx="5948362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34" name="AutoShape 49"/>
          <p:cNvCxnSpPr>
            <a:cxnSpLocks noChangeAspect="1" noChangeShapeType="1"/>
            <a:stCxn id="26" idx="2"/>
            <a:endCxn id="28" idx="0"/>
          </p:cNvCxnSpPr>
          <p:nvPr/>
        </p:nvCxnSpPr>
        <p:spPr bwMode="auto">
          <a:xfrm flipH="1">
            <a:off x="1182688" y="4100785"/>
            <a:ext cx="3319462" cy="427038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" name="AutoShape 50"/>
          <p:cNvCxnSpPr>
            <a:cxnSpLocks noChangeAspect="1" noChangeShapeType="1"/>
            <a:stCxn id="26" idx="2"/>
            <a:endCxn id="27" idx="0"/>
          </p:cNvCxnSpPr>
          <p:nvPr/>
        </p:nvCxnSpPr>
        <p:spPr bwMode="auto">
          <a:xfrm>
            <a:off x="4502150" y="4100785"/>
            <a:ext cx="195263" cy="427038"/>
          </a:xfrm>
          <a:prstGeom prst="straightConnector1">
            <a:avLst/>
          </a:prstGeom>
          <a:noFill/>
          <a:ln w="9525">
            <a:solidFill>
              <a:srgbClr val="008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" name="AutoShape 55"/>
          <p:cNvCxnSpPr>
            <a:cxnSpLocks noChangeAspect="1" noChangeShapeType="1"/>
            <a:stCxn id="27" idx="2"/>
            <a:endCxn id="30" idx="0"/>
          </p:cNvCxnSpPr>
          <p:nvPr/>
        </p:nvCxnSpPr>
        <p:spPr bwMode="auto">
          <a:xfrm flipH="1">
            <a:off x="1506538" y="4743723"/>
            <a:ext cx="3190875" cy="427037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" name="AutoShape 56"/>
          <p:cNvCxnSpPr>
            <a:cxnSpLocks noChangeAspect="1" noChangeShapeType="1"/>
            <a:stCxn id="27" idx="2"/>
            <a:endCxn id="29" idx="0"/>
          </p:cNvCxnSpPr>
          <p:nvPr/>
        </p:nvCxnSpPr>
        <p:spPr bwMode="auto">
          <a:xfrm>
            <a:off x="4697413" y="4743723"/>
            <a:ext cx="149225" cy="427037"/>
          </a:xfrm>
          <a:prstGeom prst="straightConnector1">
            <a:avLst/>
          </a:prstGeom>
          <a:noFill/>
          <a:ln w="9525">
            <a:solidFill>
              <a:srgbClr val="008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" name="AutoShape 67"/>
          <p:cNvCxnSpPr>
            <a:cxnSpLocks noChangeAspect="1" noChangeShapeType="1"/>
            <a:stCxn id="29" idx="2"/>
            <a:endCxn id="32" idx="0"/>
          </p:cNvCxnSpPr>
          <p:nvPr/>
        </p:nvCxnSpPr>
        <p:spPr bwMode="auto">
          <a:xfrm flipH="1">
            <a:off x="1762125" y="5385073"/>
            <a:ext cx="3084513" cy="427037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" name="AutoShape 68"/>
          <p:cNvCxnSpPr>
            <a:cxnSpLocks noChangeAspect="1" noChangeShapeType="1"/>
            <a:stCxn id="29" idx="2"/>
            <a:endCxn id="31" idx="0"/>
          </p:cNvCxnSpPr>
          <p:nvPr/>
        </p:nvCxnSpPr>
        <p:spPr bwMode="auto">
          <a:xfrm>
            <a:off x="4846638" y="5385073"/>
            <a:ext cx="123825" cy="427037"/>
          </a:xfrm>
          <a:prstGeom prst="straightConnector1">
            <a:avLst/>
          </a:prstGeom>
          <a:noFill/>
          <a:ln w="9525">
            <a:solidFill>
              <a:srgbClr val="008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" name="AutoShape 91"/>
          <p:cNvCxnSpPr>
            <a:cxnSpLocks noChangeAspect="1" noChangeShapeType="1"/>
            <a:stCxn id="31" idx="2"/>
            <a:endCxn id="42" idx="0"/>
          </p:cNvCxnSpPr>
          <p:nvPr/>
        </p:nvCxnSpPr>
        <p:spPr bwMode="auto">
          <a:xfrm flipH="1">
            <a:off x="1974850" y="6028010"/>
            <a:ext cx="2995613" cy="427038"/>
          </a:xfrm>
          <a:prstGeom prst="straightConnector1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" name="AutoShape 92"/>
          <p:cNvCxnSpPr>
            <a:cxnSpLocks noChangeAspect="1" noChangeShapeType="1"/>
            <a:stCxn id="31" idx="2"/>
            <a:endCxn id="33" idx="0"/>
          </p:cNvCxnSpPr>
          <p:nvPr/>
        </p:nvCxnSpPr>
        <p:spPr bwMode="auto">
          <a:xfrm>
            <a:off x="4970463" y="6028010"/>
            <a:ext cx="127000" cy="427038"/>
          </a:xfrm>
          <a:prstGeom prst="straightConnector1">
            <a:avLst/>
          </a:prstGeom>
          <a:noFill/>
          <a:ln w="9525">
            <a:solidFill>
              <a:srgbClr val="008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2" name="Rectangle 29"/>
          <p:cNvSpPr>
            <a:spLocks noChangeAspect="1" noChangeArrowheads="1"/>
          </p:cNvSpPr>
          <p:nvPr/>
        </p:nvSpPr>
        <p:spPr bwMode="auto">
          <a:xfrm>
            <a:off x="1866900" y="6455048"/>
            <a:ext cx="214313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pSp>
        <p:nvGrpSpPr>
          <p:cNvPr id="43" name="Group 101"/>
          <p:cNvGrpSpPr>
            <a:grpSpLocks/>
          </p:cNvGrpSpPr>
          <p:nvPr/>
        </p:nvGrpSpPr>
        <p:grpSpPr bwMode="auto">
          <a:xfrm rot="-5400000">
            <a:off x="-961231" y="5093766"/>
            <a:ext cx="2778125" cy="366713"/>
            <a:chOff x="856" y="4016"/>
            <a:chExt cx="1750" cy="231"/>
          </a:xfrm>
        </p:grpSpPr>
        <p:sp>
          <p:nvSpPr>
            <p:cNvPr id="44" name="Text Box 96"/>
            <p:cNvSpPr txBox="1">
              <a:spLocks noChangeArrowheads="1"/>
            </p:cNvSpPr>
            <p:nvPr/>
          </p:nvSpPr>
          <p:spPr bwMode="auto">
            <a:xfrm>
              <a:off x="1308" y="4016"/>
              <a:ext cx="84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TW" sz="1800">
                  <a:solidFill>
                    <a:srgbClr val="0000FF"/>
                  </a:solidFill>
                  <a:latin typeface="cmmi10" pitchFamily="34" charset="0"/>
                </a:rPr>
                <a:t>O</a:t>
              </a:r>
              <a:r>
                <a:rPr lang="en-US" altLang="zh-TW" sz="1800">
                  <a:solidFill>
                    <a:srgbClr val="0000FF"/>
                  </a:solidFill>
                </a:rPr>
                <a:t>(</a:t>
              </a:r>
              <a:r>
                <a:rPr lang="en-US" altLang="zh-TW" sz="1800">
                  <a:solidFill>
                    <a:srgbClr val="0000FF"/>
                  </a:solidFill>
                  <a:latin typeface="cmmi10" pitchFamily="34" charset="0"/>
                </a:rPr>
                <a:t>N</a:t>
              </a:r>
              <a:r>
                <a:rPr lang="en-US" altLang="zh-TW" sz="1800">
                  <a:solidFill>
                    <a:srgbClr val="0000FF"/>
                  </a:solidFill>
                </a:rPr>
                <a:t>)</a:t>
              </a:r>
              <a:r>
                <a:rPr lang="en-US" altLang="zh-TW" sz="1800"/>
                <a:t> levels</a:t>
              </a:r>
            </a:p>
          </p:txBody>
        </p:sp>
        <p:sp>
          <p:nvSpPr>
            <p:cNvPr id="45" name="Line 97"/>
            <p:cNvSpPr>
              <a:spLocks noChangeShapeType="1"/>
            </p:cNvSpPr>
            <p:nvPr/>
          </p:nvSpPr>
          <p:spPr bwMode="auto">
            <a:xfrm>
              <a:off x="2153" y="4131"/>
              <a:ext cx="4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6" name="Line 98"/>
            <p:cNvSpPr>
              <a:spLocks noChangeShapeType="1"/>
            </p:cNvSpPr>
            <p:nvPr/>
          </p:nvSpPr>
          <p:spPr bwMode="auto">
            <a:xfrm flipH="1">
              <a:off x="856" y="4131"/>
              <a:ext cx="4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30897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500"/>
                            </p:stCondLst>
                            <p:childTnLst>
                              <p:par>
                                <p:cTn id="5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Quickselect</a:t>
            </a:r>
            <a:r>
              <a:rPr lang="en-US" dirty="0"/>
              <a:t> Complexity (Optional)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525963"/>
          </a:xfrm>
        </p:spPr>
        <p:txBody>
          <a:bodyPr>
            <a:normAutofit/>
          </a:bodyPr>
          <a:lstStyle/>
          <a:p>
            <a:r>
              <a:rPr lang="en-US" altLang="zh-TW" sz="2800" dirty="0"/>
              <a:t>In </a:t>
            </a:r>
            <a:r>
              <a:rPr lang="en-US" altLang="zh-TW" sz="2800" i="1" dirty="0">
                <a:solidFill>
                  <a:srgbClr val="FF0000"/>
                </a:solidFill>
              </a:rPr>
              <a:t>average</a:t>
            </a:r>
            <a:r>
              <a:rPr lang="en-US" altLang="zh-TW" sz="2800" dirty="0"/>
              <a:t> case, the left and right subarrays have equal size.</a:t>
            </a:r>
          </a:p>
          <a:p>
            <a:r>
              <a:rPr lang="en-US" altLang="zh-TW" sz="2800" dirty="0"/>
              <a:t>There are at most </a:t>
            </a:r>
            <a:r>
              <a:rPr lang="en-US" altLang="zh-TW" sz="2800" dirty="0">
                <a:solidFill>
                  <a:srgbClr val="0000FF"/>
                </a:solidFill>
              </a:rPr>
              <a:t>log n</a:t>
            </a:r>
            <a:r>
              <a:rPr lang="en-US" altLang="zh-TW" sz="2800" dirty="0"/>
              <a:t> levels. Each level executes in </a:t>
            </a:r>
            <a:r>
              <a:rPr lang="en-US" altLang="zh-TW" sz="2800" dirty="0">
                <a:solidFill>
                  <a:srgbClr val="0000FF"/>
                </a:solidFill>
              </a:rPr>
              <a:t>?</a:t>
            </a:r>
            <a:r>
              <a:rPr lang="en-US" altLang="zh-TW" sz="2800" dirty="0"/>
              <a:t> time. Thus, </a:t>
            </a:r>
            <a:r>
              <a:rPr lang="en-US" altLang="zh-TW" sz="2800" i="1" dirty="0">
                <a:solidFill>
                  <a:srgbClr val="FF0000"/>
                </a:solidFill>
              </a:rPr>
              <a:t>average case</a:t>
            </a:r>
            <a:r>
              <a:rPr lang="en-US" altLang="zh-TW" sz="2800" dirty="0"/>
              <a:t> time complexity is </a:t>
            </a:r>
            <a:r>
              <a:rPr lang="en-US" altLang="zh-TW" sz="2800" dirty="0">
                <a:solidFill>
                  <a:srgbClr val="0000FF"/>
                </a:solidFill>
              </a:rPr>
              <a:t>?</a:t>
            </a:r>
            <a:r>
              <a:rPr lang="en-US" altLang="zh-TW" sz="2800" dirty="0"/>
              <a:t>.</a:t>
            </a:r>
          </a:p>
          <a:p>
            <a:endParaRPr lang="en-US" altLang="zh-TW" sz="2800" dirty="0"/>
          </a:p>
          <a:p>
            <a:endParaRPr lang="en-US" sz="2800" dirty="0"/>
          </a:p>
        </p:txBody>
      </p:sp>
      <p:sp>
        <p:nvSpPr>
          <p:cNvPr id="5" name="Rectangle 4"/>
          <p:cNvSpPr>
            <a:spLocks noChangeAspect="1" noChangeArrowheads="1"/>
          </p:cNvSpPr>
          <p:nvPr/>
        </p:nvSpPr>
        <p:spPr bwMode="auto">
          <a:xfrm>
            <a:off x="1250950" y="3741738"/>
            <a:ext cx="6638925" cy="214312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0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1400" b="1">
                <a:solidFill>
                  <a:srgbClr val="0000FF"/>
                </a:solidFill>
                <a:latin typeface="Courier New" pitchFamily="49" charset="0"/>
              </a:rPr>
              <a:t>array</a:t>
            </a:r>
          </a:p>
        </p:txBody>
      </p:sp>
      <p:sp>
        <p:nvSpPr>
          <p:cNvPr id="6" name="Rectangle 5"/>
          <p:cNvSpPr>
            <a:spLocks noChangeAspect="1" noChangeArrowheads="1"/>
          </p:cNvSpPr>
          <p:nvPr/>
        </p:nvSpPr>
        <p:spPr bwMode="auto">
          <a:xfrm>
            <a:off x="1081088" y="4383088"/>
            <a:ext cx="3211512" cy="215900"/>
          </a:xfrm>
          <a:prstGeom prst="rect">
            <a:avLst/>
          </a:prstGeom>
          <a:solidFill>
            <a:srgbClr val="0000FF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7" name="Rectangle 6"/>
          <p:cNvSpPr>
            <a:spLocks noChangeAspect="1" noChangeArrowheads="1"/>
          </p:cNvSpPr>
          <p:nvPr/>
        </p:nvSpPr>
        <p:spPr bwMode="auto">
          <a:xfrm>
            <a:off x="4849813" y="4383088"/>
            <a:ext cx="3211512" cy="215900"/>
          </a:xfrm>
          <a:prstGeom prst="rect">
            <a:avLst/>
          </a:prstGeom>
          <a:solidFill>
            <a:srgbClr val="0080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8" name="Rectangle 7"/>
          <p:cNvSpPr>
            <a:spLocks noChangeAspect="1" noChangeArrowheads="1"/>
          </p:cNvSpPr>
          <p:nvPr/>
        </p:nvSpPr>
        <p:spPr bwMode="auto">
          <a:xfrm>
            <a:off x="4464050" y="4383088"/>
            <a:ext cx="214313" cy="215900"/>
          </a:xfrm>
          <a:prstGeom prst="rect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9" name="Rectangle 8"/>
          <p:cNvSpPr>
            <a:spLocks noChangeAspect="1" noChangeArrowheads="1"/>
          </p:cNvSpPr>
          <p:nvPr/>
        </p:nvSpPr>
        <p:spPr bwMode="auto">
          <a:xfrm>
            <a:off x="995363" y="5026025"/>
            <a:ext cx="1498600" cy="214313"/>
          </a:xfrm>
          <a:prstGeom prst="rect">
            <a:avLst/>
          </a:prstGeom>
          <a:solidFill>
            <a:srgbClr val="0000FF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0" name="Rectangle 9"/>
          <p:cNvSpPr>
            <a:spLocks noChangeAspect="1" noChangeArrowheads="1"/>
          </p:cNvSpPr>
          <p:nvPr/>
        </p:nvSpPr>
        <p:spPr bwMode="auto">
          <a:xfrm>
            <a:off x="2878138" y="5026025"/>
            <a:ext cx="1500187" cy="214313"/>
          </a:xfrm>
          <a:prstGeom prst="rect">
            <a:avLst/>
          </a:prstGeom>
          <a:solidFill>
            <a:srgbClr val="0080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1" name="Rectangle 10"/>
          <p:cNvSpPr>
            <a:spLocks noChangeAspect="1" noChangeArrowheads="1"/>
          </p:cNvSpPr>
          <p:nvPr/>
        </p:nvSpPr>
        <p:spPr bwMode="auto">
          <a:xfrm>
            <a:off x="2579688" y="5026025"/>
            <a:ext cx="214312" cy="214313"/>
          </a:xfrm>
          <a:prstGeom prst="rect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8" name="Rectangle 23"/>
          <p:cNvSpPr>
            <a:spLocks noChangeAspect="1" noChangeArrowheads="1"/>
          </p:cNvSpPr>
          <p:nvPr/>
        </p:nvSpPr>
        <p:spPr bwMode="auto">
          <a:xfrm>
            <a:off x="2836863" y="5667375"/>
            <a:ext cx="641350" cy="215900"/>
          </a:xfrm>
          <a:prstGeom prst="rect">
            <a:avLst/>
          </a:prstGeom>
          <a:solidFill>
            <a:srgbClr val="0000FF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9" name="Rectangle 24"/>
          <p:cNvSpPr>
            <a:spLocks noChangeAspect="1" noChangeArrowheads="1"/>
          </p:cNvSpPr>
          <p:nvPr/>
        </p:nvSpPr>
        <p:spPr bwMode="auto">
          <a:xfrm>
            <a:off x="3778250" y="5667375"/>
            <a:ext cx="642938" cy="215900"/>
          </a:xfrm>
          <a:prstGeom prst="rect">
            <a:avLst/>
          </a:prstGeom>
          <a:solidFill>
            <a:srgbClr val="0080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0" name="Rectangle 25"/>
          <p:cNvSpPr>
            <a:spLocks noChangeAspect="1" noChangeArrowheads="1"/>
          </p:cNvSpPr>
          <p:nvPr/>
        </p:nvSpPr>
        <p:spPr bwMode="auto">
          <a:xfrm>
            <a:off x="3521075" y="5667375"/>
            <a:ext cx="214313" cy="215900"/>
          </a:xfrm>
          <a:prstGeom prst="rect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2" name="Rectangle 56"/>
          <p:cNvSpPr>
            <a:spLocks noChangeAspect="1" noChangeArrowheads="1"/>
          </p:cNvSpPr>
          <p:nvPr/>
        </p:nvSpPr>
        <p:spPr bwMode="auto">
          <a:xfrm>
            <a:off x="3735388" y="6310313"/>
            <a:ext cx="214312" cy="214312"/>
          </a:xfrm>
          <a:prstGeom prst="rect">
            <a:avLst/>
          </a:prstGeom>
          <a:solidFill>
            <a:srgbClr val="0000FF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3" name="Rectangle 57"/>
          <p:cNvSpPr>
            <a:spLocks noChangeAspect="1" noChangeArrowheads="1"/>
          </p:cNvSpPr>
          <p:nvPr/>
        </p:nvSpPr>
        <p:spPr bwMode="auto">
          <a:xfrm>
            <a:off x="4249738" y="6310313"/>
            <a:ext cx="214312" cy="214312"/>
          </a:xfrm>
          <a:prstGeom prst="rect">
            <a:avLst/>
          </a:prstGeom>
          <a:solidFill>
            <a:srgbClr val="0080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4" name="Rectangle 58"/>
          <p:cNvSpPr>
            <a:spLocks noChangeAspect="1" noChangeArrowheads="1"/>
          </p:cNvSpPr>
          <p:nvPr/>
        </p:nvSpPr>
        <p:spPr bwMode="auto">
          <a:xfrm>
            <a:off x="3992563" y="6310313"/>
            <a:ext cx="214312" cy="214312"/>
          </a:xfrm>
          <a:prstGeom prst="rect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51" name="AutoShape 74"/>
          <p:cNvCxnSpPr>
            <a:cxnSpLocks noChangeAspect="1" noChangeShapeType="1"/>
            <a:stCxn id="5" idx="2"/>
            <a:endCxn id="6" idx="0"/>
          </p:cNvCxnSpPr>
          <p:nvPr/>
        </p:nvCxnSpPr>
        <p:spPr bwMode="auto">
          <a:xfrm flipH="1">
            <a:off x="2686050" y="3956050"/>
            <a:ext cx="1884363" cy="427038"/>
          </a:xfrm>
          <a:prstGeom prst="straightConnector1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" name="AutoShape 75"/>
          <p:cNvCxnSpPr>
            <a:cxnSpLocks noChangeAspect="1" noChangeShapeType="1"/>
            <a:stCxn id="5" idx="2"/>
            <a:endCxn id="8" idx="0"/>
          </p:cNvCxnSpPr>
          <p:nvPr/>
        </p:nvCxnSpPr>
        <p:spPr bwMode="auto">
          <a:xfrm>
            <a:off x="4570413" y="3956050"/>
            <a:ext cx="1587" cy="427038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" name="AutoShape 76"/>
          <p:cNvCxnSpPr>
            <a:cxnSpLocks noChangeAspect="1" noChangeShapeType="1"/>
            <a:stCxn id="5" idx="2"/>
            <a:endCxn id="7" idx="0"/>
          </p:cNvCxnSpPr>
          <p:nvPr/>
        </p:nvCxnSpPr>
        <p:spPr bwMode="auto">
          <a:xfrm>
            <a:off x="4570413" y="3956050"/>
            <a:ext cx="1885950" cy="427038"/>
          </a:xfrm>
          <a:prstGeom prst="straightConnector1">
            <a:avLst/>
          </a:prstGeom>
          <a:noFill/>
          <a:ln w="9525">
            <a:solidFill>
              <a:srgbClr val="008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" name="AutoShape 77"/>
          <p:cNvCxnSpPr>
            <a:cxnSpLocks noChangeAspect="1" noChangeShapeType="1"/>
            <a:stCxn id="6" idx="2"/>
            <a:endCxn id="9" idx="0"/>
          </p:cNvCxnSpPr>
          <p:nvPr/>
        </p:nvCxnSpPr>
        <p:spPr bwMode="auto">
          <a:xfrm flipH="1">
            <a:off x="1744663" y="4598988"/>
            <a:ext cx="941387" cy="427037"/>
          </a:xfrm>
          <a:prstGeom prst="straightConnector1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5" name="AutoShape 78"/>
          <p:cNvCxnSpPr>
            <a:cxnSpLocks noChangeAspect="1" noChangeShapeType="1"/>
            <a:stCxn id="6" idx="2"/>
            <a:endCxn id="11" idx="0"/>
          </p:cNvCxnSpPr>
          <p:nvPr/>
        </p:nvCxnSpPr>
        <p:spPr bwMode="auto">
          <a:xfrm>
            <a:off x="2686050" y="4598988"/>
            <a:ext cx="0" cy="427037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" name="AutoShape 79"/>
          <p:cNvCxnSpPr>
            <a:cxnSpLocks noChangeAspect="1" noChangeShapeType="1"/>
            <a:stCxn id="6" idx="2"/>
            <a:endCxn id="10" idx="0"/>
          </p:cNvCxnSpPr>
          <p:nvPr/>
        </p:nvCxnSpPr>
        <p:spPr bwMode="auto">
          <a:xfrm>
            <a:off x="2686050" y="4598988"/>
            <a:ext cx="942975" cy="427037"/>
          </a:xfrm>
          <a:prstGeom prst="straightConnector1">
            <a:avLst/>
          </a:prstGeom>
          <a:noFill/>
          <a:ln w="9525">
            <a:solidFill>
              <a:srgbClr val="008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3" name="AutoShape 86"/>
          <p:cNvCxnSpPr>
            <a:cxnSpLocks noChangeAspect="1" noChangeShapeType="1"/>
            <a:stCxn id="10" idx="2"/>
            <a:endCxn id="18" idx="0"/>
          </p:cNvCxnSpPr>
          <p:nvPr/>
        </p:nvCxnSpPr>
        <p:spPr bwMode="auto">
          <a:xfrm flipH="1">
            <a:off x="3157538" y="5240338"/>
            <a:ext cx="471487" cy="427037"/>
          </a:xfrm>
          <a:prstGeom prst="straightConnector1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4" name="AutoShape 87"/>
          <p:cNvCxnSpPr>
            <a:cxnSpLocks noChangeAspect="1" noChangeShapeType="1"/>
            <a:stCxn id="10" idx="2"/>
            <a:endCxn id="20" idx="0"/>
          </p:cNvCxnSpPr>
          <p:nvPr/>
        </p:nvCxnSpPr>
        <p:spPr bwMode="auto">
          <a:xfrm>
            <a:off x="3629025" y="5240338"/>
            <a:ext cx="0" cy="427037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" name="AutoShape 88"/>
          <p:cNvCxnSpPr>
            <a:cxnSpLocks noChangeAspect="1" noChangeShapeType="1"/>
            <a:stCxn id="10" idx="2"/>
            <a:endCxn id="19" idx="0"/>
          </p:cNvCxnSpPr>
          <p:nvPr/>
        </p:nvCxnSpPr>
        <p:spPr bwMode="auto">
          <a:xfrm>
            <a:off x="3629025" y="5240338"/>
            <a:ext cx="469900" cy="427037"/>
          </a:xfrm>
          <a:prstGeom prst="straightConnector1">
            <a:avLst/>
          </a:prstGeom>
          <a:noFill/>
          <a:ln w="9525">
            <a:solidFill>
              <a:srgbClr val="008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1" name="AutoShape 104"/>
          <p:cNvCxnSpPr>
            <a:cxnSpLocks noChangeAspect="1" noChangeShapeType="1"/>
            <a:stCxn id="19" idx="2"/>
            <a:endCxn id="42" idx="0"/>
          </p:cNvCxnSpPr>
          <p:nvPr/>
        </p:nvCxnSpPr>
        <p:spPr bwMode="auto">
          <a:xfrm flipH="1">
            <a:off x="3843338" y="5883275"/>
            <a:ext cx="255587" cy="427038"/>
          </a:xfrm>
          <a:prstGeom prst="straightConnector1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" name="AutoShape 105"/>
          <p:cNvCxnSpPr>
            <a:cxnSpLocks noChangeAspect="1" noChangeShapeType="1"/>
            <a:stCxn id="19" idx="2"/>
            <a:endCxn id="44" idx="0"/>
          </p:cNvCxnSpPr>
          <p:nvPr/>
        </p:nvCxnSpPr>
        <p:spPr bwMode="auto">
          <a:xfrm>
            <a:off x="4098925" y="5883275"/>
            <a:ext cx="1588" cy="427038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" name="AutoShape 106"/>
          <p:cNvCxnSpPr>
            <a:cxnSpLocks noChangeAspect="1" noChangeShapeType="1"/>
            <a:stCxn id="19" idx="2"/>
            <a:endCxn id="43" idx="0"/>
          </p:cNvCxnSpPr>
          <p:nvPr/>
        </p:nvCxnSpPr>
        <p:spPr bwMode="auto">
          <a:xfrm>
            <a:off x="4098925" y="5883275"/>
            <a:ext cx="258763" cy="427038"/>
          </a:xfrm>
          <a:prstGeom prst="straightConnector1">
            <a:avLst/>
          </a:prstGeom>
          <a:noFill/>
          <a:ln w="9525">
            <a:solidFill>
              <a:srgbClr val="008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96" name="Group 126"/>
          <p:cNvGrpSpPr>
            <a:grpSpLocks/>
          </p:cNvGrpSpPr>
          <p:nvPr/>
        </p:nvGrpSpPr>
        <p:grpSpPr bwMode="auto">
          <a:xfrm rot="-5400000">
            <a:off x="-962818" y="4949031"/>
            <a:ext cx="2781300" cy="366713"/>
            <a:chOff x="0" y="4469"/>
            <a:chExt cx="1752" cy="231"/>
          </a:xfrm>
        </p:grpSpPr>
        <p:sp>
          <p:nvSpPr>
            <p:cNvPr id="97" name="Text Box 123"/>
            <p:cNvSpPr txBox="1">
              <a:spLocks noChangeArrowheads="1"/>
            </p:cNvSpPr>
            <p:nvPr/>
          </p:nvSpPr>
          <p:spPr bwMode="auto">
            <a:xfrm>
              <a:off x="175" y="4469"/>
              <a:ext cx="14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TW" sz="1800" dirty="0"/>
                <a:t>At most </a:t>
              </a:r>
              <a:r>
                <a:rPr lang="en-US" altLang="zh-TW" sz="1800" dirty="0">
                  <a:solidFill>
                    <a:srgbClr val="0000FF"/>
                  </a:solidFill>
                </a:rPr>
                <a:t>log </a:t>
              </a:r>
              <a:r>
                <a:rPr lang="en-US" altLang="zh-TW" sz="1800" dirty="0">
                  <a:solidFill>
                    <a:srgbClr val="0000FF"/>
                  </a:solidFill>
                  <a:latin typeface="cmmi10" pitchFamily="34" charset="0"/>
                </a:rPr>
                <a:t>n</a:t>
              </a:r>
              <a:r>
                <a:rPr lang="en-US" altLang="zh-TW" sz="1800" dirty="0"/>
                <a:t> levels</a:t>
              </a:r>
            </a:p>
          </p:txBody>
        </p:sp>
        <p:sp>
          <p:nvSpPr>
            <p:cNvPr id="98" name="Line 124"/>
            <p:cNvSpPr>
              <a:spLocks noChangeShapeType="1"/>
            </p:cNvSpPr>
            <p:nvPr/>
          </p:nvSpPr>
          <p:spPr bwMode="auto">
            <a:xfrm>
              <a:off x="1575" y="4584"/>
              <a:ext cx="1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99" name="Line 125"/>
            <p:cNvSpPr>
              <a:spLocks noChangeShapeType="1"/>
            </p:cNvSpPr>
            <p:nvPr/>
          </p:nvSpPr>
          <p:spPr bwMode="auto">
            <a:xfrm flipH="1">
              <a:off x="0" y="4584"/>
              <a:ext cx="1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32745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8" grpId="0" animBg="1"/>
      <p:bldP spid="19" grpId="0" animBg="1"/>
      <p:bldP spid="20" grpId="0" animBg="1"/>
      <p:bldP spid="42" grpId="0" animBg="1"/>
      <p:bldP spid="43" grpId="0" animBg="1"/>
      <p:bldP spid="4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Quickselect</a:t>
            </a:r>
            <a:r>
              <a:rPr lang="en-US" dirty="0"/>
              <a:t> Complexity (Optional)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525963"/>
          </a:xfrm>
        </p:spPr>
        <p:txBody>
          <a:bodyPr>
            <a:normAutofit fontScale="92500"/>
          </a:bodyPr>
          <a:lstStyle/>
          <a:p>
            <a:r>
              <a:rPr lang="en-US" altLang="zh-TW" sz="2800" dirty="0"/>
              <a:t>Intuitively, it is n + n/2 + n/4 + … + 1 = 2n-1 = O(n)</a:t>
            </a:r>
          </a:p>
          <a:p>
            <a:r>
              <a:rPr lang="en-US" altLang="zh-TW" sz="2800" dirty="0"/>
              <a:t>Strictly, </a:t>
            </a:r>
            <a:r>
              <a:rPr lang="en-US" altLang="zh-TW" sz="2800" i="1" dirty="0">
                <a:solidFill>
                  <a:srgbClr val="FF0000"/>
                </a:solidFill>
              </a:rPr>
              <a:t>average case</a:t>
            </a:r>
            <a:r>
              <a:rPr lang="en-US" altLang="zh-TW" sz="2800" dirty="0"/>
              <a:t> time complexity T(n) = O(n) + T(n/2)</a:t>
            </a:r>
          </a:p>
          <a:p>
            <a:pPr lvl="1"/>
            <a:r>
              <a:rPr lang="en-US" altLang="zh-TW" sz="2400" dirty="0"/>
              <a:t>T(n) ≤ c × n + T(n/2)</a:t>
            </a:r>
          </a:p>
          <a:p>
            <a:pPr lvl="1"/>
            <a:r>
              <a:rPr lang="en-US" altLang="zh-TW" sz="2400" dirty="0"/>
              <a:t>T(n/2) ≤ c × n/2 + T(n/4)</a:t>
            </a:r>
          </a:p>
          <a:p>
            <a:pPr lvl="1"/>
            <a:r>
              <a:rPr lang="en-US" altLang="zh-TW" sz="2400" dirty="0"/>
              <a:t>T(n/4) ≤ c × n/4 + T(n/8)</a:t>
            </a:r>
          </a:p>
          <a:p>
            <a:pPr lvl="1"/>
            <a:r>
              <a:rPr lang="en-US" altLang="zh-TW" sz="2400" dirty="0"/>
              <a:t>……</a:t>
            </a:r>
          </a:p>
          <a:p>
            <a:pPr lvl="1"/>
            <a:r>
              <a:rPr lang="en-US" altLang="zh-TW" sz="2400" dirty="0"/>
              <a:t>T(2) ≤ c × 1 + T(1)</a:t>
            </a:r>
          </a:p>
          <a:p>
            <a:pPr lvl="1"/>
            <a:r>
              <a:rPr lang="en-US" altLang="zh-TW" sz="2400" dirty="0"/>
              <a:t>T(1) = c’</a:t>
            </a:r>
          </a:p>
          <a:p>
            <a:pPr lvl="1"/>
            <a:r>
              <a:rPr lang="en-US" altLang="zh-TW" sz="2400" dirty="0"/>
              <a:t>So, T(n) ≤ c × (n + n/2 + n/4 + … + 1) + c’ = c × (2n-1) + c’</a:t>
            </a:r>
          </a:p>
          <a:p>
            <a:r>
              <a:rPr lang="en-US" sz="2800" dirty="0"/>
              <a:t>T(n) = </a:t>
            </a:r>
            <a:r>
              <a:rPr lang="en-US" sz="2800" dirty="0">
                <a:solidFill>
                  <a:srgbClr val="0000FF"/>
                </a:solidFill>
              </a:rPr>
              <a:t>O(n)</a:t>
            </a:r>
            <a:r>
              <a:rPr lang="en-US" sz="2800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41858433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Sort</a:t>
            </a:r>
          </a:p>
          <a:p>
            <a:pPr lvl="1"/>
            <a:r>
              <a:rPr lang="en-US" dirty="0"/>
              <a:t>bubble sort: </a:t>
            </a:r>
            <a:r>
              <a:rPr kumimoji="1" lang="en-US" altLang="zh-TW" kern="0" dirty="0">
                <a:solidFill>
                  <a:srgbClr val="0000FF"/>
                </a:solidFill>
              </a:rPr>
              <a:t>O(n</a:t>
            </a:r>
            <a:r>
              <a:rPr kumimoji="1" lang="en-US" altLang="zh-TW" kern="0" baseline="30000" dirty="0">
                <a:solidFill>
                  <a:srgbClr val="0000FF"/>
                </a:solidFill>
              </a:rPr>
              <a:t>2</a:t>
            </a:r>
            <a:r>
              <a:rPr kumimoji="1" lang="en-US" altLang="zh-TW" kern="0" dirty="0">
                <a:solidFill>
                  <a:srgbClr val="0000FF"/>
                </a:solidFill>
              </a:rPr>
              <a:t>)</a:t>
            </a:r>
            <a:endParaRPr lang="en-US" altLang="zh-TW" dirty="0"/>
          </a:p>
          <a:p>
            <a:pPr lvl="1"/>
            <a:r>
              <a:rPr kumimoji="1" lang="en-US" altLang="zh-TW" kern="0" dirty="0"/>
              <a:t>selection sort: </a:t>
            </a:r>
            <a:r>
              <a:rPr kumimoji="1" lang="en-US" altLang="zh-TW" kern="0" dirty="0">
                <a:solidFill>
                  <a:srgbClr val="0000FF"/>
                </a:solidFill>
              </a:rPr>
              <a:t>O(n</a:t>
            </a:r>
            <a:r>
              <a:rPr kumimoji="1" lang="en-US" altLang="zh-TW" kern="0" baseline="30000" dirty="0">
                <a:solidFill>
                  <a:srgbClr val="0000FF"/>
                </a:solidFill>
              </a:rPr>
              <a:t>2</a:t>
            </a:r>
            <a:r>
              <a:rPr kumimoji="1" lang="en-US" altLang="zh-TW" kern="0" dirty="0">
                <a:solidFill>
                  <a:srgbClr val="0000FF"/>
                </a:solidFill>
              </a:rPr>
              <a:t>)</a:t>
            </a:r>
            <a:endParaRPr lang="en-US" altLang="zh-TW" dirty="0"/>
          </a:p>
          <a:p>
            <a:pPr lvl="1"/>
            <a:r>
              <a:rPr kumimoji="1" lang="en-US" altLang="zh-TW" kern="0" dirty="0"/>
              <a:t>merge sort: </a:t>
            </a:r>
            <a:r>
              <a:rPr kumimoji="1" lang="en-US" altLang="zh-TW" kern="0" dirty="0">
                <a:solidFill>
                  <a:srgbClr val="0000FF"/>
                </a:solidFill>
              </a:rPr>
              <a:t>O(</a:t>
            </a:r>
            <a:r>
              <a:rPr kumimoji="1" lang="en-US" altLang="zh-TW" kern="0" dirty="0" err="1">
                <a:solidFill>
                  <a:srgbClr val="0000FF"/>
                </a:solidFill>
              </a:rPr>
              <a:t>nlogn</a:t>
            </a:r>
            <a:r>
              <a:rPr kumimoji="1" lang="en-US" altLang="zh-TW" kern="0" dirty="0">
                <a:solidFill>
                  <a:srgbClr val="0000FF"/>
                </a:solidFill>
              </a:rPr>
              <a:t>)</a:t>
            </a:r>
            <a:endParaRPr lang="en-US" altLang="zh-TW" dirty="0"/>
          </a:p>
          <a:p>
            <a:pPr lvl="1"/>
            <a:r>
              <a:rPr kumimoji="1" lang="en-US" altLang="zh-TW" kern="0" dirty="0"/>
              <a:t>quicksort: </a:t>
            </a:r>
            <a:r>
              <a:rPr kumimoji="1" lang="en-US" altLang="zh-TW" kern="0" dirty="0">
                <a:solidFill>
                  <a:srgbClr val="0000FF"/>
                </a:solidFill>
              </a:rPr>
              <a:t>O(</a:t>
            </a:r>
            <a:r>
              <a:rPr kumimoji="1" lang="en-US" altLang="zh-TW" kern="0" dirty="0" err="1">
                <a:solidFill>
                  <a:srgbClr val="0000FF"/>
                </a:solidFill>
              </a:rPr>
              <a:t>nlogn</a:t>
            </a:r>
            <a:r>
              <a:rPr kumimoji="1" lang="en-US" altLang="zh-TW" kern="0" dirty="0">
                <a:solidFill>
                  <a:srgbClr val="0000FF"/>
                </a:solidFill>
              </a:rPr>
              <a:t>) </a:t>
            </a:r>
            <a:r>
              <a:rPr kumimoji="1" lang="en-US" altLang="zh-TW" kern="0" dirty="0"/>
              <a:t>(average), </a:t>
            </a:r>
            <a:r>
              <a:rPr kumimoji="1" lang="en-US" altLang="zh-TW" kern="0" dirty="0">
                <a:solidFill>
                  <a:srgbClr val="0000FF"/>
                </a:solidFill>
              </a:rPr>
              <a:t>O(n</a:t>
            </a:r>
            <a:r>
              <a:rPr kumimoji="1" lang="en-US" altLang="zh-TW" kern="0" baseline="30000" dirty="0">
                <a:solidFill>
                  <a:srgbClr val="0000FF"/>
                </a:solidFill>
              </a:rPr>
              <a:t>2</a:t>
            </a:r>
            <a:r>
              <a:rPr kumimoji="1" lang="en-US" altLang="zh-TW" kern="0" dirty="0">
                <a:solidFill>
                  <a:srgbClr val="0000FF"/>
                </a:solidFill>
              </a:rPr>
              <a:t>) </a:t>
            </a:r>
            <a:r>
              <a:rPr kumimoji="1" lang="en-US" altLang="zh-TW" kern="0" dirty="0"/>
              <a:t>(worst)</a:t>
            </a:r>
            <a:endParaRPr lang="en-US" dirty="0"/>
          </a:p>
          <a:p>
            <a:r>
              <a:rPr lang="en-US" dirty="0"/>
              <a:t>Selection</a:t>
            </a:r>
          </a:p>
          <a:p>
            <a:pPr lvl="1"/>
            <a:r>
              <a:rPr lang="en-US" dirty="0"/>
              <a:t>partial selection sort: </a:t>
            </a:r>
            <a:r>
              <a:rPr kumimoji="1" lang="en-US" altLang="zh-TW" kern="0" dirty="0">
                <a:solidFill>
                  <a:srgbClr val="0000FF"/>
                </a:solidFill>
              </a:rPr>
              <a:t>O(</a:t>
            </a:r>
            <a:r>
              <a:rPr kumimoji="1" lang="en-US" altLang="zh-TW" kern="0" dirty="0" err="1">
                <a:solidFill>
                  <a:srgbClr val="0000FF"/>
                </a:solidFill>
              </a:rPr>
              <a:t>kn</a:t>
            </a:r>
            <a:r>
              <a:rPr kumimoji="1" lang="en-US" altLang="zh-TW" kern="0" dirty="0">
                <a:solidFill>
                  <a:srgbClr val="0000FF"/>
                </a:solidFill>
              </a:rPr>
              <a:t>)</a:t>
            </a:r>
            <a:endParaRPr lang="en-US" altLang="zh-TW" dirty="0"/>
          </a:p>
          <a:p>
            <a:pPr lvl="1"/>
            <a:r>
              <a:rPr kumimoji="1" lang="en-US" altLang="zh-TW" kern="0" dirty="0"/>
              <a:t>merge sort and look up: </a:t>
            </a:r>
            <a:r>
              <a:rPr kumimoji="1" lang="en-US" altLang="zh-TW" kern="0" dirty="0">
                <a:solidFill>
                  <a:srgbClr val="0000FF"/>
                </a:solidFill>
              </a:rPr>
              <a:t>O(</a:t>
            </a:r>
            <a:r>
              <a:rPr kumimoji="1" lang="en-US" altLang="zh-TW" kern="0" dirty="0" err="1">
                <a:solidFill>
                  <a:srgbClr val="0000FF"/>
                </a:solidFill>
              </a:rPr>
              <a:t>nlogn</a:t>
            </a:r>
            <a:r>
              <a:rPr kumimoji="1" lang="en-US" altLang="zh-TW" kern="0" dirty="0">
                <a:solidFill>
                  <a:srgbClr val="0000FF"/>
                </a:solidFill>
              </a:rPr>
              <a:t>)</a:t>
            </a:r>
            <a:endParaRPr lang="en-US" altLang="zh-TW" dirty="0"/>
          </a:p>
          <a:p>
            <a:pPr lvl="1"/>
            <a:r>
              <a:rPr kumimoji="1" lang="en-US" altLang="zh-TW" kern="0" dirty="0" err="1"/>
              <a:t>quickselect</a:t>
            </a:r>
            <a:r>
              <a:rPr kumimoji="1" lang="en-US" altLang="zh-TW" kern="0" dirty="0"/>
              <a:t>: </a:t>
            </a:r>
            <a:r>
              <a:rPr kumimoji="1" lang="en-US" altLang="zh-TW" kern="0" dirty="0">
                <a:solidFill>
                  <a:srgbClr val="0000FF"/>
                </a:solidFill>
              </a:rPr>
              <a:t>O(n) </a:t>
            </a:r>
            <a:r>
              <a:rPr kumimoji="1" lang="en-US" altLang="zh-TW" kern="0" dirty="0"/>
              <a:t>(average), </a:t>
            </a:r>
            <a:r>
              <a:rPr kumimoji="1" lang="en-US" altLang="zh-TW" kern="0" dirty="0">
                <a:solidFill>
                  <a:srgbClr val="0000FF"/>
                </a:solidFill>
              </a:rPr>
              <a:t>O(n</a:t>
            </a:r>
            <a:r>
              <a:rPr kumimoji="1" lang="en-US" altLang="zh-TW" kern="0" baseline="30000" dirty="0">
                <a:solidFill>
                  <a:srgbClr val="0000FF"/>
                </a:solidFill>
              </a:rPr>
              <a:t>2</a:t>
            </a:r>
            <a:r>
              <a:rPr kumimoji="1" lang="en-US" altLang="zh-TW" kern="0" dirty="0">
                <a:solidFill>
                  <a:srgbClr val="0000FF"/>
                </a:solidFill>
              </a:rPr>
              <a:t>) </a:t>
            </a:r>
            <a:r>
              <a:rPr kumimoji="1" lang="en-US" altLang="zh-TW" kern="0" dirty="0"/>
              <a:t>(worst)</a:t>
            </a:r>
          </a:p>
          <a:p>
            <a:pPr lvl="1"/>
            <a:endParaRPr kumimoji="1" lang="en-US" altLang="zh-TW" kern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6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9788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867CB-320E-3E0C-09A6-99A003700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7404A-6F56-AFA6-72B5-9A69209F2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404664"/>
            <a:ext cx="8795320" cy="1143000"/>
          </a:xfrm>
        </p:spPr>
        <p:txBody>
          <a:bodyPr>
            <a:normAutofit fontScale="90000"/>
          </a:bodyPr>
          <a:lstStyle/>
          <a:p>
            <a:r>
              <a:rPr lang="en-US" altLang="zh-CN" b="1" dirty="0"/>
              <a:t>Help Us Shape Your Learning Experience!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91AB5D-A21F-5638-A442-6ED726FA8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CSCI2520 Tutorial 1</a:t>
            </a:r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8B29E88-F925-9C06-2ED1-905910AA696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7900" y="1700808"/>
            <a:ext cx="2648199" cy="264819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80A8B376-3E49-5493-C465-1281170849D4}"/>
              </a:ext>
            </a:extLst>
          </p:cNvPr>
          <p:cNvSpPr txBox="1"/>
          <p:nvPr/>
        </p:nvSpPr>
        <p:spPr>
          <a:xfrm>
            <a:off x="2258226" y="4500062"/>
            <a:ext cx="462754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+mj-lt"/>
                <a:hlinkClick r:id="rId3"/>
              </a:rPr>
              <a:t>https://docs.google.com/forms/d/e/1FAIpQLSeQae3jZ9up030JrhCl7LyjZAr3PGCvO0NQo0zzIhaL0jOeOg/viewform?usp=header</a:t>
            </a:r>
            <a:endParaRPr lang="zh-CN" alt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08677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1372</TotalTime>
  <Words>1887</Words>
  <Application>Microsoft Office PowerPoint</Application>
  <PresentationFormat>全屏显示(4:3)</PresentationFormat>
  <Paragraphs>334</Paragraphs>
  <Slides>26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3" baseType="lpstr">
      <vt:lpstr>Arial</vt:lpstr>
      <vt:lpstr>Calibri</vt:lpstr>
      <vt:lpstr>cmmi10</vt:lpstr>
      <vt:lpstr>Consolas</vt:lpstr>
      <vt:lpstr>Courier New</vt:lpstr>
      <vt:lpstr>Symbol</vt:lpstr>
      <vt:lpstr>Office 主题</vt:lpstr>
      <vt:lpstr>CSCI2520 Tutorial 6 Selection Problem</vt:lpstr>
      <vt:lpstr>PowerPoint 演示文稿</vt:lpstr>
      <vt:lpstr>Outline</vt:lpstr>
      <vt:lpstr>Selection Problem</vt:lpstr>
      <vt:lpstr>Selection Problem</vt:lpstr>
      <vt:lpstr>Selection Problem</vt:lpstr>
      <vt:lpstr>Two Naive Approaches</vt:lpstr>
      <vt:lpstr>Two Naive Approaches</vt:lpstr>
      <vt:lpstr>Exercise 1</vt:lpstr>
      <vt:lpstr>Exercise 1 Solution</vt:lpstr>
      <vt:lpstr>This is very similar to …</vt:lpstr>
      <vt:lpstr>Two Naive Approaches</vt:lpstr>
      <vt:lpstr>Two Naive Approaches</vt:lpstr>
      <vt:lpstr>Two Naive Approaches</vt:lpstr>
      <vt:lpstr>Quickselect</vt:lpstr>
      <vt:lpstr>The Quicksort Algorithm</vt:lpstr>
      <vt:lpstr>The Quickselect Algorithm</vt:lpstr>
      <vt:lpstr>Quicksort: Example Run</vt:lpstr>
      <vt:lpstr>Quickselect: Example Run</vt:lpstr>
      <vt:lpstr>Exercise 2</vt:lpstr>
      <vt:lpstr>Exercise 2 Solution</vt:lpstr>
      <vt:lpstr>Quickselect Complexity (Optional)</vt:lpstr>
      <vt:lpstr>Quickselect Complexity (Optional)</vt:lpstr>
      <vt:lpstr>Quickselect Complexity (Optional)</vt:lpstr>
      <vt:lpstr>Summary</vt:lpstr>
      <vt:lpstr>Help Us Shape Your Learning Experience!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CSCI2520 Tutorial 1 (Week 2): C Programming Review</dc:title>
  <dc:creator>gjchen</dc:creator>
  <cp:lastModifiedBy>PAN, Zhenyu</cp:lastModifiedBy>
  <cp:revision>117</cp:revision>
  <dcterms:created xsi:type="dcterms:W3CDTF">2016-01-18T13:38:47Z</dcterms:created>
  <dcterms:modified xsi:type="dcterms:W3CDTF">2026-03-09T18:05:01Z</dcterms:modified>
</cp:coreProperties>
</file>