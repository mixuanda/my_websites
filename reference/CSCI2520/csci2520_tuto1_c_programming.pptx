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7"/>
  </p:notesMasterIdLst>
  <p:sldIdLst>
    <p:sldId id="278" r:id="rId2"/>
    <p:sldId id="279" r:id="rId3"/>
    <p:sldId id="283" r:id="rId4"/>
    <p:sldId id="284" r:id="rId5"/>
    <p:sldId id="280" r:id="rId6"/>
    <p:sldId id="259" r:id="rId7"/>
    <p:sldId id="260" r:id="rId8"/>
    <p:sldId id="261" r:id="rId9"/>
    <p:sldId id="262" r:id="rId10"/>
    <p:sldId id="265" r:id="rId11"/>
    <p:sldId id="263" r:id="rId12"/>
    <p:sldId id="264" r:id="rId13"/>
    <p:sldId id="266" r:id="rId14"/>
    <p:sldId id="267" r:id="rId15"/>
    <p:sldId id="268" r:id="rId16"/>
    <p:sldId id="269" r:id="rId17"/>
    <p:sldId id="282" r:id="rId18"/>
    <p:sldId id="270" r:id="rId19"/>
    <p:sldId id="271" r:id="rId20"/>
    <p:sldId id="272" r:id="rId21"/>
    <p:sldId id="273" r:id="rId22"/>
    <p:sldId id="274" r:id="rId23"/>
    <p:sldId id="275" r:id="rId24"/>
    <p:sldId id="277" r:id="rId25"/>
    <p:sldId id="281" r:id="rId2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56B5E4-1F61-0943-AC2A-4932AA29D9A3}" v="3" dt="2025-01-23T09:00:03.9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74845" autoAdjust="0"/>
  </p:normalViewPr>
  <p:slideViewPr>
    <p:cSldViewPr>
      <p:cViewPr varScale="1">
        <p:scale>
          <a:sx n="71" d="100"/>
          <a:sy n="71" d="100"/>
        </p:scale>
        <p:origin x="1988"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 Hui" userId="2acf357a-d887-4e08-95d2-f44b1823070d" providerId="ADAL" clId="{0256B5E4-1F61-0943-AC2A-4932AA29D9A3}"/>
    <pc:docChg chg="undo custSel modSld">
      <pc:chgData name="LI, Hui" userId="2acf357a-d887-4e08-95d2-f44b1823070d" providerId="ADAL" clId="{0256B5E4-1F61-0943-AC2A-4932AA29D9A3}" dt="2025-01-23T09:25:36.648" v="37" actId="20577"/>
      <pc:docMkLst>
        <pc:docMk/>
      </pc:docMkLst>
      <pc:sldChg chg="modSp mod">
        <pc:chgData name="LI, Hui" userId="2acf357a-d887-4e08-95d2-f44b1823070d" providerId="ADAL" clId="{0256B5E4-1F61-0943-AC2A-4932AA29D9A3}" dt="2025-01-22T08:41:27.790" v="17" actId="20577"/>
        <pc:sldMkLst>
          <pc:docMk/>
          <pc:sldMk cId="1641712111" sldId="278"/>
        </pc:sldMkLst>
        <pc:spChg chg="mod">
          <ac:chgData name="LI, Hui" userId="2acf357a-d887-4e08-95d2-f44b1823070d" providerId="ADAL" clId="{0256B5E4-1F61-0943-AC2A-4932AA29D9A3}" dt="2025-01-22T08:41:27.790" v="17" actId="20577"/>
          <ac:spMkLst>
            <pc:docMk/>
            <pc:sldMk cId="1641712111" sldId="278"/>
            <ac:spMk id="3" creationId="{00000000-0000-0000-0000-000000000000}"/>
          </ac:spMkLst>
        </pc:spChg>
      </pc:sldChg>
      <pc:sldChg chg="modSp mod">
        <pc:chgData name="LI, Hui" userId="2acf357a-d887-4e08-95d2-f44b1823070d" providerId="ADAL" clId="{0256B5E4-1F61-0943-AC2A-4932AA29D9A3}" dt="2025-01-22T08:41:56.427" v="28" actId="20577"/>
        <pc:sldMkLst>
          <pc:docMk/>
          <pc:sldMk cId="3657570036" sldId="279"/>
        </pc:sldMkLst>
        <pc:spChg chg="mod">
          <ac:chgData name="LI, Hui" userId="2acf357a-d887-4e08-95d2-f44b1823070d" providerId="ADAL" clId="{0256B5E4-1F61-0943-AC2A-4932AA29D9A3}" dt="2025-01-22T08:41:56.427" v="28" actId="20577"/>
          <ac:spMkLst>
            <pc:docMk/>
            <pc:sldMk cId="3657570036" sldId="279"/>
            <ac:spMk id="3" creationId="{00000000-0000-0000-0000-000000000000}"/>
          </ac:spMkLst>
        </pc:spChg>
      </pc:sldChg>
      <pc:sldChg chg="modSp mod">
        <pc:chgData name="LI, Hui" userId="2acf357a-d887-4e08-95d2-f44b1823070d" providerId="ADAL" clId="{0256B5E4-1F61-0943-AC2A-4932AA29D9A3}" dt="2025-01-23T09:25:36.648" v="37" actId="20577"/>
        <pc:sldMkLst>
          <pc:docMk/>
          <pc:sldMk cId="4292325281" sldId="280"/>
        </pc:sldMkLst>
        <pc:spChg chg="mod">
          <ac:chgData name="LI, Hui" userId="2acf357a-d887-4e08-95d2-f44b1823070d" providerId="ADAL" clId="{0256B5E4-1F61-0943-AC2A-4932AA29D9A3}" dt="2025-01-23T09:25:36.648" v="37" actId="20577"/>
          <ac:spMkLst>
            <pc:docMk/>
            <pc:sldMk cId="4292325281" sldId="280"/>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624543-D117-4FAE-B2D8-BA38168DA83B}" type="datetimeFigureOut">
              <a:rPr lang="en-US" smtClean="0"/>
              <a:t>1/13/2026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8D16CBC-8DC5-4156-9E82-CF8406BBCF0B}" type="slidenum">
              <a:rPr lang="en-US" smtClean="0"/>
              <a:t>‹#›</a:t>
            </a:fld>
            <a:endParaRPr lang="en-US"/>
          </a:p>
        </p:txBody>
      </p:sp>
    </p:spTree>
    <p:extLst>
      <p:ext uri="{BB962C8B-B14F-4D97-AF65-F5344CB8AC3E}">
        <p14:creationId xmlns:p14="http://schemas.microsoft.com/office/powerpoint/2010/main" val="1144644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&amp;:</a:t>
            </a:r>
            <a:r>
              <a:rPr lang="zh-CN" altLang="en-US" dirty="0"/>
              <a:t> </a:t>
            </a:r>
            <a:r>
              <a:rPr lang="sv-SE" altLang="zh-CN" dirty="0"/>
              <a:t>ampersand</a:t>
            </a:r>
            <a:endParaRPr lang="en-US" altLang="zh-CN" dirty="0"/>
          </a:p>
          <a:p>
            <a:r>
              <a:rPr lang="en-US" altLang="zh-CN" dirty="0"/>
              <a:t>*: asterisk</a:t>
            </a:r>
          </a:p>
          <a:p>
            <a:endParaRPr lang="zh-CN" altLang="en-US" dirty="0"/>
          </a:p>
        </p:txBody>
      </p:sp>
      <p:sp>
        <p:nvSpPr>
          <p:cNvPr id="4" name="灯片编号占位符 3"/>
          <p:cNvSpPr>
            <a:spLocks noGrp="1"/>
          </p:cNvSpPr>
          <p:nvPr>
            <p:ph type="sldNum" sz="quarter" idx="5"/>
          </p:nvPr>
        </p:nvSpPr>
        <p:spPr/>
        <p:txBody>
          <a:bodyPr/>
          <a:lstStyle/>
          <a:p>
            <a:fld id="{08D16CBC-8DC5-4156-9E82-CF8406BBCF0B}" type="slidenum">
              <a:rPr lang="en-US" smtClean="0"/>
              <a:t>9</a:t>
            </a:fld>
            <a:endParaRPr lang="en-US"/>
          </a:p>
        </p:txBody>
      </p:sp>
    </p:spTree>
    <p:extLst>
      <p:ext uri="{BB962C8B-B14F-4D97-AF65-F5344CB8AC3E}">
        <p14:creationId xmlns:p14="http://schemas.microsoft.com/office/powerpoint/2010/main" val="3250276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8D16CBC-8DC5-4156-9E82-CF8406BBCF0B}" type="slidenum">
              <a:rPr lang="en-US" smtClean="0"/>
              <a:t>13</a:t>
            </a:fld>
            <a:endParaRPr lang="en-US"/>
          </a:p>
        </p:txBody>
      </p:sp>
    </p:spTree>
    <p:extLst>
      <p:ext uri="{BB962C8B-B14F-4D97-AF65-F5344CB8AC3E}">
        <p14:creationId xmlns:p14="http://schemas.microsoft.com/office/powerpoint/2010/main" val="3986016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Dynamic allocation enables flexible data structures like linked lists and resizable buffers, but requires careful manual memory management to avoid leaks or dangling pointers. In short: </a:t>
            </a:r>
            <a:r>
              <a:rPr lang="en-US" altLang="zh-CN" sz="1200" b="1" i="0" kern="1200" dirty="0">
                <a:solidFill>
                  <a:schemeClr val="tx1"/>
                </a:solidFill>
                <a:effectLst/>
                <a:latin typeface="+mn-lt"/>
                <a:ea typeface="+mn-ea"/>
                <a:cs typeface="+mn-cs"/>
              </a:rPr>
              <a:t>use static allocation for small, fixed-size data; use dynamic allocation when you need flexibility, size, or longevity</a:t>
            </a:r>
            <a:r>
              <a:rPr lang="en-US" altLang="zh-CN" sz="1200" b="0" i="0" kern="1200" dirty="0">
                <a:solidFill>
                  <a:schemeClr val="tx1"/>
                </a:solidFill>
                <a:effectLst/>
                <a:latin typeface="+mn-lt"/>
                <a:ea typeface="+mn-ea"/>
                <a:cs typeface="+mn-cs"/>
              </a:rPr>
              <a:t>.</a:t>
            </a:r>
          </a:p>
          <a:p>
            <a:endParaRPr lang="en-US" altLang="zh-CN" sz="1200" b="0" i="0" kern="1200" dirty="0">
              <a:solidFill>
                <a:schemeClr val="tx1"/>
              </a:solidFill>
              <a:effectLst/>
              <a:latin typeface="+mn-lt"/>
              <a:ea typeface="+mn-ea"/>
              <a:cs typeface="+mn-cs"/>
            </a:endParaRPr>
          </a:p>
          <a:p>
            <a:r>
              <a:rPr lang="en-US" altLang="zh-CN" dirty="0"/>
              <a:t>int n;</a:t>
            </a:r>
          </a:p>
          <a:p>
            <a:r>
              <a:rPr lang="en-US" altLang="zh-CN" dirty="0" err="1"/>
              <a:t>scanf</a:t>
            </a:r>
            <a:r>
              <a:rPr lang="en-US" altLang="zh-CN" dirty="0"/>
              <a:t>("%d", &amp;n);</a:t>
            </a:r>
          </a:p>
          <a:p>
            <a:r>
              <a:rPr lang="en-US" altLang="zh-CN" dirty="0"/>
              <a:t>int *data = (int*) malloc(n * </a:t>
            </a:r>
            <a:r>
              <a:rPr lang="en-US" altLang="zh-CN" dirty="0" err="1"/>
              <a:t>sizeof</a:t>
            </a:r>
            <a:r>
              <a:rPr lang="en-US" altLang="zh-CN" dirty="0"/>
              <a:t>(int));  // allocate space for n integers</a:t>
            </a:r>
          </a:p>
          <a:p>
            <a:r>
              <a:rPr lang="en-US" altLang="zh-CN" dirty="0"/>
              <a:t>// ... use data ...</a:t>
            </a:r>
          </a:p>
          <a:p>
            <a:r>
              <a:rPr lang="en-US" altLang="zh-CN" dirty="0"/>
              <a:t>free(data);  // must manually free to avoid memory leaks</a:t>
            </a:r>
          </a:p>
          <a:p>
            <a:endParaRPr lang="en-US" altLang="zh-CN" dirty="0"/>
          </a:p>
          <a:p>
            <a:r>
              <a:rPr lang="en-US" altLang="zh-CN" sz="1200" b="1" i="0" kern="1200" dirty="0">
                <a:solidFill>
                  <a:schemeClr val="tx1"/>
                </a:solidFill>
                <a:effectLst/>
                <a:latin typeface="+mn-lt"/>
                <a:ea typeface="+mn-ea"/>
                <a:cs typeface="+mn-cs"/>
              </a:rPr>
              <a:t>In Python, you don’t need to worry about static vs dynamic allocation, stack vs heap, or manual memory management like in C. The language handles it all automatically through garbage collection and high-level data structures—so you can focus on solving problems, not managing memory</a:t>
            </a:r>
            <a:endParaRPr lang="zh-CN" altLang="en-US" dirty="0"/>
          </a:p>
        </p:txBody>
      </p:sp>
      <p:sp>
        <p:nvSpPr>
          <p:cNvPr id="4" name="灯片编号占位符 3"/>
          <p:cNvSpPr>
            <a:spLocks noGrp="1"/>
          </p:cNvSpPr>
          <p:nvPr>
            <p:ph type="sldNum" sz="quarter" idx="5"/>
          </p:nvPr>
        </p:nvSpPr>
        <p:spPr/>
        <p:txBody>
          <a:bodyPr/>
          <a:lstStyle/>
          <a:p>
            <a:fld id="{08D16CBC-8DC5-4156-9E82-CF8406BBCF0B}" type="slidenum">
              <a:rPr lang="en-US" smtClean="0"/>
              <a:t>14</a:t>
            </a:fld>
            <a:endParaRPr lang="en-US"/>
          </a:p>
        </p:txBody>
      </p:sp>
    </p:spTree>
    <p:extLst>
      <p:ext uri="{BB962C8B-B14F-4D97-AF65-F5344CB8AC3E}">
        <p14:creationId xmlns:p14="http://schemas.microsoft.com/office/powerpoint/2010/main" val="523921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8D16CBC-8DC5-4156-9E82-CF8406BBCF0B}" type="slidenum">
              <a:rPr lang="en-US" smtClean="0"/>
              <a:t>16</a:t>
            </a:fld>
            <a:endParaRPr lang="en-US"/>
          </a:p>
        </p:txBody>
      </p:sp>
    </p:spTree>
    <p:extLst>
      <p:ext uri="{BB962C8B-B14F-4D97-AF65-F5344CB8AC3E}">
        <p14:creationId xmlns:p14="http://schemas.microsoft.com/office/powerpoint/2010/main" val="7384953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45CC3-65E7-6379-D4BA-07A85FE6304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EF20F64-88A7-DEDD-960C-2A05614E0CB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DD70123-C573-1397-988D-CDD6E62BA81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73583EC-1E91-FFB0-4E14-C926987F1444}"/>
              </a:ext>
            </a:extLst>
          </p:cNvPr>
          <p:cNvSpPr>
            <a:spLocks noGrp="1"/>
          </p:cNvSpPr>
          <p:nvPr>
            <p:ph type="sldNum" sz="quarter" idx="5"/>
          </p:nvPr>
        </p:nvSpPr>
        <p:spPr/>
        <p:txBody>
          <a:bodyPr/>
          <a:lstStyle/>
          <a:p>
            <a:fld id="{08D16CBC-8DC5-4156-9E82-CF8406BBCF0B}" type="slidenum">
              <a:rPr lang="en-US" smtClean="0"/>
              <a:t>17</a:t>
            </a:fld>
            <a:endParaRPr lang="en-US"/>
          </a:p>
        </p:txBody>
      </p:sp>
    </p:spTree>
    <p:extLst>
      <p:ext uri="{BB962C8B-B14F-4D97-AF65-F5344CB8AC3E}">
        <p14:creationId xmlns:p14="http://schemas.microsoft.com/office/powerpoint/2010/main" val="1573629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8D16CBC-8DC5-4156-9E82-CF8406BBCF0B}" type="slidenum">
              <a:rPr lang="en-US" smtClean="0"/>
              <a:t>19</a:t>
            </a:fld>
            <a:endParaRPr lang="en-US"/>
          </a:p>
        </p:txBody>
      </p:sp>
    </p:spTree>
    <p:extLst>
      <p:ext uri="{BB962C8B-B14F-4D97-AF65-F5344CB8AC3E}">
        <p14:creationId xmlns:p14="http://schemas.microsoft.com/office/powerpoint/2010/main" val="1702402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649CCE2-26C4-4F87-8C30-D38CE8BEFAC4}" type="datetime1">
              <a:rPr lang="zh-CN" altLang="en-US" smtClean="0"/>
              <a:t>2026/1/13</a:t>
            </a:fld>
            <a:endParaRPr lang="zh-CN" altLang="en-US"/>
          </a:p>
        </p:txBody>
      </p:sp>
      <p:sp>
        <p:nvSpPr>
          <p:cNvPr id="5" name="页脚占位符 4"/>
          <p:cNvSpPr>
            <a:spLocks noGrp="1"/>
          </p:cNvSpPr>
          <p:nvPr>
            <p:ph type="ftr" sz="quarter" idx="11"/>
          </p:nvPr>
        </p:nvSpPr>
        <p:spPr/>
        <p:txBody>
          <a:bodyPr/>
          <a:lstStyle/>
          <a:p>
            <a:r>
              <a:rPr lang="en-US" altLang="zh-CN"/>
              <a:t>CSCI2520 Tutorial 1</a:t>
            </a:r>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161293-8A8C-4931-A736-F4DF98F491CB}" type="datetime1">
              <a:rPr lang="zh-CN" altLang="en-US" smtClean="0"/>
              <a:t>2026/1/13</a:t>
            </a:fld>
            <a:endParaRPr lang="zh-CN" altLang="en-US"/>
          </a:p>
        </p:txBody>
      </p:sp>
      <p:sp>
        <p:nvSpPr>
          <p:cNvPr id="5" name="页脚占位符 4"/>
          <p:cNvSpPr>
            <a:spLocks noGrp="1"/>
          </p:cNvSpPr>
          <p:nvPr>
            <p:ph type="ftr" sz="quarter" idx="11"/>
          </p:nvPr>
        </p:nvSpPr>
        <p:spPr/>
        <p:txBody>
          <a:bodyPr/>
          <a:lstStyle/>
          <a:p>
            <a:r>
              <a:rPr lang="en-US" altLang="zh-CN"/>
              <a:t>CSCI2520 Tutorial 1</a:t>
            </a:r>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CBEACA2-B07E-4C73-A9E1-71A5289562AC}" type="datetime1">
              <a:rPr lang="zh-CN" altLang="en-US" smtClean="0"/>
              <a:t>2026/1/13</a:t>
            </a:fld>
            <a:endParaRPr lang="zh-CN" altLang="en-US"/>
          </a:p>
        </p:txBody>
      </p:sp>
      <p:sp>
        <p:nvSpPr>
          <p:cNvPr id="5" name="页脚占位符 4"/>
          <p:cNvSpPr>
            <a:spLocks noGrp="1"/>
          </p:cNvSpPr>
          <p:nvPr>
            <p:ph type="ftr" sz="quarter" idx="11"/>
          </p:nvPr>
        </p:nvSpPr>
        <p:spPr/>
        <p:txBody>
          <a:bodyPr/>
          <a:lstStyle/>
          <a:p>
            <a:r>
              <a:rPr lang="en-US" altLang="zh-CN"/>
              <a:t>CSCI2520 Tutorial 1</a:t>
            </a:r>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032716DF-A646-4EED-8EF7-56B33A470BCC}" type="datetime1">
              <a:rPr lang="zh-CN" altLang="en-US" smtClean="0"/>
              <a:t>2026/1/13</a:t>
            </a:fld>
            <a:endParaRPr lang="zh-CN" altLang="en-US"/>
          </a:p>
        </p:txBody>
      </p:sp>
      <p:sp>
        <p:nvSpPr>
          <p:cNvPr id="6" name="页脚占位符 5"/>
          <p:cNvSpPr>
            <a:spLocks noGrp="1"/>
          </p:cNvSpPr>
          <p:nvPr>
            <p:ph type="ftr" sz="quarter" idx="11"/>
          </p:nvPr>
        </p:nvSpPr>
        <p:spPr/>
        <p:txBody>
          <a:bodyPr/>
          <a:lstStyle/>
          <a:p>
            <a:r>
              <a:rPr lang="en-US" altLang="zh-CN"/>
              <a:t>CSCI2520 Tutorial 1</a:t>
            </a:r>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32154B9-7D35-4172-871D-B9F85F9ABC72}" type="datetime1">
              <a:rPr lang="zh-CN" altLang="en-US" smtClean="0"/>
              <a:t>2026/1/13</a:t>
            </a:fld>
            <a:endParaRPr lang="zh-CN" altLang="en-US"/>
          </a:p>
        </p:txBody>
      </p:sp>
      <p:sp>
        <p:nvSpPr>
          <p:cNvPr id="8" name="页脚占位符 7"/>
          <p:cNvSpPr>
            <a:spLocks noGrp="1"/>
          </p:cNvSpPr>
          <p:nvPr>
            <p:ph type="ftr" sz="quarter" idx="11"/>
          </p:nvPr>
        </p:nvSpPr>
        <p:spPr/>
        <p:txBody>
          <a:bodyPr/>
          <a:lstStyle/>
          <a:p>
            <a:r>
              <a:rPr lang="en-US" altLang="zh-CN"/>
              <a:t>CSCI2520 Tutorial 1</a:t>
            </a:r>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B3940E8-7709-4DCD-9A81-AEDBDFBC2F72}" type="datetime1">
              <a:rPr lang="zh-CN" altLang="en-US" smtClean="0"/>
              <a:t>2026/1/13</a:t>
            </a:fld>
            <a:endParaRPr lang="zh-CN" altLang="en-US"/>
          </a:p>
        </p:txBody>
      </p:sp>
      <p:sp>
        <p:nvSpPr>
          <p:cNvPr id="4" name="页脚占位符 3"/>
          <p:cNvSpPr>
            <a:spLocks noGrp="1"/>
          </p:cNvSpPr>
          <p:nvPr>
            <p:ph type="ftr" sz="quarter" idx="11"/>
          </p:nvPr>
        </p:nvSpPr>
        <p:spPr/>
        <p:txBody>
          <a:bodyPr/>
          <a:lstStyle/>
          <a:p>
            <a:r>
              <a:rPr lang="en-US" altLang="zh-CN"/>
              <a:t>CSCI2520 Tutorial 1</a:t>
            </a:r>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5F980B0-79FF-4881-8511-A67B99BE2911}" type="datetime1">
              <a:rPr lang="zh-CN" altLang="en-US" smtClean="0"/>
              <a:t>2026/1/13</a:t>
            </a:fld>
            <a:endParaRPr lang="zh-CN" altLang="en-US"/>
          </a:p>
        </p:txBody>
      </p:sp>
      <p:sp>
        <p:nvSpPr>
          <p:cNvPr id="3" name="页脚占位符 2"/>
          <p:cNvSpPr>
            <a:spLocks noGrp="1"/>
          </p:cNvSpPr>
          <p:nvPr>
            <p:ph type="ftr" sz="quarter" idx="11"/>
          </p:nvPr>
        </p:nvSpPr>
        <p:spPr/>
        <p:txBody>
          <a:bodyPr/>
          <a:lstStyle/>
          <a:p>
            <a:r>
              <a:rPr lang="en-US" altLang="zh-CN"/>
              <a:t>CSCI2520 Tutorial 1</a:t>
            </a:r>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DF3F16C-1D19-4C0A-9D60-80A48B2F6277}" type="datetime1">
              <a:rPr lang="zh-CN" altLang="en-US" smtClean="0"/>
              <a:t>2026/1/13</a:t>
            </a:fld>
            <a:endParaRPr lang="zh-CN" altLang="en-US"/>
          </a:p>
        </p:txBody>
      </p:sp>
      <p:sp>
        <p:nvSpPr>
          <p:cNvPr id="6" name="页脚占位符 5"/>
          <p:cNvSpPr>
            <a:spLocks noGrp="1"/>
          </p:cNvSpPr>
          <p:nvPr>
            <p:ph type="ftr" sz="quarter" idx="11"/>
          </p:nvPr>
        </p:nvSpPr>
        <p:spPr/>
        <p:txBody>
          <a:bodyPr/>
          <a:lstStyle/>
          <a:p>
            <a:r>
              <a:rPr lang="en-US" altLang="zh-CN"/>
              <a:t>CSCI2520 Tutorial 1</a:t>
            </a:r>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629BD8E-D518-4ABC-8EDA-2C3A59CFC1AC}" type="datetime1">
              <a:rPr lang="zh-CN" altLang="en-US" smtClean="0"/>
              <a:t>2026/1/13</a:t>
            </a:fld>
            <a:endParaRPr lang="zh-CN" altLang="en-US"/>
          </a:p>
        </p:txBody>
      </p:sp>
      <p:sp>
        <p:nvSpPr>
          <p:cNvPr id="6" name="页脚占位符 5"/>
          <p:cNvSpPr>
            <a:spLocks noGrp="1"/>
          </p:cNvSpPr>
          <p:nvPr>
            <p:ph type="ftr" sz="quarter" idx="11"/>
          </p:nvPr>
        </p:nvSpPr>
        <p:spPr/>
        <p:txBody>
          <a:bodyPr/>
          <a:lstStyle/>
          <a:p>
            <a:r>
              <a:rPr lang="en-US" altLang="zh-CN"/>
              <a:t>CSCI2520 Tutorial 1</a:t>
            </a:r>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E287BE1-2969-498E-A909-26C95550C8E2}" type="datetime1">
              <a:rPr lang="zh-CN" altLang="en-US" smtClean="0"/>
              <a:t>2026/1/13</a:t>
            </a:fld>
            <a:endParaRPr lang="zh-CN" altLang="en-US"/>
          </a:p>
        </p:txBody>
      </p:sp>
      <p:sp>
        <p:nvSpPr>
          <p:cNvPr id="5" name="页脚占位符 4"/>
          <p:cNvSpPr>
            <a:spLocks noGrp="1"/>
          </p:cNvSpPr>
          <p:nvPr>
            <p:ph type="ftr" sz="quarter" idx="11"/>
          </p:nvPr>
        </p:nvSpPr>
        <p:spPr/>
        <p:txBody>
          <a:bodyPr/>
          <a:lstStyle/>
          <a:p>
            <a:r>
              <a:rPr lang="en-US" altLang="zh-CN"/>
              <a:t>CSCI2520 Tutorial 1</a:t>
            </a:r>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13ACDFE-31E2-47E7-BF81-7B0FCA7CB633}" type="datetime1">
              <a:rPr lang="zh-CN" altLang="en-US" smtClean="0"/>
              <a:t>2026/1/13</a:t>
            </a:fld>
            <a:endParaRPr lang="zh-CN" altLang="en-US"/>
          </a:p>
        </p:txBody>
      </p:sp>
      <p:sp>
        <p:nvSpPr>
          <p:cNvPr id="5" name="页脚占位符 4"/>
          <p:cNvSpPr>
            <a:spLocks noGrp="1"/>
          </p:cNvSpPr>
          <p:nvPr>
            <p:ph type="ftr" sz="quarter" idx="11"/>
          </p:nvPr>
        </p:nvSpPr>
        <p:spPr/>
        <p:txBody>
          <a:bodyPr/>
          <a:lstStyle/>
          <a:p>
            <a:r>
              <a:rPr lang="en-US" altLang="zh-CN"/>
              <a:t>CSCI2520 Tutorial 1</a:t>
            </a:r>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B41EA0-2F9D-467E-A046-A13D756F730F}" type="datetime1">
              <a:rPr lang="zh-CN" altLang="en-US" smtClean="0"/>
              <a:t>2026/1/13</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a:t>CSCI2520 Tutorial 1</a:t>
            </a: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zypan24@cse.cuhk.edu.h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mailto:zypan24@cse.cuhk.edu.hk"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x.com/karpathy/status/1617979122625712128"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en.wikipedia.org/wiki/Bruce_Eckel"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grok.com/" TargetMode="External"/><Relationship Id="rId7" Type="http://schemas.openxmlformats.org/officeDocument/2006/relationships/image" Target="../media/image2.png"/><Relationship Id="rId2" Type="http://schemas.openxmlformats.org/officeDocument/2006/relationships/hyperlink" Target="https://chat.qwen.ai/" TargetMode="External"/><Relationship Id="rId1" Type="http://schemas.openxmlformats.org/officeDocument/2006/relationships/slideLayout" Target="../slideLayouts/slideLayout2.xml"/><Relationship Id="rId6" Type="http://schemas.openxmlformats.org/officeDocument/2006/relationships/hyperlink" Target="https://chat.deepseek.com/" TargetMode="External"/><Relationship Id="rId11" Type="http://schemas.openxmlformats.org/officeDocument/2006/relationships/image" Target="../media/image6.png"/><Relationship Id="rId5" Type="http://schemas.openxmlformats.org/officeDocument/2006/relationships/hyperlink" Target="https://kimi.com/" TargetMode="External"/><Relationship Id="rId10" Type="http://schemas.openxmlformats.org/officeDocument/2006/relationships/image" Target="../media/image5.png"/><Relationship Id="rId4" Type="http://schemas.openxmlformats.org/officeDocument/2006/relationships/hyperlink" Target="https://chat.z.ai/" TargetMode="External"/><Relationship Id="rId9"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www.cplusplus.com/"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docs.google.com/forms/d/e/1FAIpQLSeQae3jZ9up030JrhCl7LyjZAr3PGCvO0NQo0zzIhaL0jOeOg/viewform?usp=header" TargetMode="External"/><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CSCI2520 Tutorial 1:</a:t>
            </a:r>
            <a:br>
              <a:rPr lang="en-US" dirty="0"/>
            </a:br>
            <a:r>
              <a:rPr lang="en-US" dirty="0"/>
              <a:t>C Programming Review</a:t>
            </a:r>
          </a:p>
        </p:txBody>
      </p:sp>
      <p:sp>
        <p:nvSpPr>
          <p:cNvPr id="3" name="Subtitle 2"/>
          <p:cNvSpPr>
            <a:spLocks noGrp="1"/>
          </p:cNvSpPr>
          <p:nvPr>
            <p:ph type="subTitle" idx="1"/>
          </p:nvPr>
        </p:nvSpPr>
        <p:spPr>
          <a:xfrm>
            <a:off x="1371600" y="3717032"/>
            <a:ext cx="6400800" cy="1921768"/>
          </a:xfrm>
        </p:spPr>
        <p:txBody>
          <a:bodyPr>
            <a:normAutofit fontScale="92500" lnSpcReduction="10000"/>
          </a:bodyPr>
          <a:lstStyle/>
          <a:p>
            <a:r>
              <a:rPr lang="en-US" dirty="0"/>
              <a:t>Pan Zhenyu</a:t>
            </a:r>
          </a:p>
          <a:p>
            <a:r>
              <a:rPr lang="en-US" dirty="0">
                <a:hlinkClick r:id="rId2"/>
              </a:rPr>
              <a:t>zypan24@cse.cuhk.edu.hk</a:t>
            </a:r>
            <a:endParaRPr lang="en-US" dirty="0"/>
          </a:p>
          <a:p>
            <a:r>
              <a:rPr lang="en-US" dirty="0"/>
              <a:t>Slide Ack: modified based on the slides from Li Hui</a:t>
            </a:r>
          </a:p>
          <a:p>
            <a:endParaRPr lang="en-US" dirty="0"/>
          </a:p>
          <a:p>
            <a:endParaRPr lang="en-US" dirty="0"/>
          </a:p>
        </p:txBody>
      </p:sp>
    </p:spTree>
    <p:extLst>
      <p:ext uri="{BB962C8B-B14F-4D97-AF65-F5344CB8AC3E}">
        <p14:creationId xmlns:p14="http://schemas.microsoft.com/office/powerpoint/2010/main" val="1641712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About me</a:t>
            </a:r>
          </a:p>
        </p:txBody>
      </p:sp>
      <p:sp>
        <p:nvSpPr>
          <p:cNvPr id="3" name="Content Placeholder 2"/>
          <p:cNvSpPr>
            <a:spLocks noGrp="1"/>
          </p:cNvSpPr>
          <p:nvPr>
            <p:ph idx="1"/>
          </p:nvPr>
        </p:nvSpPr>
        <p:spPr/>
        <p:txBody>
          <a:bodyPr/>
          <a:lstStyle/>
          <a:p>
            <a:r>
              <a:rPr lang="en-US" dirty="0"/>
              <a:t>Name: Pan Zhenyu</a:t>
            </a:r>
          </a:p>
          <a:p>
            <a:r>
              <a:rPr lang="en-US" dirty="0"/>
              <a:t>Email: </a:t>
            </a:r>
            <a:r>
              <a:rPr lang="en-US" dirty="0">
                <a:hlinkClick r:id="rId2"/>
              </a:rPr>
              <a:t>zypan24@cse.cuhk.edu.hk</a:t>
            </a:r>
            <a:endParaRPr lang="en-US" dirty="0"/>
          </a:p>
          <a:p>
            <a:r>
              <a:rPr lang="en-US" dirty="0"/>
              <a:t>Office: SHB 12</a:t>
            </a:r>
            <a:r>
              <a:rPr lang="en-US" altLang="zh-CN" dirty="0"/>
              <a:t>0</a:t>
            </a:r>
          </a:p>
          <a:p>
            <a:r>
              <a:rPr lang="en-US" altLang="zh-CN" dirty="0"/>
              <a:t>Language: Mandarin, English</a:t>
            </a:r>
          </a:p>
          <a:p>
            <a:endParaRPr lang="en-US" dirty="0"/>
          </a:p>
        </p:txBody>
      </p:sp>
      <p:sp>
        <p:nvSpPr>
          <p:cNvPr id="4" name="Footer Placeholder 3"/>
          <p:cNvSpPr>
            <a:spLocks noGrp="1"/>
          </p:cNvSpPr>
          <p:nvPr>
            <p:ph type="ftr" sz="quarter" idx="11"/>
          </p:nvPr>
        </p:nvSpPr>
        <p:spPr/>
        <p:txBody>
          <a:bodyPr/>
          <a:lstStyle/>
          <a:p>
            <a:r>
              <a:rPr lang="en-US" altLang="zh-CN" dirty="0"/>
              <a:t>CSCI2520 Tutorial 1</a:t>
            </a:r>
            <a:endParaRPr lang="zh-CN" altLang="en-US" dirty="0"/>
          </a:p>
        </p:txBody>
      </p:sp>
    </p:spTree>
    <p:extLst>
      <p:ext uri="{BB962C8B-B14F-4D97-AF65-F5344CB8AC3E}">
        <p14:creationId xmlns:p14="http://schemas.microsoft.com/office/powerpoint/2010/main" val="36575700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609C1-466E-2FBC-646B-145675A93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43635D-F930-B49A-9950-CD8E7D4DB09B}"/>
              </a:ext>
            </a:extLst>
          </p:cNvPr>
          <p:cNvSpPr>
            <a:spLocks noGrp="1"/>
          </p:cNvSpPr>
          <p:nvPr>
            <p:ph type="title"/>
          </p:nvPr>
        </p:nvSpPr>
        <p:spPr/>
        <p:txBody>
          <a:bodyPr/>
          <a:lstStyle/>
          <a:p>
            <a:r>
              <a:rPr lang="en-US" dirty="0"/>
              <a:t>Notes</a:t>
            </a:r>
          </a:p>
        </p:txBody>
      </p:sp>
      <p:sp>
        <p:nvSpPr>
          <p:cNvPr id="3" name="Content Placeholder 2">
            <a:extLst>
              <a:ext uri="{FF2B5EF4-FFF2-40B4-BE49-F238E27FC236}">
                <a16:creationId xmlns:a16="http://schemas.microsoft.com/office/drawing/2014/main" id="{4BF96385-56DC-9030-D003-7872F9A5FD40}"/>
              </a:ext>
            </a:extLst>
          </p:cNvPr>
          <p:cNvSpPr>
            <a:spLocks noGrp="1"/>
          </p:cNvSpPr>
          <p:nvPr>
            <p:ph idx="1"/>
          </p:nvPr>
        </p:nvSpPr>
        <p:spPr/>
        <p:txBody>
          <a:bodyPr/>
          <a:lstStyle/>
          <a:p>
            <a:r>
              <a:rPr lang="en-US" dirty="0"/>
              <a:t>This course doesn't emphasize on programming language</a:t>
            </a:r>
          </a:p>
          <a:p>
            <a:r>
              <a:rPr lang="en-US" dirty="0"/>
              <a:t>This tutorial review C only because the lectures use C to explain some important data structure concepts</a:t>
            </a:r>
          </a:p>
          <a:p>
            <a:r>
              <a:rPr lang="en-US" dirty="0"/>
              <a:t>In all the exams and written assignments, you can use </a:t>
            </a:r>
            <a:r>
              <a:rPr lang="en-US" b="1" dirty="0"/>
              <a:t>any programming language</a:t>
            </a:r>
            <a:r>
              <a:rPr lang="en-US" dirty="0"/>
              <a:t>, or </a:t>
            </a:r>
            <a:r>
              <a:rPr lang="en-US" b="1" dirty="0"/>
              <a:t>English</a:t>
            </a:r>
          </a:p>
        </p:txBody>
      </p:sp>
      <p:sp>
        <p:nvSpPr>
          <p:cNvPr id="4" name="Footer Placeholder 3">
            <a:extLst>
              <a:ext uri="{FF2B5EF4-FFF2-40B4-BE49-F238E27FC236}">
                <a16:creationId xmlns:a16="http://schemas.microsoft.com/office/drawing/2014/main" id="{DC557A61-852C-A17A-0A40-51C868B4796D}"/>
              </a:ext>
            </a:extLst>
          </p:cNvPr>
          <p:cNvSpPr>
            <a:spLocks noGrp="1"/>
          </p:cNvSpPr>
          <p:nvPr>
            <p:ph type="ftr" sz="quarter" idx="11"/>
          </p:nvPr>
        </p:nvSpPr>
        <p:spPr/>
        <p:txBody>
          <a:bodyPr/>
          <a:lstStyle/>
          <a:p>
            <a:r>
              <a:rPr lang="en-US" altLang="zh-CN" dirty="0"/>
              <a:t>CSCI2520 Tutorial 1</a:t>
            </a:r>
            <a:endParaRPr lang="zh-CN" altLang="en-US" dirty="0"/>
          </a:p>
        </p:txBody>
      </p:sp>
    </p:spTree>
    <p:extLst>
      <p:ext uri="{BB962C8B-B14F-4D97-AF65-F5344CB8AC3E}">
        <p14:creationId xmlns:p14="http://schemas.microsoft.com/office/powerpoint/2010/main" val="2145687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4A3CD-7C7C-4D17-F2DB-2E2755F205AC}"/>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DE856FB0-967A-6F38-C036-6B23062412E3}"/>
              </a:ext>
            </a:extLst>
          </p:cNvPr>
          <p:cNvSpPr>
            <a:spLocks noGrp="1"/>
          </p:cNvSpPr>
          <p:nvPr>
            <p:ph type="ftr" sz="quarter" idx="11"/>
          </p:nvPr>
        </p:nvSpPr>
        <p:spPr/>
        <p:txBody>
          <a:bodyPr/>
          <a:lstStyle/>
          <a:p>
            <a:r>
              <a:rPr lang="en-US" altLang="zh-CN" dirty="0"/>
              <a:t>CSCI2520 Tutorial 1</a:t>
            </a:r>
            <a:endParaRPr lang="zh-CN" altLang="en-US" dirty="0"/>
          </a:p>
        </p:txBody>
      </p:sp>
      <p:pic>
        <p:nvPicPr>
          <p:cNvPr id="10" name="图片 9" descr="文本&#10;&#10;AI 生成的内容可能不正确。">
            <a:extLst>
              <a:ext uri="{FF2B5EF4-FFF2-40B4-BE49-F238E27FC236}">
                <a16:creationId xmlns:a16="http://schemas.microsoft.com/office/drawing/2014/main" id="{B1FCDF82-B062-9A24-85BB-E5E691FC6D42}"/>
              </a:ext>
            </a:extLst>
          </p:cNvPr>
          <p:cNvPicPr>
            <a:picLocks noChangeAspect="1"/>
          </p:cNvPicPr>
          <p:nvPr/>
        </p:nvPicPr>
        <p:blipFill>
          <a:blip r:embed="rId2"/>
          <a:stretch>
            <a:fillRect/>
          </a:stretch>
        </p:blipFill>
        <p:spPr>
          <a:xfrm>
            <a:off x="1038330" y="2996952"/>
            <a:ext cx="7067340" cy="2034042"/>
          </a:xfrm>
          <a:prstGeom prst="rect">
            <a:avLst/>
          </a:prstGeom>
        </p:spPr>
      </p:pic>
      <p:sp>
        <p:nvSpPr>
          <p:cNvPr id="12" name="文本框 11">
            <a:extLst>
              <a:ext uri="{FF2B5EF4-FFF2-40B4-BE49-F238E27FC236}">
                <a16:creationId xmlns:a16="http://schemas.microsoft.com/office/drawing/2014/main" id="{EE47FDA7-9AE8-BDF5-4D63-421AED84D63F}"/>
              </a:ext>
            </a:extLst>
          </p:cNvPr>
          <p:cNvSpPr txBox="1"/>
          <p:nvPr/>
        </p:nvSpPr>
        <p:spPr>
          <a:xfrm>
            <a:off x="2286000" y="5301208"/>
            <a:ext cx="4572000" cy="923330"/>
          </a:xfrm>
          <a:prstGeom prst="rect">
            <a:avLst/>
          </a:prstGeom>
          <a:noFill/>
        </p:spPr>
        <p:txBody>
          <a:bodyPr wrap="square">
            <a:spAutoFit/>
          </a:bodyPr>
          <a:lstStyle/>
          <a:p>
            <a:r>
              <a:rPr lang="en-US" altLang="zh-CN" dirty="0"/>
              <a:t>Source: </a:t>
            </a:r>
            <a:r>
              <a:rPr lang="en-US" altLang="zh-CN" dirty="0">
                <a:hlinkClick r:id="rId3"/>
              </a:rPr>
              <a:t>https://x.com/karpathy/status/1617979122625712128</a:t>
            </a:r>
            <a:endParaRPr lang="zh-CN" altLang="en-US" dirty="0"/>
          </a:p>
        </p:txBody>
      </p:sp>
      <p:sp>
        <p:nvSpPr>
          <p:cNvPr id="3" name="文本框 2">
            <a:extLst>
              <a:ext uri="{FF2B5EF4-FFF2-40B4-BE49-F238E27FC236}">
                <a16:creationId xmlns:a16="http://schemas.microsoft.com/office/drawing/2014/main" id="{17C4572E-7A2E-AFBD-2430-C7A87AFB9D47}"/>
              </a:ext>
            </a:extLst>
          </p:cNvPr>
          <p:cNvSpPr txBox="1"/>
          <p:nvPr/>
        </p:nvSpPr>
        <p:spPr>
          <a:xfrm>
            <a:off x="1038330" y="1052736"/>
            <a:ext cx="7067340" cy="954107"/>
          </a:xfrm>
          <a:prstGeom prst="rect">
            <a:avLst/>
          </a:prstGeom>
          <a:noFill/>
        </p:spPr>
        <p:txBody>
          <a:bodyPr wrap="square">
            <a:spAutoFit/>
          </a:bodyPr>
          <a:lstStyle/>
          <a:p>
            <a:r>
              <a:rPr lang="en-US" altLang="zh-CN" sz="2800" dirty="0"/>
              <a:t>“life is </a:t>
            </a:r>
            <a:r>
              <a:rPr lang="en-US" altLang="zh-CN" sz="2800" dirty="0" err="1"/>
              <a:t>short,you</a:t>
            </a:r>
            <a:r>
              <a:rPr lang="en-US" altLang="zh-CN" sz="2800" dirty="0"/>
              <a:t> need python”</a:t>
            </a:r>
          </a:p>
          <a:p>
            <a:r>
              <a:rPr lang="en-US" altLang="zh-CN" sz="2800" dirty="0"/>
              <a:t>- </a:t>
            </a:r>
            <a:r>
              <a:rPr lang="en-US" altLang="zh-CN" sz="2800" dirty="0">
                <a:hlinkClick r:id="rId4"/>
              </a:rPr>
              <a:t>Bruce Eckel</a:t>
            </a:r>
            <a:endParaRPr lang="zh-CN" altLang="en-US" sz="2800" dirty="0"/>
          </a:p>
        </p:txBody>
      </p:sp>
    </p:spTree>
    <p:extLst>
      <p:ext uri="{BB962C8B-B14F-4D97-AF65-F5344CB8AC3E}">
        <p14:creationId xmlns:p14="http://schemas.microsoft.com/office/powerpoint/2010/main" val="2190296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Useful Links</a:t>
            </a:r>
          </a:p>
        </p:txBody>
      </p:sp>
      <p:sp>
        <p:nvSpPr>
          <p:cNvPr id="3" name="Content Placeholder 2"/>
          <p:cNvSpPr>
            <a:spLocks noGrp="1"/>
          </p:cNvSpPr>
          <p:nvPr>
            <p:ph idx="1"/>
          </p:nvPr>
        </p:nvSpPr>
        <p:spPr/>
        <p:txBody>
          <a:bodyPr>
            <a:normAutofit/>
          </a:bodyPr>
          <a:lstStyle/>
          <a:p>
            <a:r>
              <a:rPr lang="en-US" dirty="0">
                <a:hlinkClick r:id="rId2"/>
              </a:rPr>
              <a:t>https://chat.qwen.ai/</a:t>
            </a:r>
            <a:r>
              <a:rPr lang="en-US" dirty="0"/>
              <a:t> </a:t>
            </a:r>
          </a:p>
          <a:p>
            <a:r>
              <a:rPr lang="en-US" dirty="0">
                <a:hlinkClick r:id="rId3"/>
              </a:rPr>
              <a:t>https://grok.com/</a:t>
            </a:r>
            <a:endParaRPr lang="en-US" dirty="0"/>
          </a:p>
          <a:p>
            <a:r>
              <a:rPr lang="en-US" dirty="0">
                <a:hlinkClick r:id="rId4"/>
              </a:rPr>
              <a:t>https://chat.z.ai/</a:t>
            </a:r>
            <a:endParaRPr lang="en-US" dirty="0"/>
          </a:p>
          <a:p>
            <a:r>
              <a:rPr lang="en-US" dirty="0">
                <a:hlinkClick r:id="rId5"/>
              </a:rPr>
              <a:t>https://kimi.com/</a:t>
            </a:r>
            <a:endParaRPr lang="en-US" dirty="0"/>
          </a:p>
          <a:p>
            <a:r>
              <a:rPr lang="en-US" dirty="0">
                <a:hlinkClick r:id="rId6"/>
              </a:rPr>
              <a:t>chat.deepseek.com/</a:t>
            </a:r>
            <a:endParaRPr lang="en-US" dirty="0"/>
          </a:p>
          <a:p>
            <a:r>
              <a:rPr lang="en-US" dirty="0"/>
              <a:t>ChatGPT/Gemini/Claude… (</a:t>
            </a:r>
            <a:r>
              <a:rPr lang="en-US" altLang="zh-CN" dirty="0"/>
              <a:t>Need Magic</a:t>
            </a:r>
            <a:r>
              <a:rPr lang="en-US" dirty="0"/>
              <a:t>)</a:t>
            </a:r>
          </a:p>
          <a:p>
            <a:endParaRPr lang="en-US" dirty="0"/>
          </a:p>
          <a:p>
            <a:pPr marL="0" indent="0">
              <a:buNone/>
            </a:pPr>
            <a:endParaRPr lang="en-US" dirty="0"/>
          </a:p>
          <a:p>
            <a:endParaRPr lang="en-US" dirty="0"/>
          </a:p>
          <a:p>
            <a:endParaRPr lang="en-US" dirty="0"/>
          </a:p>
        </p:txBody>
      </p:sp>
      <p:sp>
        <p:nvSpPr>
          <p:cNvPr id="4" name="Footer Placeholder 3"/>
          <p:cNvSpPr>
            <a:spLocks noGrp="1"/>
          </p:cNvSpPr>
          <p:nvPr>
            <p:ph type="ftr" sz="quarter" idx="11"/>
          </p:nvPr>
        </p:nvSpPr>
        <p:spPr/>
        <p:txBody>
          <a:bodyPr/>
          <a:lstStyle/>
          <a:p>
            <a:r>
              <a:rPr lang="en-US" altLang="zh-CN"/>
              <a:t>CSCI2520 Tutorial 1</a:t>
            </a:r>
            <a:endParaRPr lang="zh-CN" altLang="en-US"/>
          </a:p>
        </p:txBody>
      </p:sp>
      <p:pic>
        <p:nvPicPr>
          <p:cNvPr id="6" name="图片 5" descr="徽标">
            <a:extLst>
              <a:ext uri="{FF2B5EF4-FFF2-40B4-BE49-F238E27FC236}">
                <a16:creationId xmlns:a16="http://schemas.microsoft.com/office/drawing/2014/main" id="{30936534-090E-941F-F317-5AAC59CFE962}"/>
              </a:ext>
            </a:extLst>
          </p:cNvPr>
          <p:cNvPicPr>
            <a:picLocks noChangeAspect="1"/>
          </p:cNvPicPr>
          <p:nvPr/>
        </p:nvPicPr>
        <p:blipFill>
          <a:blip r:embed="rId7"/>
          <a:stretch>
            <a:fillRect/>
          </a:stretch>
        </p:blipFill>
        <p:spPr>
          <a:xfrm>
            <a:off x="4788024" y="1600200"/>
            <a:ext cx="1296144" cy="647358"/>
          </a:xfrm>
          <a:prstGeom prst="rect">
            <a:avLst/>
          </a:prstGeom>
        </p:spPr>
      </p:pic>
      <p:pic>
        <p:nvPicPr>
          <p:cNvPr id="8" name="图片 7" descr="卡通画">
            <a:extLst>
              <a:ext uri="{FF2B5EF4-FFF2-40B4-BE49-F238E27FC236}">
                <a16:creationId xmlns:a16="http://schemas.microsoft.com/office/drawing/2014/main" id="{B8070D5E-9531-C78B-7BEE-72E18F555BBA}"/>
              </a:ext>
            </a:extLst>
          </p:cNvPr>
          <p:cNvPicPr>
            <a:picLocks noChangeAspect="1"/>
          </p:cNvPicPr>
          <p:nvPr/>
        </p:nvPicPr>
        <p:blipFill>
          <a:blip r:embed="rId8"/>
          <a:stretch>
            <a:fillRect/>
          </a:stretch>
        </p:blipFill>
        <p:spPr>
          <a:xfrm>
            <a:off x="4773507" y="2247558"/>
            <a:ext cx="1325177" cy="527221"/>
          </a:xfrm>
          <a:prstGeom prst="rect">
            <a:avLst/>
          </a:prstGeom>
        </p:spPr>
      </p:pic>
      <p:pic>
        <p:nvPicPr>
          <p:cNvPr id="10" name="图片 9" descr="文本">
            <a:extLst>
              <a:ext uri="{FF2B5EF4-FFF2-40B4-BE49-F238E27FC236}">
                <a16:creationId xmlns:a16="http://schemas.microsoft.com/office/drawing/2014/main" id="{FCA8D2DC-31F8-55FC-8869-E4D0605F6847}"/>
              </a:ext>
            </a:extLst>
          </p:cNvPr>
          <p:cNvPicPr>
            <a:picLocks noChangeAspect="1"/>
          </p:cNvPicPr>
          <p:nvPr/>
        </p:nvPicPr>
        <p:blipFill>
          <a:blip r:embed="rId9"/>
          <a:stretch>
            <a:fillRect/>
          </a:stretch>
        </p:blipFill>
        <p:spPr>
          <a:xfrm>
            <a:off x="4737034" y="2804390"/>
            <a:ext cx="1282766" cy="577880"/>
          </a:xfrm>
          <a:prstGeom prst="rect">
            <a:avLst/>
          </a:prstGeom>
        </p:spPr>
      </p:pic>
      <p:pic>
        <p:nvPicPr>
          <p:cNvPr id="12" name="图片 11" descr="手机屏幕截图&#10;&#10;AI 生成的内容可能不正确。">
            <a:extLst>
              <a:ext uri="{FF2B5EF4-FFF2-40B4-BE49-F238E27FC236}">
                <a16:creationId xmlns:a16="http://schemas.microsoft.com/office/drawing/2014/main" id="{665EFBB2-C284-0B04-6115-BE84E0B1D0CA}"/>
              </a:ext>
            </a:extLst>
          </p:cNvPr>
          <p:cNvPicPr>
            <a:picLocks noChangeAspect="1"/>
          </p:cNvPicPr>
          <p:nvPr/>
        </p:nvPicPr>
        <p:blipFill>
          <a:blip r:embed="rId10"/>
          <a:stretch>
            <a:fillRect/>
          </a:stretch>
        </p:blipFill>
        <p:spPr>
          <a:xfrm>
            <a:off x="4818444" y="3341358"/>
            <a:ext cx="1235301" cy="581892"/>
          </a:xfrm>
          <a:prstGeom prst="rect">
            <a:avLst/>
          </a:prstGeom>
        </p:spPr>
      </p:pic>
      <p:pic>
        <p:nvPicPr>
          <p:cNvPr id="14" name="图片 13" descr="图标&#10;&#10;AI 生成的内容可能不正确。">
            <a:extLst>
              <a:ext uri="{FF2B5EF4-FFF2-40B4-BE49-F238E27FC236}">
                <a16:creationId xmlns:a16="http://schemas.microsoft.com/office/drawing/2014/main" id="{D91BA070-E914-D44F-B2AE-9FE2300103D3}"/>
              </a:ext>
            </a:extLst>
          </p:cNvPr>
          <p:cNvPicPr>
            <a:picLocks noChangeAspect="1"/>
          </p:cNvPicPr>
          <p:nvPr/>
        </p:nvPicPr>
        <p:blipFill>
          <a:blip r:embed="rId11"/>
          <a:stretch>
            <a:fillRect/>
          </a:stretch>
        </p:blipFill>
        <p:spPr>
          <a:xfrm>
            <a:off x="4788024" y="3986641"/>
            <a:ext cx="1987652" cy="539778"/>
          </a:xfrm>
          <a:prstGeom prst="rect">
            <a:avLst/>
          </a:prstGeom>
        </p:spPr>
      </p:pic>
    </p:spTree>
    <p:extLst>
      <p:ext uri="{BB962C8B-B14F-4D97-AF65-F5344CB8AC3E}">
        <p14:creationId xmlns:p14="http://schemas.microsoft.com/office/powerpoint/2010/main" val="4292325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t>Pointer</a:t>
            </a:r>
          </a:p>
          <a:p>
            <a:r>
              <a:rPr lang="en-US" dirty="0" err="1"/>
              <a:t>Malloc</a:t>
            </a:r>
            <a:endParaRPr lang="en-US" dirty="0"/>
          </a:p>
          <a:p>
            <a:r>
              <a:rPr lang="en-US" dirty="0" err="1"/>
              <a:t>Typedef</a:t>
            </a:r>
            <a:endParaRPr lang="en-US" dirty="0"/>
          </a:p>
          <a:p>
            <a:r>
              <a:rPr lang="en-US" dirty="0" err="1"/>
              <a:t>Struct</a:t>
            </a:r>
            <a:endParaRPr lang="en-US" dirty="0"/>
          </a:p>
        </p:txBody>
      </p:sp>
      <p:sp>
        <p:nvSpPr>
          <p:cNvPr id="4" name="Footer Placeholder 3"/>
          <p:cNvSpPr>
            <a:spLocks noGrp="1"/>
          </p:cNvSpPr>
          <p:nvPr>
            <p:ph type="ftr" sz="quarter" idx="11"/>
          </p:nvPr>
        </p:nvSpPr>
        <p:spPr/>
        <p:txBody>
          <a:bodyPr/>
          <a:lstStyle/>
          <a:p>
            <a:r>
              <a:rPr lang="en-US" altLang="zh-CN"/>
              <a:t>CSCI2520 Tutorial 1</a:t>
            </a:r>
            <a:endParaRPr lang="zh-CN" altLang="en-US"/>
          </a:p>
        </p:txBody>
      </p:sp>
    </p:spTree>
    <p:extLst>
      <p:ext uri="{BB962C8B-B14F-4D97-AF65-F5344CB8AC3E}">
        <p14:creationId xmlns:p14="http://schemas.microsoft.com/office/powerpoint/2010/main" val="3585833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Pointer</a:t>
            </a:r>
          </a:p>
        </p:txBody>
      </p:sp>
      <p:sp>
        <p:nvSpPr>
          <p:cNvPr id="3" name="Content Placeholder 2"/>
          <p:cNvSpPr>
            <a:spLocks noGrp="1"/>
          </p:cNvSpPr>
          <p:nvPr>
            <p:ph idx="1"/>
          </p:nvPr>
        </p:nvSpPr>
        <p:spPr/>
        <p:txBody>
          <a:bodyPr>
            <a:normAutofit/>
          </a:bodyPr>
          <a:lstStyle/>
          <a:p>
            <a:r>
              <a:rPr lang="en-US" dirty="0"/>
              <a:t>Pointer variable</a:t>
            </a:r>
          </a:p>
          <a:p>
            <a:pPr lvl="1"/>
            <a:r>
              <a:rPr lang="en-US" dirty="0"/>
              <a:t>Store the address(like foo in the example) </a:t>
            </a:r>
          </a:p>
          <a:p>
            <a:r>
              <a:rPr lang="en-US" dirty="0"/>
              <a:t>Reference operator (&amp;)</a:t>
            </a:r>
          </a:p>
          <a:p>
            <a:pPr lvl="1"/>
            <a:r>
              <a:rPr lang="en-US" dirty="0"/>
              <a:t>Get the address of another variable </a:t>
            </a:r>
          </a:p>
          <a:p>
            <a:endParaRPr lang="en-US" dirty="0"/>
          </a:p>
          <a:p>
            <a:endParaRPr lang="en-US" dirty="0"/>
          </a:p>
          <a:p>
            <a:endParaRPr lang="en-US" dirty="0"/>
          </a:p>
          <a:p>
            <a:endParaRPr lang="en-US" dirty="0"/>
          </a:p>
          <a:p>
            <a:endParaRPr lang="en-US" dirty="0"/>
          </a:p>
          <a:p>
            <a:endParaRPr lang="en-US" dirty="0"/>
          </a:p>
          <a:p>
            <a:pPr lvl="1"/>
            <a:endParaRPr lang="en-US" dirty="0"/>
          </a:p>
          <a:p>
            <a:endParaRPr lang="en-US" dirty="0"/>
          </a:p>
        </p:txBody>
      </p:sp>
      <p:sp>
        <p:nvSpPr>
          <p:cNvPr id="4" name="Footer Placeholder 3"/>
          <p:cNvSpPr>
            <a:spLocks noGrp="1"/>
          </p:cNvSpPr>
          <p:nvPr>
            <p:ph type="ftr" sz="quarter" idx="11"/>
          </p:nvPr>
        </p:nvSpPr>
        <p:spPr/>
        <p:txBody>
          <a:bodyPr/>
          <a:lstStyle/>
          <a:p>
            <a:r>
              <a:rPr lang="en-US" altLang="zh-CN"/>
              <a:t>CSCI2520 Tutorial 1</a:t>
            </a:r>
            <a:endParaRPr lang="zh-CN" altLang="en-US"/>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4581326"/>
            <a:ext cx="2403475"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1840" y="4005064"/>
            <a:ext cx="5791200" cy="2219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75577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Pointer</a:t>
            </a:r>
          </a:p>
        </p:txBody>
      </p:sp>
      <p:sp>
        <p:nvSpPr>
          <p:cNvPr id="3" name="Content Placeholder 2"/>
          <p:cNvSpPr>
            <a:spLocks noGrp="1"/>
          </p:cNvSpPr>
          <p:nvPr>
            <p:ph idx="1"/>
          </p:nvPr>
        </p:nvSpPr>
        <p:spPr/>
        <p:txBody>
          <a:bodyPr>
            <a:normAutofit/>
          </a:bodyPr>
          <a:lstStyle/>
          <a:p>
            <a:r>
              <a:rPr lang="en-US" sz="2800" dirty="0"/>
              <a:t>Dereference operator (*)</a:t>
            </a:r>
          </a:p>
        </p:txBody>
      </p:sp>
      <p:sp>
        <p:nvSpPr>
          <p:cNvPr id="4" name="Footer Placeholder 3"/>
          <p:cNvSpPr>
            <a:spLocks noGrp="1"/>
          </p:cNvSpPr>
          <p:nvPr>
            <p:ph type="ftr" sz="quarter" idx="11"/>
          </p:nvPr>
        </p:nvSpPr>
        <p:spPr/>
        <p:txBody>
          <a:bodyPr/>
          <a:lstStyle/>
          <a:p>
            <a:r>
              <a:rPr lang="en-US" altLang="zh-CN"/>
              <a:t>CSCI2520 Tutorial 1</a:t>
            </a:r>
            <a:endParaRPr lang="zh-CN" altLang="en-US"/>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2247528"/>
            <a:ext cx="2117725"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2957289"/>
            <a:ext cx="7038975" cy="2847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19372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Pointer</a:t>
            </a:r>
          </a:p>
        </p:txBody>
      </p:sp>
      <p:sp>
        <p:nvSpPr>
          <p:cNvPr id="3" name="Content Placeholder 2"/>
          <p:cNvSpPr>
            <a:spLocks noGrp="1"/>
          </p:cNvSpPr>
          <p:nvPr>
            <p:ph idx="1"/>
          </p:nvPr>
        </p:nvSpPr>
        <p:spPr/>
        <p:txBody>
          <a:bodyPr>
            <a:normAutofit/>
          </a:bodyPr>
          <a:lstStyle/>
          <a:p>
            <a:r>
              <a:rPr lang="en-US" dirty="0"/>
              <a:t>&amp;</a:t>
            </a:r>
          </a:p>
          <a:p>
            <a:pPr lvl="1"/>
            <a:r>
              <a:rPr lang="en-US" dirty="0"/>
              <a:t>reference operator</a:t>
            </a:r>
          </a:p>
          <a:p>
            <a:pPr lvl="1"/>
            <a:r>
              <a:rPr lang="en-US" dirty="0"/>
              <a:t>read as </a:t>
            </a:r>
            <a:r>
              <a:rPr lang="en-US" b="1" dirty="0"/>
              <a:t>“address of”</a:t>
            </a:r>
          </a:p>
          <a:p>
            <a:r>
              <a:rPr lang="en-US" dirty="0"/>
              <a:t>*</a:t>
            </a:r>
          </a:p>
          <a:p>
            <a:pPr lvl="1"/>
            <a:r>
              <a:rPr lang="en-US" dirty="0"/>
              <a:t>dereference operator</a:t>
            </a:r>
          </a:p>
          <a:p>
            <a:pPr lvl="1"/>
            <a:r>
              <a:rPr lang="en-US" dirty="0"/>
              <a:t>read as </a:t>
            </a:r>
            <a:r>
              <a:rPr lang="en-US" b="1" dirty="0"/>
              <a:t>“value pointed to by”</a:t>
            </a:r>
          </a:p>
        </p:txBody>
      </p:sp>
      <p:sp>
        <p:nvSpPr>
          <p:cNvPr id="4" name="Footer Placeholder 3"/>
          <p:cNvSpPr>
            <a:spLocks noGrp="1"/>
          </p:cNvSpPr>
          <p:nvPr>
            <p:ph type="ftr" sz="quarter" idx="11"/>
          </p:nvPr>
        </p:nvSpPr>
        <p:spPr/>
        <p:txBody>
          <a:bodyPr/>
          <a:lstStyle/>
          <a:p>
            <a:r>
              <a:rPr lang="en-US" altLang="zh-CN"/>
              <a:t>CSCI2520 Tutorial 1</a:t>
            </a:r>
            <a:endParaRPr lang="zh-CN" altLang="en-US"/>
          </a:p>
        </p:txBody>
      </p:sp>
    </p:spTree>
    <p:extLst>
      <p:ext uri="{BB962C8B-B14F-4D97-AF65-F5344CB8AC3E}">
        <p14:creationId xmlns:p14="http://schemas.microsoft.com/office/powerpoint/2010/main" val="3354162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1</a:t>
            </a:r>
          </a:p>
        </p:txBody>
      </p:sp>
      <p:sp>
        <p:nvSpPr>
          <p:cNvPr id="3" name="Content Placeholder 2"/>
          <p:cNvSpPr>
            <a:spLocks noGrp="1"/>
          </p:cNvSpPr>
          <p:nvPr>
            <p:ph idx="1"/>
          </p:nvPr>
        </p:nvSpPr>
        <p:spPr/>
        <p:txBody>
          <a:bodyPr>
            <a:normAutofit/>
          </a:bodyPr>
          <a:lstStyle/>
          <a:p>
            <a:r>
              <a:rPr lang="en-US" dirty="0"/>
              <a:t>What is the output?</a:t>
            </a:r>
          </a:p>
        </p:txBody>
      </p:sp>
      <p:sp>
        <p:nvSpPr>
          <p:cNvPr id="4" name="Footer Placeholder 3"/>
          <p:cNvSpPr>
            <a:spLocks noGrp="1"/>
          </p:cNvSpPr>
          <p:nvPr>
            <p:ph type="ftr" sz="quarter" idx="11"/>
          </p:nvPr>
        </p:nvSpPr>
        <p:spPr/>
        <p:txBody>
          <a:bodyPr/>
          <a:lstStyle/>
          <a:p>
            <a:r>
              <a:rPr lang="en-US" altLang="zh-CN"/>
              <a:t>CSCI2520 Tutorial 1</a:t>
            </a:r>
            <a:endParaRPr lang="zh-CN" altLang="en-US"/>
          </a:p>
        </p:txBody>
      </p:sp>
      <p:sp>
        <p:nvSpPr>
          <p:cNvPr id="7" name="TextBox 6"/>
          <p:cNvSpPr txBox="1"/>
          <p:nvPr/>
        </p:nvSpPr>
        <p:spPr>
          <a:xfrm>
            <a:off x="395536" y="2133431"/>
            <a:ext cx="6144631" cy="4031873"/>
          </a:xfrm>
          <a:prstGeom prst="rect">
            <a:avLst/>
          </a:prstGeom>
          <a:noFill/>
        </p:spPr>
        <p:txBody>
          <a:bodyPr wrap="none" rtlCol="0">
            <a:spAutoFit/>
          </a:bodyPr>
          <a:lstStyle/>
          <a:p>
            <a:r>
              <a:rPr lang="en-US" sz="1600" dirty="0" err="1">
                <a:solidFill>
                  <a:srgbClr val="0000FF"/>
                </a:solidFill>
                <a:highlight>
                  <a:srgbClr val="FFFFFF"/>
                </a:highlight>
                <a:latin typeface="Consolas"/>
              </a:rPr>
              <a:t>int</a:t>
            </a:r>
            <a:r>
              <a:rPr lang="en-US" sz="1600" dirty="0">
                <a:solidFill>
                  <a:srgbClr val="000000"/>
                </a:solidFill>
                <a:highlight>
                  <a:srgbClr val="FFFFFF"/>
                </a:highlight>
                <a:latin typeface="Consolas"/>
              </a:rPr>
              <a:t> main()</a:t>
            </a:r>
          </a:p>
          <a:p>
            <a:r>
              <a:rPr lang="en-US" sz="1600" dirty="0">
                <a:solidFill>
                  <a:srgbClr val="000000"/>
                </a:solidFill>
                <a:highlight>
                  <a:srgbClr val="FFFFFF"/>
                </a:highlight>
                <a:latin typeface="Consolas"/>
              </a:rPr>
              <a:t>{</a:t>
            </a:r>
          </a:p>
          <a:p>
            <a:pPr lvl="1"/>
            <a:r>
              <a:rPr lang="en-US" sz="1600" dirty="0" err="1">
                <a:solidFill>
                  <a:srgbClr val="0000FF"/>
                </a:solidFill>
                <a:highlight>
                  <a:srgbClr val="FFFFFF"/>
                </a:highlight>
                <a:latin typeface="Consolas"/>
              </a:rPr>
              <a:t>int</a:t>
            </a:r>
            <a:r>
              <a:rPr lang="en-US" sz="1600" dirty="0">
                <a:solidFill>
                  <a:srgbClr val="000000"/>
                </a:solidFill>
                <a:highlight>
                  <a:srgbClr val="FFFFFF"/>
                </a:highlight>
                <a:latin typeface="Consolas"/>
              </a:rPr>
              <a:t> </a:t>
            </a:r>
            <a:r>
              <a:rPr lang="en-US" sz="1600" dirty="0" err="1">
                <a:solidFill>
                  <a:srgbClr val="000000"/>
                </a:solidFill>
                <a:highlight>
                  <a:srgbClr val="FFFFFF"/>
                </a:highlight>
                <a:latin typeface="Consolas"/>
              </a:rPr>
              <a:t>firstvalue</a:t>
            </a:r>
            <a:r>
              <a:rPr lang="en-US" sz="1600" dirty="0">
                <a:solidFill>
                  <a:srgbClr val="000000"/>
                </a:solidFill>
                <a:highlight>
                  <a:srgbClr val="FFFFFF"/>
                </a:highlight>
                <a:latin typeface="Consolas"/>
              </a:rPr>
              <a:t> = 5, </a:t>
            </a:r>
            <a:r>
              <a:rPr lang="en-US" sz="1600" dirty="0" err="1">
                <a:solidFill>
                  <a:srgbClr val="000000"/>
                </a:solidFill>
                <a:highlight>
                  <a:srgbClr val="FFFFFF"/>
                </a:highlight>
                <a:latin typeface="Consolas"/>
              </a:rPr>
              <a:t>secondvalue</a:t>
            </a:r>
            <a:r>
              <a:rPr lang="en-US" sz="1600" dirty="0">
                <a:solidFill>
                  <a:srgbClr val="000000"/>
                </a:solidFill>
                <a:highlight>
                  <a:srgbClr val="FFFFFF"/>
                </a:highlight>
                <a:latin typeface="Consolas"/>
              </a:rPr>
              <a:t> = 15;</a:t>
            </a:r>
          </a:p>
          <a:p>
            <a:pPr lvl="1"/>
            <a:r>
              <a:rPr lang="en-US" sz="1600" dirty="0">
                <a:solidFill>
                  <a:srgbClr val="0000FF"/>
                </a:solidFill>
                <a:highlight>
                  <a:srgbClr val="FFFFFF"/>
                </a:highlight>
                <a:latin typeface="Consolas"/>
              </a:rPr>
              <a:t>int</a:t>
            </a:r>
            <a:r>
              <a:rPr lang="en-US" sz="1600" dirty="0">
                <a:solidFill>
                  <a:srgbClr val="000000"/>
                </a:solidFill>
                <a:highlight>
                  <a:srgbClr val="FFFFFF"/>
                </a:highlight>
                <a:latin typeface="Consolas"/>
              </a:rPr>
              <a:t> *p1, *p2;</a:t>
            </a:r>
          </a:p>
          <a:p>
            <a:pPr lvl="1"/>
            <a:endParaRPr lang="en-US" sz="1600" dirty="0">
              <a:solidFill>
                <a:srgbClr val="000000"/>
              </a:solidFill>
              <a:highlight>
                <a:srgbClr val="FFFFFF"/>
              </a:highlight>
              <a:latin typeface="Consolas"/>
            </a:endParaRPr>
          </a:p>
          <a:p>
            <a:pPr lvl="1"/>
            <a:r>
              <a:rPr lang="en-US" sz="1600" dirty="0">
                <a:solidFill>
                  <a:srgbClr val="000000"/>
                </a:solidFill>
                <a:highlight>
                  <a:srgbClr val="FFFFFF"/>
                </a:highlight>
                <a:latin typeface="Consolas"/>
              </a:rPr>
              <a:t>p1 = &amp;</a:t>
            </a:r>
            <a:r>
              <a:rPr lang="en-US" sz="1600" dirty="0" err="1">
                <a:solidFill>
                  <a:srgbClr val="000000"/>
                </a:solidFill>
                <a:highlight>
                  <a:srgbClr val="FFFFFF"/>
                </a:highlight>
                <a:latin typeface="Consolas"/>
              </a:rPr>
              <a:t>firstvalue</a:t>
            </a:r>
            <a:r>
              <a:rPr lang="en-US" sz="1600" dirty="0">
                <a:solidFill>
                  <a:srgbClr val="000000"/>
                </a:solidFill>
                <a:highlight>
                  <a:srgbClr val="FFFFFF"/>
                </a:highlight>
                <a:latin typeface="Consolas"/>
              </a:rPr>
              <a:t>;</a:t>
            </a:r>
          </a:p>
          <a:p>
            <a:pPr lvl="1"/>
            <a:r>
              <a:rPr lang="en-US" sz="1600" dirty="0">
                <a:solidFill>
                  <a:srgbClr val="000000"/>
                </a:solidFill>
                <a:highlight>
                  <a:srgbClr val="FFFFFF"/>
                </a:highlight>
                <a:latin typeface="Consolas"/>
              </a:rPr>
              <a:t>p2 = &amp;</a:t>
            </a:r>
            <a:r>
              <a:rPr lang="en-US" sz="1600" dirty="0" err="1">
                <a:solidFill>
                  <a:srgbClr val="000000"/>
                </a:solidFill>
                <a:highlight>
                  <a:srgbClr val="FFFFFF"/>
                </a:highlight>
                <a:latin typeface="Consolas"/>
              </a:rPr>
              <a:t>secondvalue</a:t>
            </a:r>
            <a:r>
              <a:rPr lang="en-US" sz="1600" dirty="0">
                <a:solidFill>
                  <a:srgbClr val="000000"/>
                </a:solidFill>
                <a:highlight>
                  <a:srgbClr val="FFFFFF"/>
                </a:highlight>
                <a:latin typeface="Consolas"/>
              </a:rPr>
              <a:t>;</a:t>
            </a:r>
          </a:p>
          <a:p>
            <a:pPr lvl="1"/>
            <a:r>
              <a:rPr lang="en-US" sz="1600" dirty="0">
                <a:solidFill>
                  <a:srgbClr val="000000"/>
                </a:solidFill>
                <a:highlight>
                  <a:srgbClr val="FFFFFF"/>
                </a:highlight>
                <a:latin typeface="Consolas"/>
              </a:rPr>
              <a:t>*p1 = 10;</a:t>
            </a:r>
          </a:p>
          <a:p>
            <a:pPr lvl="1"/>
            <a:r>
              <a:rPr lang="en-US" sz="1600" dirty="0">
                <a:solidFill>
                  <a:srgbClr val="000000"/>
                </a:solidFill>
                <a:highlight>
                  <a:srgbClr val="FFFFFF"/>
                </a:highlight>
                <a:latin typeface="Consolas"/>
              </a:rPr>
              <a:t>*p2 = *p1;</a:t>
            </a:r>
          </a:p>
          <a:p>
            <a:pPr lvl="1"/>
            <a:r>
              <a:rPr lang="en-US" sz="1600" dirty="0">
                <a:solidFill>
                  <a:srgbClr val="000000"/>
                </a:solidFill>
                <a:highlight>
                  <a:srgbClr val="FFFFFF"/>
                </a:highlight>
                <a:latin typeface="Consolas"/>
              </a:rPr>
              <a:t>p1 = p2;</a:t>
            </a:r>
          </a:p>
          <a:p>
            <a:pPr lvl="1"/>
            <a:r>
              <a:rPr lang="en-US" sz="1600" dirty="0">
                <a:solidFill>
                  <a:srgbClr val="000000"/>
                </a:solidFill>
                <a:highlight>
                  <a:srgbClr val="FFFFFF"/>
                </a:highlight>
                <a:latin typeface="Consolas"/>
              </a:rPr>
              <a:t>*p1 = 20;</a:t>
            </a:r>
          </a:p>
          <a:p>
            <a:pPr lvl="1"/>
            <a:endParaRPr lang="en-US" sz="1600" dirty="0">
              <a:solidFill>
                <a:srgbClr val="000000"/>
              </a:solidFill>
              <a:highlight>
                <a:srgbClr val="FFFFFF"/>
              </a:highlight>
              <a:latin typeface="Consolas"/>
            </a:endParaRPr>
          </a:p>
          <a:p>
            <a:pPr lvl="1"/>
            <a:r>
              <a:rPr lang="en-US" sz="1600" dirty="0" err="1">
                <a:solidFill>
                  <a:srgbClr val="000000"/>
                </a:solidFill>
                <a:highlight>
                  <a:srgbClr val="FFFFFF"/>
                </a:highlight>
                <a:latin typeface="Consolas"/>
              </a:rPr>
              <a:t>cout</a:t>
            </a:r>
            <a:r>
              <a:rPr lang="en-US" sz="1600" dirty="0">
                <a:solidFill>
                  <a:srgbClr val="000000"/>
                </a:solidFill>
                <a:highlight>
                  <a:srgbClr val="FFFFFF"/>
                </a:highlight>
                <a:latin typeface="Consolas"/>
              </a:rPr>
              <a:t> &lt;&lt; </a:t>
            </a:r>
            <a:r>
              <a:rPr lang="en-US" sz="1600" dirty="0">
                <a:solidFill>
                  <a:srgbClr val="A31515"/>
                </a:solidFill>
                <a:highlight>
                  <a:srgbClr val="FFFFFF"/>
                </a:highlight>
                <a:latin typeface="Consolas"/>
              </a:rPr>
              <a:t>"</a:t>
            </a:r>
            <a:r>
              <a:rPr lang="en-US" sz="1600" dirty="0" err="1">
                <a:solidFill>
                  <a:srgbClr val="A31515"/>
                </a:solidFill>
                <a:highlight>
                  <a:srgbClr val="FFFFFF"/>
                </a:highlight>
                <a:latin typeface="Consolas"/>
              </a:rPr>
              <a:t>firstvalue</a:t>
            </a:r>
            <a:r>
              <a:rPr lang="en-US" sz="1600" dirty="0">
                <a:solidFill>
                  <a:srgbClr val="A31515"/>
                </a:solidFill>
                <a:highlight>
                  <a:srgbClr val="FFFFFF"/>
                </a:highlight>
                <a:latin typeface="Consolas"/>
              </a:rPr>
              <a:t> is "</a:t>
            </a:r>
            <a:r>
              <a:rPr lang="en-US" sz="1600" dirty="0">
                <a:solidFill>
                  <a:srgbClr val="000000"/>
                </a:solidFill>
                <a:highlight>
                  <a:srgbClr val="FFFFFF"/>
                </a:highlight>
                <a:latin typeface="Consolas"/>
              </a:rPr>
              <a:t> &lt;&lt; </a:t>
            </a:r>
            <a:r>
              <a:rPr lang="en-US" sz="1600" dirty="0" err="1">
                <a:solidFill>
                  <a:srgbClr val="000000"/>
                </a:solidFill>
                <a:highlight>
                  <a:srgbClr val="FFFFFF"/>
                </a:highlight>
                <a:latin typeface="Consolas"/>
              </a:rPr>
              <a:t>firstvalue</a:t>
            </a:r>
            <a:r>
              <a:rPr lang="en-US" sz="1600" dirty="0">
                <a:solidFill>
                  <a:srgbClr val="000000"/>
                </a:solidFill>
                <a:highlight>
                  <a:srgbClr val="FFFFFF"/>
                </a:highlight>
                <a:latin typeface="Consolas"/>
              </a:rPr>
              <a:t> &lt;&lt; </a:t>
            </a:r>
            <a:r>
              <a:rPr lang="en-US" sz="1600" dirty="0">
                <a:solidFill>
                  <a:srgbClr val="A31515"/>
                </a:solidFill>
                <a:highlight>
                  <a:srgbClr val="FFFFFF"/>
                </a:highlight>
                <a:latin typeface="Consolas"/>
              </a:rPr>
              <a:t>'\n'</a:t>
            </a:r>
            <a:r>
              <a:rPr lang="en-US" sz="1600" dirty="0">
                <a:solidFill>
                  <a:srgbClr val="000000"/>
                </a:solidFill>
                <a:highlight>
                  <a:srgbClr val="FFFFFF"/>
                </a:highlight>
                <a:latin typeface="Consolas"/>
              </a:rPr>
              <a:t>;</a:t>
            </a:r>
          </a:p>
          <a:p>
            <a:pPr lvl="1"/>
            <a:r>
              <a:rPr lang="en-US" sz="1600" dirty="0" err="1">
                <a:solidFill>
                  <a:srgbClr val="000000"/>
                </a:solidFill>
                <a:highlight>
                  <a:srgbClr val="FFFFFF"/>
                </a:highlight>
                <a:latin typeface="Consolas"/>
              </a:rPr>
              <a:t>cout</a:t>
            </a:r>
            <a:r>
              <a:rPr lang="en-US" sz="1600" dirty="0">
                <a:solidFill>
                  <a:srgbClr val="000000"/>
                </a:solidFill>
                <a:highlight>
                  <a:srgbClr val="FFFFFF"/>
                </a:highlight>
                <a:latin typeface="Consolas"/>
              </a:rPr>
              <a:t> &lt;&lt; </a:t>
            </a:r>
            <a:r>
              <a:rPr lang="en-US" sz="1600" dirty="0">
                <a:solidFill>
                  <a:srgbClr val="A31515"/>
                </a:solidFill>
                <a:highlight>
                  <a:srgbClr val="FFFFFF"/>
                </a:highlight>
                <a:latin typeface="Consolas"/>
              </a:rPr>
              <a:t>"</a:t>
            </a:r>
            <a:r>
              <a:rPr lang="en-US" sz="1600" dirty="0" err="1">
                <a:solidFill>
                  <a:srgbClr val="A31515"/>
                </a:solidFill>
                <a:highlight>
                  <a:srgbClr val="FFFFFF"/>
                </a:highlight>
                <a:latin typeface="Consolas"/>
              </a:rPr>
              <a:t>secondvalue</a:t>
            </a:r>
            <a:r>
              <a:rPr lang="en-US" sz="1600" dirty="0">
                <a:solidFill>
                  <a:srgbClr val="A31515"/>
                </a:solidFill>
                <a:highlight>
                  <a:srgbClr val="FFFFFF"/>
                </a:highlight>
                <a:latin typeface="Consolas"/>
              </a:rPr>
              <a:t> is "</a:t>
            </a:r>
            <a:r>
              <a:rPr lang="en-US" sz="1600" dirty="0">
                <a:solidFill>
                  <a:srgbClr val="000000"/>
                </a:solidFill>
                <a:highlight>
                  <a:srgbClr val="FFFFFF"/>
                </a:highlight>
                <a:latin typeface="Consolas"/>
              </a:rPr>
              <a:t> &lt;&lt; </a:t>
            </a:r>
            <a:r>
              <a:rPr lang="en-US" sz="1600" dirty="0" err="1">
                <a:solidFill>
                  <a:srgbClr val="000000"/>
                </a:solidFill>
                <a:highlight>
                  <a:srgbClr val="FFFFFF"/>
                </a:highlight>
                <a:latin typeface="Consolas"/>
              </a:rPr>
              <a:t>secondvalue</a:t>
            </a:r>
            <a:r>
              <a:rPr lang="en-US" sz="1600" dirty="0">
                <a:solidFill>
                  <a:srgbClr val="000000"/>
                </a:solidFill>
                <a:highlight>
                  <a:srgbClr val="FFFFFF"/>
                </a:highlight>
                <a:latin typeface="Consolas"/>
              </a:rPr>
              <a:t> &lt;&lt; </a:t>
            </a:r>
            <a:r>
              <a:rPr lang="en-US" sz="1600" dirty="0">
                <a:solidFill>
                  <a:srgbClr val="A31515"/>
                </a:solidFill>
                <a:highlight>
                  <a:srgbClr val="FFFFFF"/>
                </a:highlight>
                <a:latin typeface="Consolas"/>
              </a:rPr>
              <a:t>'\n'</a:t>
            </a:r>
            <a:r>
              <a:rPr lang="en-US" sz="1600" dirty="0">
                <a:solidFill>
                  <a:srgbClr val="000000"/>
                </a:solidFill>
                <a:highlight>
                  <a:srgbClr val="FFFFFF"/>
                </a:highlight>
                <a:latin typeface="Consolas"/>
              </a:rPr>
              <a:t>;</a:t>
            </a:r>
          </a:p>
          <a:p>
            <a:pPr lvl="1"/>
            <a:r>
              <a:rPr lang="en-US" sz="1600" dirty="0">
                <a:solidFill>
                  <a:srgbClr val="0000FF"/>
                </a:solidFill>
                <a:highlight>
                  <a:srgbClr val="FFFFFF"/>
                </a:highlight>
                <a:latin typeface="Consolas"/>
              </a:rPr>
              <a:t>return</a:t>
            </a:r>
            <a:r>
              <a:rPr lang="en-US" sz="1600" dirty="0">
                <a:solidFill>
                  <a:srgbClr val="000000"/>
                </a:solidFill>
                <a:highlight>
                  <a:srgbClr val="FFFFFF"/>
                </a:highlight>
                <a:latin typeface="Consolas"/>
              </a:rPr>
              <a:t> 0;</a:t>
            </a:r>
          </a:p>
          <a:p>
            <a:r>
              <a:rPr lang="en-US" sz="1600" dirty="0">
                <a:solidFill>
                  <a:srgbClr val="000000"/>
                </a:solidFill>
                <a:highlight>
                  <a:srgbClr val="FFFFFF"/>
                </a:highlight>
                <a:latin typeface="Consolas"/>
              </a:rPr>
              <a:t>}</a:t>
            </a:r>
            <a:endParaRPr lang="en-US" sz="1600" dirty="0"/>
          </a:p>
        </p:txBody>
      </p:sp>
    </p:spTree>
    <p:extLst>
      <p:ext uri="{BB962C8B-B14F-4D97-AF65-F5344CB8AC3E}">
        <p14:creationId xmlns:p14="http://schemas.microsoft.com/office/powerpoint/2010/main" val="3868053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1 Solution</a:t>
            </a:r>
          </a:p>
        </p:txBody>
      </p:sp>
      <p:sp>
        <p:nvSpPr>
          <p:cNvPr id="4" name="Footer Placeholder 3"/>
          <p:cNvSpPr>
            <a:spLocks noGrp="1"/>
          </p:cNvSpPr>
          <p:nvPr>
            <p:ph type="ftr" sz="quarter" idx="11"/>
          </p:nvPr>
        </p:nvSpPr>
        <p:spPr/>
        <p:txBody>
          <a:bodyPr/>
          <a:lstStyle/>
          <a:p>
            <a:r>
              <a:rPr lang="en-US" altLang="zh-CN"/>
              <a:t>CSCI2520 Tutorial 1</a:t>
            </a:r>
            <a:endParaRPr lang="zh-CN" altLang="en-US"/>
          </a:p>
        </p:txBody>
      </p:sp>
      <p:pic>
        <p:nvPicPr>
          <p:cNvPr id="9" name="Picture 8"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8224" y="1628800"/>
            <a:ext cx="1981477" cy="466790"/>
          </a:xfrm>
          <a:prstGeom prst="rect">
            <a:avLst/>
          </a:prstGeom>
        </p:spPr>
      </p:pic>
      <p:sp>
        <p:nvSpPr>
          <p:cNvPr id="10" name="TextBox 9"/>
          <p:cNvSpPr txBox="1"/>
          <p:nvPr/>
        </p:nvSpPr>
        <p:spPr>
          <a:xfrm>
            <a:off x="539552" y="2852936"/>
            <a:ext cx="184731" cy="369332"/>
          </a:xfrm>
          <a:prstGeom prst="rect">
            <a:avLst/>
          </a:prstGeom>
          <a:noFill/>
        </p:spPr>
        <p:txBody>
          <a:bodyPr wrap="none" rtlCol="0">
            <a:spAutoFit/>
          </a:bodyPr>
          <a:lstStyle/>
          <a:p>
            <a:endParaRPr lang="en-US" dirty="0"/>
          </a:p>
        </p:txBody>
      </p:sp>
      <p:sp>
        <p:nvSpPr>
          <p:cNvPr id="11" name="TextBox 10"/>
          <p:cNvSpPr txBox="1"/>
          <p:nvPr/>
        </p:nvSpPr>
        <p:spPr>
          <a:xfrm>
            <a:off x="395536" y="2133431"/>
            <a:ext cx="8388835" cy="4031873"/>
          </a:xfrm>
          <a:prstGeom prst="rect">
            <a:avLst/>
          </a:prstGeom>
          <a:noFill/>
        </p:spPr>
        <p:txBody>
          <a:bodyPr wrap="none" rtlCol="0">
            <a:spAutoFit/>
          </a:bodyPr>
          <a:lstStyle/>
          <a:p>
            <a:r>
              <a:rPr lang="en-US" sz="1600" dirty="0" err="1">
                <a:solidFill>
                  <a:srgbClr val="0000FF"/>
                </a:solidFill>
                <a:highlight>
                  <a:srgbClr val="FFFFFF"/>
                </a:highlight>
                <a:latin typeface="Consolas"/>
              </a:rPr>
              <a:t>int</a:t>
            </a:r>
            <a:r>
              <a:rPr lang="en-US" sz="1600" dirty="0">
                <a:solidFill>
                  <a:srgbClr val="000000"/>
                </a:solidFill>
                <a:highlight>
                  <a:srgbClr val="FFFFFF"/>
                </a:highlight>
                <a:latin typeface="Consolas"/>
              </a:rPr>
              <a:t> main()</a:t>
            </a:r>
          </a:p>
          <a:p>
            <a:r>
              <a:rPr lang="en-US" sz="1600" dirty="0">
                <a:solidFill>
                  <a:srgbClr val="000000"/>
                </a:solidFill>
                <a:highlight>
                  <a:srgbClr val="FFFFFF"/>
                </a:highlight>
                <a:latin typeface="Consolas"/>
              </a:rPr>
              <a:t>{</a:t>
            </a:r>
          </a:p>
          <a:p>
            <a:pPr lvl="1"/>
            <a:r>
              <a:rPr lang="en-US" sz="1600" dirty="0" err="1">
                <a:solidFill>
                  <a:srgbClr val="0000FF"/>
                </a:solidFill>
                <a:highlight>
                  <a:srgbClr val="FFFFFF"/>
                </a:highlight>
                <a:latin typeface="Consolas"/>
              </a:rPr>
              <a:t>int</a:t>
            </a:r>
            <a:r>
              <a:rPr lang="en-US" sz="1600" dirty="0">
                <a:solidFill>
                  <a:srgbClr val="000000"/>
                </a:solidFill>
                <a:highlight>
                  <a:srgbClr val="FFFFFF"/>
                </a:highlight>
                <a:latin typeface="Consolas"/>
              </a:rPr>
              <a:t> </a:t>
            </a:r>
            <a:r>
              <a:rPr lang="en-US" sz="1600" dirty="0" err="1">
                <a:solidFill>
                  <a:srgbClr val="000000"/>
                </a:solidFill>
                <a:highlight>
                  <a:srgbClr val="FFFFFF"/>
                </a:highlight>
                <a:latin typeface="Consolas"/>
              </a:rPr>
              <a:t>firstvalue</a:t>
            </a:r>
            <a:r>
              <a:rPr lang="en-US" sz="1600" dirty="0">
                <a:solidFill>
                  <a:srgbClr val="000000"/>
                </a:solidFill>
                <a:highlight>
                  <a:srgbClr val="FFFFFF"/>
                </a:highlight>
                <a:latin typeface="Consolas"/>
              </a:rPr>
              <a:t> = 5, </a:t>
            </a:r>
            <a:r>
              <a:rPr lang="en-US" sz="1600" dirty="0" err="1">
                <a:solidFill>
                  <a:srgbClr val="000000"/>
                </a:solidFill>
                <a:highlight>
                  <a:srgbClr val="FFFFFF"/>
                </a:highlight>
                <a:latin typeface="Consolas"/>
              </a:rPr>
              <a:t>secondvalue</a:t>
            </a:r>
            <a:r>
              <a:rPr lang="en-US" sz="1600" dirty="0">
                <a:solidFill>
                  <a:srgbClr val="000000"/>
                </a:solidFill>
                <a:highlight>
                  <a:srgbClr val="FFFFFF"/>
                </a:highlight>
                <a:latin typeface="Consolas"/>
              </a:rPr>
              <a:t> = 15;</a:t>
            </a:r>
          </a:p>
          <a:p>
            <a:pPr lvl="1"/>
            <a:r>
              <a:rPr lang="en-US" sz="1600" dirty="0">
                <a:solidFill>
                  <a:srgbClr val="0000FF"/>
                </a:solidFill>
                <a:highlight>
                  <a:srgbClr val="FFFFFF"/>
                </a:highlight>
                <a:latin typeface="Consolas"/>
              </a:rPr>
              <a:t>int</a:t>
            </a:r>
            <a:r>
              <a:rPr lang="en-US" sz="1600" dirty="0">
                <a:solidFill>
                  <a:srgbClr val="000000"/>
                </a:solidFill>
                <a:highlight>
                  <a:srgbClr val="FFFFFF"/>
                </a:highlight>
                <a:latin typeface="Consolas"/>
              </a:rPr>
              <a:t> *p1, *p2;</a:t>
            </a:r>
          </a:p>
          <a:p>
            <a:pPr lvl="1"/>
            <a:endParaRPr lang="en-US" sz="1600" dirty="0">
              <a:solidFill>
                <a:srgbClr val="000000"/>
              </a:solidFill>
              <a:highlight>
                <a:srgbClr val="FFFFFF"/>
              </a:highlight>
              <a:latin typeface="Consolas"/>
            </a:endParaRPr>
          </a:p>
          <a:p>
            <a:pPr lvl="1"/>
            <a:r>
              <a:rPr lang="en-US" sz="1600" dirty="0">
                <a:solidFill>
                  <a:srgbClr val="000000"/>
                </a:solidFill>
                <a:highlight>
                  <a:srgbClr val="FFFFFF"/>
                </a:highlight>
                <a:latin typeface="Consolas"/>
              </a:rPr>
              <a:t>p1 = &amp;</a:t>
            </a:r>
            <a:r>
              <a:rPr lang="en-US" sz="1600" dirty="0" err="1">
                <a:solidFill>
                  <a:srgbClr val="000000"/>
                </a:solidFill>
                <a:highlight>
                  <a:srgbClr val="FFFFFF"/>
                </a:highlight>
                <a:latin typeface="Consolas"/>
              </a:rPr>
              <a:t>firstvalue</a:t>
            </a:r>
            <a:r>
              <a:rPr lang="en-US" sz="1600" dirty="0">
                <a:solidFill>
                  <a:srgbClr val="000000"/>
                </a:solidFill>
                <a:highlight>
                  <a:srgbClr val="FFFFFF"/>
                </a:highlight>
                <a:latin typeface="Consolas"/>
              </a:rPr>
              <a:t>;  </a:t>
            </a:r>
            <a:r>
              <a:rPr lang="en-US" sz="1600" dirty="0">
                <a:solidFill>
                  <a:srgbClr val="008000"/>
                </a:solidFill>
                <a:highlight>
                  <a:srgbClr val="FFFFFF"/>
                </a:highlight>
                <a:latin typeface="Consolas"/>
              </a:rPr>
              <a:t>// p1 = address of </a:t>
            </a:r>
            <a:r>
              <a:rPr lang="en-US" sz="1600" dirty="0" err="1">
                <a:solidFill>
                  <a:srgbClr val="008000"/>
                </a:solidFill>
                <a:highlight>
                  <a:srgbClr val="FFFFFF"/>
                </a:highlight>
                <a:latin typeface="Consolas"/>
              </a:rPr>
              <a:t>firstvalue</a:t>
            </a:r>
            <a:endParaRPr lang="en-US" sz="1600" dirty="0">
              <a:solidFill>
                <a:srgbClr val="000000"/>
              </a:solidFill>
              <a:highlight>
                <a:srgbClr val="FFFFFF"/>
              </a:highlight>
              <a:latin typeface="Consolas"/>
            </a:endParaRPr>
          </a:p>
          <a:p>
            <a:pPr lvl="1"/>
            <a:r>
              <a:rPr lang="en-US" sz="1600" dirty="0">
                <a:solidFill>
                  <a:srgbClr val="000000"/>
                </a:solidFill>
                <a:highlight>
                  <a:srgbClr val="FFFFFF"/>
                </a:highlight>
                <a:latin typeface="Consolas"/>
              </a:rPr>
              <a:t>p2 = &amp;</a:t>
            </a:r>
            <a:r>
              <a:rPr lang="en-US" sz="1600" dirty="0" err="1">
                <a:solidFill>
                  <a:srgbClr val="000000"/>
                </a:solidFill>
                <a:highlight>
                  <a:srgbClr val="FFFFFF"/>
                </a:highlight>
                <a:latin typeface="Consolas"/>
              </a:rPr>
              <a:t>secondvalue</a:t>
            </a:r>
            <a:r>
              <a:rPr lang="en-US" sz="1600" dirty="0">
                <a:solidFill>
                  <a:srgbClr val="000000"/>
                </a:solidFill>
                <a:highlight>
                  <a:srgbClr val="FFFFFF"/>
                </a:highlight>
                <a:latin typeface="Consolas"/>
              </a:rPr>
              <a:t>; </a:t>
            </a:r>
            <a:r>
              <a:rPr lang="en-US" sz="1600" dirty="0">
                <a:solidFill>
                  <a:srgbClr val="008000"/>
                </a:solidFill>
                <a:highlight>
                  <a:srgbClr val="FFFFFF"/>
                </a:highlight>
                <a:latin typeface="Consolas"/>
              </a:rPr>
              <a:t>// p2 = address of </a:t>
            </a:r>
            <a:r>
              <a:rPr lang="en-US" sz="1600" dirty="0" err="1">
                <a:solidFill>
                  <a:srgbClr val="008000"/>
                </a:solidFill>
                <a:highlight>
                  <a:srgbClr val="FFFFFF"/>
                </a:highlight>
                <a:latin typeface="Consolas"/>
              </a:rPr>
              <a:t>secondvalue</a:t>
            </a:r>
            <a:endParaRPr lang="en-US" sz="1600" dirty="0">
              <a:solidFill>
                <a:srgbClr val="000000"/>
              </a:solidFill>
              <a:highlight>
                <a:srgbClr val="FFFFFF"/>
              </a:highlight>
              <a:latin typeface="Consolas"/>
            </a:endParaRPr>
          </a:p>
          <a:p>
            <a:pPr lvl="1"/>
            <a:r>
              <a:rPr lang="en-US" sz="1600" dirty="0">
                <a:solidFill>
                  <a:srgbClr val="000000"/>
                </a:solidFill>
                <a:highlight>
                  <a:srgbClr val="FFFFFF"/>
                </a:highlight>
                <a:latin typeface="Consolas"/>
              </a:rPr>
              <a:t>*p1 = 10;          </a:t>
            </a:r>
            <a:r>
              <a:rPr lang="en-US" sz="1600" dirty="0">
                <a:solidFill>
                  <a:srgbClr val="008000"/>
                </a:solidFill>
                <a:highlight>
                  <a:srgbClr val="FFFFFF"/>
                </a:highlight>
                <a:latin typeface="Consolas"/>
              </a:rPr>
              <a:t>// value pointed to by p1 = 10</a:t>
            </a:r>
            <a:endParaRPr lang="en-US" sz="1600" dirty="0">
              <a:solidFill>
                <a:srgbClr val="000000"/>
              </a:solidFill>
              <a:highlight>
                <a:srgbClr val="FFFFFF"/>
              </a:highlight>
              <a:latin typeface="Consolas"/>
            </a:endParaRPr>
          </a:p>
          <a:p>
            <a:pPr lvl="1"/>
            <a:r>
              <a:rPr lang="en-US" sz="1600" dirty="0">
                <a:solidFill>
                  <a:srgbClr val="000000"/>
                </a:solidFill>
                <a:highlight>
                  <a:srgbClr val="FFFFFF"/>
                </a:highlight>
                <a:latin typeface="Consolas"/>
              </a:rPr>
              <a:t>*p2 = *p1;         </a:t>
            </a:r>
            <a:r>
              <a:rPr lang="en-US" sz="1600" dirty="0">
                <a:solidFill>
                  <a:srgbClr val="008000"/>
                </a:solidFill>
                <a:highlight>
                  <a:srgbClr val="FFFFFF"/>
                </a:highlight>
                <a:latin typeface="Consolas"/>
              </a:rPr>
              <a:t>// value pointed to by p2 = value pointed to by p1</a:t>
            </a:r>
            <a:endParaRPr lang="en-US" sz="1600" dirty="0">
              <a:solidFill>
                <a:srgbClr val="000000"/>
              </a:solidFill>
              <a:highlight>
                <a:srgbClr val="FFFFFF"/>
              </a:highlight>
              <a:latin typeface="Consolas"/>
            </a:endParaRPr>
          </a:p>
          <a:p>
            <a:pPr lvl="1"/>
            <a:r>
              <a:rPr lang="en-US" sz="1600" dirty="0">
                <a:solidFill>
                  <a:srgbClr val="000000"/>
                </a:solidFill>
                <a:highlight>
                  <a:srgbClr val="FFFFFF"/>
                </a:highlight>
                <a:latin typeface="Consolas"/>
              </a:rPr>
              <a:t>p1 = p2;           </a:t>
            </a:r>
            <a:r>
              <a:rPr lang="en-US" sz="1600" dirty="0">
                <a:solidFill>
                  <a:srgbClr val="008000"/>
                </a:solidFill>
                <a:highlight>
                  <a:srgbClr val="FFFFFF"/>
                </a:highlight>
                <a:latin typeface="Consolas"/>
              </a:rPr>
              <a:t>// p1 = p2 (value of pointer is copied)</a:t>
            </a:r>
            <a:endParaRPr lang="en-US" sz="1600" dirty="0">
              <a:solidFill>
                <a:srgbClr val="000000"/>
              </a:solidFill>
              <a:highlight>
                <a:srgbClr val="FFFFFF"/>
              </a:highlight>
              <a:latin typeface="Consolas"/>
            </a:endParaRPr>
          </a:p>
          <a:p>
            <a:pPr lvl="1"/>
            <a:r>
              <a:rPr lang="en-US" sz="1600" dirty="0">
                <a:solidFill>
                  <a:srgbClr val="000000"/>
                </a:solidFill>
                <a:highlight>
                  <a:srgbClr val="FFFFFF"/>
                </a:highlight>
                <a:latin typeface="Consolas"/>
              </a:rPr>
              <a:t>*p1 = 20;          </a:t>
            </a:r>
            <a:r>
              <a:rPr lang="en-US" sz="1600" dirty="0">
                <a:solidFill>
                  <a:srgbClr val="008000"/>
                </a:solidFill>
                <a:highlight>
                  <a:srgbClr val="FFFFFF"/>
                </a:highlight>
                <a:latin typeface="Consolas"/>
              </a:rPr>
              <a:t>// value pointed to by p1 = 20</a:t>
            </a:r>
            <a:endParaRPr lang="en-US" sz="1600" dirty="0">
              <a:solidFill>
                <a:srgbClr val="000000"/>
              </a:solidFill>
              <a:highlight>
                <a:srgbClr val="FFFFFF"/>
              </a:highlight>
              <a:latin typeface="Consolas"/>
            </a:endParaRPr>
          </a:p>
          <a:p>
            <a:pPr lvl="1"/>
            <a:endParaRPr lang="en-US" sz="1600" dirty="0">
              <a:solidFill>
                <a:srgbClr val="000000"/>
              </a:solidFill>
              <a:highlight>
                <a:srgbClr val="FFFFFF"/>
              </a:highlight>
              <a:latin typeface="Consolas"/>
            </a:endParaRPr>
          </a:p>
          <a:p>
            <a:pPr lvl="1"/>
            <a:r>
              <a:rPr lang="en-US" sz="1600" dirty="0" err="1">
                <a:solidFill>
                  <a:srgbClr val="000000"/>
                </a:solidFill>
                <a:highlight>
                  <a:srgbClr val="FFFFFF"/>
                </a:highlight>
                <a:latin typeface="Consolas"/>
              </a:rPr>
              <a:t>cout</a:t>
            </a:r>
            <a:r>
              <a:rPr lang="en-US" sz="1600" dirty="0">
                <a:solidFill>
                  <a:srgbClr val="000000"/>
                </a:solidFill>
                <a:highlight>
                  <a:srgbClr val="FFFFFF"/>
                </a:highlight>
                <a:latin typeface="Consolas"/>
              </a:rPr>
              <a:t> &lt;&lt; </a:t>
            </a:r>
            <a:r>
              <a:rPr lang="en-US" sz="1600" dirty="0">
                <a:solidFill>
                  <a:srgbClr val="A31515"/>
                </a:solidFill>
                <a:highlight>
                  <a:srgbClr val="FFFFFF"/>
                </a:highlight>
                <a:latin typeface="Consolas"/>
              </a:rPr>
              <a:t>"</a:t>
            </a:r>
            <a:r>
              <a:rPr lang="en-US" sz="1600" dirty="0" err="1">
                <a:solidFill>
                  <a:srgbClr val="A31515"/>
                </a:solidFill>
                <a:highlight>
                  <a:srgbClr val="FFFFFF"/>
                </a:highlight>
                <a:latin typeface="Consolas"/>
              </a:rPr>
              <a:t>firstvalue</a:t>
            </a:r>
            <a:r>
              <a:rPr lang="en-US" sz="1600" dirty="0">
                <a:solidFill>
                  <a:srgbClr val="A31515"/>
                </a:solidFill>
                <a:highlight>
                  <a:srgbClr val="FFFFFF"/>
                </a:highlight>
                <a:latin typeface="Consolas"/>
              </a:rPr>
              <a:t> is "</a:t>
            </a:r>
            <a:r>
              <a:rPr lang="en-US" sz="1600" dirty="0">
                <a:solidFill>
                  <a:srgbClr val="000000"/>
                </a:solidFill>
                <a:highlight>
                  <a:srgbClr val="FFFFFF"/>
                </a:highlight>
                <a:latin typeface="Consolas"/>
              </a:rPr>
              <a:t> &lt;&lt; </a:t>
            </a:r>
            <a:r>
              <a:rPr lang="en-US" sz="1600" dirty="0" err="1">
                <a:solidFill>
                  <a:srgbClr val="000000"/>
                </a:solidFill>
                <a:highlight>
                  <a:srgbClr val="FFFFFF"/>
                </a:highlight>
                <a:latin typeface="Consolas"/>
              </a:rPr>
              <a:t>firstvalue</a:t>
            </a:r>
            <a:r>
              <a:rPr lang="en-US" sz="1600" dirty="0">
                <a:solidFill>
                  <a:srgbClr val="000000"/>
                </a:solidFill>
                <a:highlight>
                  <a:srgbClr val="FFFFFF"/>
                </a:highlight>
                <a:latin typeface="Consolas"/>
              </a:rPr>
              <a:t> &lt;&lt; </a:t>
            </a:r>
            <a:r>
              <a:rPr lang="en-US" sz="1600" dirty="0">
                <a:solidFill>
                  <a:srgbClr val="A31515"/>
                </a:solidFill>
                <a:highlight>
                  <a:srgbClr val="FFFFFF"/>
                </a:highlight>
                <a:latin typeface="Consolas"/>
              </a:rPr>
              <a:t>'\n'</a:t>
            </a:r>
            <a:r>
              <a:rPr lang="en-US" sz="1600" dirty="0">
                <a:solidFill>
                  <a:srgbClr val="000000"/>
                </a:solidFill>
                <a:highlight>
                  <a:srgbClr val="FFFFFF"/>
                </a:highlight>
                <a:latin typeface="Consolas"/>
              </a:rPr>
              <a:t>;</a:t>
            </a:r>
          </a:p>
          <a:p>
            <a:pPr lvl="1"/>
            <a:r>
              <a:rPr lang="en-US" sz="1600" dirty="0" err="1">
                <a:solidFill>
                  <a:srgbClr val="000000"/>
                </a:solidFill>
                <a:highlight>
                  <a:srgbClr val="FFFFFF"/>
                </a:highlight>
                <a:latin typeface="Consolas"/>
              </a:rPr>
              <a:t>cout</a:t>
            </a:r>
            <a:r>
              <a:rPr lang="en-US" sz="1600" dirty="0">
                <a:solidFill>
                  <a:srgbClr val="000000"/>
                </a:solidFill>
                <a:highlight>
                  <a:srgbClr val="FFFFFF"/>
                </a:highlight>
                <a:latin typeface="Consolas"/>
              </a:rPr>
              <a:t> &lt;&lt; </a:t>
            </a:r>
            <a:r>
              <a:rPr lang="en-US" sz="1600" dirty="0">
                <a:solidFill>
                  <a:srgbClr val="A31515"/>
                </a:solidFill>
                <a:highlight>
                  <a:srgbClr val="FFFFFF"/>
                </a:highlight>
                <a:latin typeface="Consolas"/>
              </a:rPr>
              <a:t>"</a:t>
            </a:r>
            <a:r>
              <a:rPr lang="en-US" sz="1600" dirty="0" err="1">
                <a:solidFill>
                  <a:srgbClr val="A31515"/>
                </a:solidFill>
                <a:highlight>
                  <a:srgbClr val="FFFFFF"/>
                </a:highlight>
                <a:latin typeface="Consolas"/>
              </a:rPr>
              <a:t>secondvalue</a:t>
            </a:r>
            <a:r>
              <a:rPr lang="en-US" sz="1600" dirty="0">
                <a:solidFill>
                  <a:srgbClr val="A31515"/>
                </a:solidFill>
                <a:highlight>
                  <a:srgbClr val="FFFFFF"/>
                </a:highlight>
                <a:latin typeface="Consolas"/>
              </a:rPr>
              <a:t> is "</a:t>
            </a:r>
            <a:r>
              <a:rPr lang="en-US" sz="1600" dirty="0">
                <a:solidFill>
                  <a:srgbClr val="000000"/>
                </a:solidFill>
                <a:highlight>
                  <a:srgbClr val="FFFFFF"/>
                </a:highlight>
                <a:latin typeface="Consolas"/>
              </a:rPr>
              <a:t> &lt;&lt; </a:t>
            </a:r>
            <a:r>
              <a:rPr lang="en-US" sz="1600" dirty="0" err="1">
                <a:solidFill>
                  <a:srgbClr val="000000"/>
                </a:solidFill>
                <a:highlight>
                  <a:srgbClr val="FFFFFF"/>
                </a:highlight>
                <a:latin typeface="Consolas"/>
              </a:rPr>
              <a:t>secondvalue</a:t>
            </a:r>
            <a:r>
              <a:rPr lang="en-US" sz="1600" dirty="0">
                <a:solidFill>
                  <a:srgbClr val="000000"/>
                </a:solidFill>
                <a:highlight>
                  <a:srgbClr val="FFFFFF"/>
                </a:highlight>
                <a:latin typeface="Consolas"/>
              </a:rPr>
              <a:t> &lt;&lt; </a:t>
            </a:r>
            <a:r>
              <a:rPr lang="en-US" sz="1600" dirty="0">
                <a:solidFill>
                  <a:srgbClr val="A31515"/>
                </a:solidFill>
                <a:highlight>
                  <a:srgbClr val="FFFFFF"/>
                </a:highlight>
                <a:latin typeface="Consolas"/>
              </a:rPr>
              <a:t>'\n'</a:t>
            </a:r>
            <a:r>
              <a:rPr lang="en-US" sz="1600" dirty="0">
                <a:solidFill>
                  <a:srgbClr val="000000"/>
                </a:solidFill>
                <a:highlight>
                  <a:srgbClr val="FFFFFF"/>
                </a:highlight>
                <a:latin typeface="Consolas"/>
              </a:rPr>
              <a:t>;</a:t>
            </a:r>
          </a:p>
          <a:p>
            <a:pPr lvl="1"/>
            <a:r>
              <a:rPr lang="en-US" sz="1600" dirty="0">
                <a:solidFill>
                  <a:srgbClr val="0000FF"/>
                </a:solidFill>
                <a:highlight>
                  <a:srgbClr val="FFFFFF"/>
                </a:highlight>
                <a:latin typeface="Consolas"/>
              </a:rPr>
              <a:t>return</a:t>
            </a:r>
            <a:r>
              <a:rPr lang="en-US" sz="1600" dirty="0">
                <a:solidFill>
                  <a:srgbClr val="000000"/>
                </a:solidFill>
                <a:highlight>
                  <a:srgbClr val="FFFFFF"/>
                </a:highlight>
                <a:latin typeface="Consolas"/>
              </a:rPr>
              <a:t> 0;</a:t>
            </a:r>
          </a:p>
          <a:p>
            <a:r>
              <a:rPr lang="en-US" sz="1600" dirty="0">
                <a:solidFill>
                  <a:srgbClr val="000000"/>
                </a:solidFill>
                <a:highlight>
                  <a:srgbClr val="FFFFFF"/>
                </a:highlight>
                <a:latin typeface="Consolas"/>
              </a:rPr>
              <a:t>}</a:t>
            </a:r>
            <a:endParaRPr lang="en-US" sz="1600" dirty="0"/>
          </a:p>
        </p:txBody>
      </p:sp>
    </p:spTree>
    <p:extLst>
      <p:ext uri="{BB962C8B-B14F-4D97-AF65-F5344CB8AC3E}">
        <p14:creationId xmlns:p14="http://schemas.microsoft.com/office/powerpoint/2010/main" val="942712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Pointer &amp; Array</a:t>
            </a:r>
          </a:p>
        </p:txBody>
      </p:sp>
      <p:sp>
        <p:nvSpPr>
          <p:cNvPr id="4" name="Footer Placeholder 3"/>
          <p:cNvSpPr>
            <a:spLocks noGrp="1"/>
          </p:cNvSpPr>
          <p:nvPr>
            <p:ph type="ftr" sz="quarter" idx="11"/>
          </p:nvPr>
        </p:nvSpPr>
        <p:spPr/>
        <p:txBody>
          <a:bodyPr/>
          <a:lstStyle/>
          <a:p>
            <a:r>
              <a:rPr lang="en-US" altLang="zh-CN"/>
              <a:t>CSCI2520 Tutorial 1</a:t>
            </a:r>
            <a:endParaRPr lang="zh-CN" altLang="en-US"/>
          </a:p>
        </p:txBody>
      </p:sp>
      <p:sp>
        <p:nvSpPr>
          <p:cNvPr id="6" name="Slide Number Placeholder 3"/>
          <p:cNvSpPr>
            <a:spLocks noGrp="1"/>
          </p:cNvSpPr>
          <p:nvPr>
            <p:ph type="sldNum" sz="quarter" idx="10"/>
          </p:nvPr>
        </p:nvSpPr>
        <p:spPr>
          <a:xfrm>
            <a:off x="7924800" y="6400800"/>
            <a:ext cx="1219200" cy="30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727272"/>
                </a:solidFill>
                <a:latin typeface="Calibri" pitchFamily="34" charset="0"/>
                <a:ea typeface="新細明體" pitchFamily="18" charset="-120"/>
                <a:sym typeface="Marker Felt"/>
              </a:defRPr>
            </a:lvl1pPr>
            <a:lvl2pPr marL="742950" indent="-285750">
              <a:defRPr sz="2800">
                <a:solidFill>
                  <a:srgbClr val="727272"/>
                </a:solidFill>
                <a:latin typeface="Calibri" pitchFamily="34" charset="0"/>
                <a:ea typeface="新細明體" pitchFamily="18" charset="-120"/>
                <a:sym typeface="Marker Felt"/>
              </a:defRPr>
            </a:lvl2pPr>
            <a:lvl3pPr marL="1143000" indent="-228600">
              <a:defRPr sz="2800">
                <a:solidFill>
                  <a:srgbClr val="727272"/>
                </a:solidFill>
                <a:latin typeface="Calibri" pitchFamily="34" charset="0"/>
                <a:ea typeface="新細明體" pitchFamily="18" charset="-120"/>
                <a:sym typeface="Marker Felt"/>
              </a:defRPr>
            </a:lvl3pPr>
            <a:lvl4pPr marL="1600200" indent="-228600">
              <a:defRPr sz="2800">
                <a:solidFill>
                  <a:srgbClr val="727272"/>
                </a:solidFill>
                <a:latin typeface="Calibri" pitchFamily="34" charset="0"/>
                <a:ea typeface="新細明體" pitchFamily="18" charset="-120"/>
                <a:sym typeface="Marker Felt"/>
              </a:defRPr>
            </a:lvl4pPr>
            <a:lvl5pPr marL="2057400" indent="-228600">
              <a:defRPr sz="2800">
                <a:solidFill>
                  <a:srgbClr val="727272"/>
                </a:solidFill>
                <a:latin typeface="Calibri" pitchFamily="34" charset="0"/>
                <a:ea typeface="新細明體" pitchFamily="18" charset="-120"/>
                <a:sym typeface="Marker Felt"/>
              </a:defRPr>
            </a:lvl5pPr>
            <a:lvl6pPr marL="2514600" indent="-228600" eaLnBrk="0" fontAlgn="base" hangingPunct="0">
              <a:spcBef>
                <a:spcPct val="0"/>
              </a:spcBef>
              <a:spcAft>
                <a:spcPct val="0"/>
              </a:spcAft>
              <a:defRPr sz="2800">
                <a:solidFill>
                  <a:srgbClr val="727272"/>
                </a:solidFill>
                <a:latin typeface="Calibri" pitchFamily="34" charset="0"/>
                <a:ea typeface="新細明體" pitchFamily="18" charset="-120"/>
                <a:sym typeface="Marker Felt"/>
              </a:defRPr>
            </a:lvl6pPr>
            <a:lvl7pPr marL="2971800" indent="-228600" eaLnBrk="0" fontAlgn="base" hangingPunct="0">
              <a:spcBef>
                <a:spcPct val="0"/>
              </a:spcBef>
              <a:spcAft>
                <a:spcPct val="0"/>
              </a:spcAft>
              <a:defRPr sz="2800">
                <a:solidFill>
                  <a:srgbClr val="727272"/>
                </a:solidFill>
                <a:latin typeface="Calibri" pitchFamily="34" charset="0"/>
                <a:ea typeface="新細明體" pitchFamily="18" charset="-120"/>
                <a:sym typeface="Marker Felt"/>
              </a:defRPr>
            </a:lvl7pPr>
            <a:lvl8pPr marL="3429000" indent="-228600" eaLnBrk="0" fontAlgn="base" hangingPunct="0">
              <a:spcBef>
                <a:spcPct val="0"/>
              </a:spcBef>
              <a:spcAft>
                <a:spcPct val="0"/>
              </a:spcAft>
              <a:defRPr sz="2800">
                <a:solidFill>
                  <a:srgbClr val="727272"/>
                </a:solidFill>
                <a:latin typeface="Calibri" pitchFamily="34" charset="0"/>
                <a:ea typeface="新細明體" pitchFamily="18" charset="-120"/>
                <a:sym typeface="Marker Felt"/>
              </a:defRPr>
            </a:lvl8pPr>
            <a:lvl9pPr marL="3886200" indent="-228600" eaLnBrk="0" fontAlgn="base" hangingPunct="0">
              <a:spcBef>
                <a:spcPct val="0"/>
              </a:spcBef>
              <a:spcAft>
                <a:spcPct val="0"/>
              </a:spcAft>
              <a:defRPr sz="2800">
                <a:solidFill>
                  <a:srgbClr val="727272"/>
                </a:solidFill>
                <a:latin typeface="Calibri" pitchFamily="34" charset="0"/>
                <a:ea typeface="新細明體" pitchFamily="18" charset="-120"/>
                <a:sym typeface="Marker Felt"/>
              </a:defRPr>
            </a:lvl9pPr>
          </a:lstStyle>
          <a:p>
            <a:r>
              <a:rPr lang="en-US" altLang="zh-TW" sz="1400">
                <a:solidFill>
                  <a:schemeClr val="tx1"/>
                </a:solidFill>
              </a:rPr>
              <a:t>Page </a:t>
            </a:r>
            <a:fld id="{25F432C2-ACA3-4110-B130-98E20232DFCA}" type="slidenum">
              <a:rPr lang="en-US" altLang="zh-TW" sz="1400" smtClean="0">
                <a:solidFill>
                  <a:schemeClr val="tx1"/>
                </a:solidFill>
              </a:rPr>
              <a:pPr/>
              <a:t>12</a:t>
            </a:fld>
            <a:endParaRPr lang="en-US" altLang="zh-TW" sz="1400">
              <a:solidFill>
                <a:schemeClr val="tx1"/>
              </a:solidFill>
            </a:endParaRPr>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2636912"/>
            <a:ext cx="2541588" cy="676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7050" y="3505200"/>
            <a:ext cx="2695575" cy="434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4752975"/>
            <a:ext cx="5532438" cy="68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10"/>
          <p:cNvSpPr txBox="1"/>
          <p:nvPr/>
        </p:nvSpPr>
        <p:spPr>
          <a:xfrm>
            <a:off x="6095132" y="4197350"/>
            <a:ext cx="1573212" cy="461665"/>
          </a:xfrm>
          <a:prstGeom prst="rect">
            <a:avLst/>
          </a:prstGeom>
          <a:noFill/>
          <a:ln>
            <a:noFill/>
          </a:ln>
        </p:spPr>
        <p:txBody>
          <a:bodyPr>
            <a:spAutoFit/>
          </a:bodyPr>
          <a:lstStyle/>
          <a:p>
            <a:pPr>
              <a:defRPr/>
            </a:pPr>
            <a:r>
              <a:rPr lang="en-US" sz="2400" b="1" dirty="0">
                <a:solidFill>
                  <a:srgbClr val="FF0000"/>
                </a:solidFill>
              </a:rPr>
              <a:t>equivalent</a:t>
            </a:r>
          </a:p>
        </p:txBody>
      </p:sp>
      <p:cxnSp>
        <p:nvCxnSpPr>
          <p:cNvPr id="12" name="Straight Arrow Connector 11"/>
          <p:cNvCxnSpPr/>
          <p:nvPr/>
        </p:nvCxnSpPr>
        <p:spPr bwMode="auto">
          <a:xfrm flipV="1">
            <a:off x="5132388" y="4491038"/>
            <a:ext cx="914400" cy="292100"/>
          </a:xfrm>
          <a:prstGeom prst="straightConnector1">
            <a:avLst/>
          </a:prstGeom>
          <a:solidFill>
            <a:schemeClr val="accent1"/>
          </a:solidFill>
          <a:ln w="2540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2123964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2</a:t>
            </a:r>
          </a:p>
        </p:txBody>
      </p:sp>
      <p:sp>
        <p:nvSpPr>
          <p:cNvPr id="4" name="Footer Placeholder 3"/>
          <p:cNvSpPr>
            <a:spLocks noGrp="1"/>
          </p:cNvSpPr>
          <p:nvPr>
            <p:ph type="ftr" sz="quarter" idx="11"/>
          </p:nvPr>
        </p:nvSpPr>
        <p:spPr/>
        <p:txBody>
          <a:bodyPr/>
          <a:lstStyle/>
          <a:p>
            <a:r>
              <a:rPr lang="en-US" altLang="zh-CN"/>
              <a:t>CSCI2520 Tutorial 1</a:t>
            </a:r>
            <a:endParaRPr lang="zh-CN" altLang="en-US"/>
          </a:p>
        </p:txBody>
      </p:sp>
      <p:sp>
        <p:nvSpPr>
          <p:cNvPr id="8" name="Content Placeholder 2"/>
          <p:cNvSpPr txBox="1">
            <a:spLocks/>
          </p:cNvSpPr>
          <p:nvPr/>
        </p:nvSpPr>
        <p:spPr>
          <a:xfrm>
            <a:off x="467544" y="1556792"/>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What is the output?</a:t>
            </a:r>
          </a:p>
        </p:txBody>
      </p:sp>
      <p:sp>
        <p:nvSpPr>
          <p:cNvPr id="10" name="TextBox 9"/>
          <p:cNvSpPr txBox="1"/>
          <p:nvPr/>
        </p:nvSpPr>
        <p:spPr>
          <a:xfrm>
            <a:off x="2483768" y="2276872"/>
            <a:ext cx="4527201" cy="3693319"/>
          </a:xfrm>
          <a:prstGeom prst="rect">
            <a:avLst/>
          </a:prstGeom>
          <a:noFill/>
        </p:spPr>
        <p:txBody>
          <a:bodyPr wrap="none" rtlCol="0">
            <a:spAutoFit/>
          </a:bodyPr>
          <a:lstStyle/>
          <a:p>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main()</a:t>
            </a:r>
          </a:p>
          <a:p>
            <a:r>
              <a:rPr lang="en-US" dirty="0">
                <a:solidFill>
                  <a:srgbClr val="000000"/>
                </a:solidFill>
                <a:highlight>
                  <a:srgbClr val="FFFFFF"/>
                </a:highlight>
                <a:latin typeface="Consolas"/>
              </a:rPr>
              <a:t>{</a:t>
            </a:r>
          </a:p>
          <a:p>
            <a:pPr lvl="1"/>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numbers[5];</a:t>
            </a:r>
          </a:p>
          <a:p>
            <a:pPr lvl="1"/>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 p;</a:t>
            </a:r>
          </a:p>
          <a:p>
            <a:pPr lvl="1"/>
            <a:r>
              <a:rPr lang="en-US" dirty="0">
                <a:solidFill>
                  <a:srgbClr val="000000"/>
                </a:solidFill>
                <a:highlight>
                  <a:srgbClr val="FFFFFF"/>
                </a:highlight>
                <a:latin typeface="Consolas"/>
              </a:rPr>
              <a:t>p = numbers;  *p = 10;</a:t>
            </a:r>
          </a:p>
          <a:p>
            <a:pPr lvl="1"/>
            <a:r>
              <a:rPr lang="en-US" dirty="0">
                <a:solidFill>
                  <a:srgbClr val="000000"/>
                </a:solidFill>
                <a:highlight>
                  <a:srgbClr val="FFFFFF"/>
                </a:highlight>
                <a:latin typeface="Consolas"/>
              </a:rPr>
              <a:t>p++;  *p = 20;</a:t>
            </a:r>
          </a:p>
          <a:p>
            <a:pPr lvl="1"/>
            <a:r>
              <a:rPr lang="en-US" dirty="0">
                <a:solidFill>
                  <a:srgbClr val="000000"/>
                </a:solidFill>
                <a:highlight>
                  <a:srgbClr val="FFFFFF"/>
                </a:highlight>
                <a:latin typeface="Consolas"/>
              </a:rPr>
              <a:t>p = &amp;numbers[2];  *p = 30;</a:t>
            </a:r>
          </a:p>
          <a:p>
            <a:pPr lvl="1"/>
            <a:r>
              <a:rPr lang="en-US" dirty="0">
                <a:solidFill>
                  <a:srgbClr val="000000"/>
                </a:solidFill>
                <a:highlight>
                  <a:srgbClr val="FFFFFF"/>
                </a:highlight>
                <a:latin typeface="Consolas"/>
              </a:rPr>
              <a:t>p = numbers + 3;  *p = 40;</a:t>
            </a:r>
          </a:p>
          <a:p>
            <a:pPr lvl="1"/>
            <a:r>
              <a:rPr lang="en-US" dirty="0">
                <a:solidFill>
                  <a:srgbClr val="000000"/>
                </a:solidFill>
                <a:highlight>
                  <a:srgbClr val="FFFFFF"/>
                </a:highlight>
                <a:latin typeface="Consolas"/>
              </a:rPr>
              <a:t>p = numbers;  *(p + 4) = 50;</a:t>
            </a:r>
          </a:p>
          <a:p>
            <a:pPr lvl="1"/>
            <a:r>
              <a:rPr lang="pt-BR" dirty="0">
                <a:solidFill>
                  <a:srgbClr val="0000FF"/>
                </a:solidFill>
                <a:highlight>
                  <a:srgbClr val="FFFFFF"/>
                </a:highlight>
                <a:latin typeface="Consolas"/>
              </a:rPr>
              <a:t>for</a:t>
            </a:r>
            <a:r>
              <a:rPr lang="pt-BR" dirty="0">
                <a:solidFill>
                  <a:srgbClr val="000000"/>
                </a:solidFill>
                <a:highlight>
                  <a:srgbClr val="FFFFFF"/>
                </a:highlight>
                <a:latin typeface="Consolas"/>
              </a:rPr>
              <a:t> (</a:t>
            </a:r>
            <a:r>
              <a:rPr lang="pt-BR" dirty="0">
                <a:solidFill>
                  <a:srgbClr val="0000FF"/>
                </a:solidFill>
                <a:highlight>
                  <a:srgbClr val="FFFFFF"/>
                </a:highlight>
                <a:latin typeface="Consolas"/>
              </a:rPr>
              <a:t>int</a:t>
            </a:r>
            <a:r>
              <a:rPr lang="pt-BR" dirty="0">
                <a:solidFill>
                  <a:srgbClr val="000000"/>
                </a:solidFill>
                <a:highlight>
                  <a:srgbClr val="FFFFFF"/>
                </a:highlight>
                <a:latin typeface="Consolas"/>
              </a:rPr>
              <a:t> n = 0; n&lt;5; n++)</a:t>
            </a:r>
          </a:p>
          <a:p>
            <a:pPr lvl="1"/>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cout</a:t>
            </a:r>
            <a:r>
              <a:rPr lang="en-US" dirty="0">
                <a:solidFill>
                  <a:srgbClr val="000000"/>
                </a:solidFill>
                <a:highlight>
                  <a:srgbClr val="FFFFFF"/>
                </a:highlight>
                <a:latin typeface="Consolas"/>
              </a:rPr>
              <a:t> &lt;&lt; numbers[n] &lt;&lt; </a:t>
            </a:r>
            <a:r>
              <a:rPr lang="en-US" dirty="0">
                <a:solidFill>
                  <a:srgbClr val="A31515"/>
                </a:solidFill>
                <a:highlight>
                  <a:srgbClr val="FFFFFF"/>
                </a:highlight>
                <a:latin typeface="Consolas"/>
              </a:rPr>
              <a:t>", "</a:t>
            </a:r>
            <a:r>
              <a:rPr lang="en-US" dirty="0">
                <a:solidFill>
                  <a:srgbClr val="000000"/>
                </a:solidFill>
                <a:highlight>
                  <a:srgbClr val="FFFFFF"/>
                </a:highlight>
                <a:latin typeface="Consolas"/>
              </a:rPr>
              <a:t>;</a:t>
            </a:r>
          </a:p>
          <a:p>
            <a:pPr lvl="1"/>
            <a:r>
              <a:rPr lang="en-US" dirty="0">
                <a:solidFill>
                  <a:srgbClr val="0000FF"/>
                </a:solidFill>
                <a:highlight>
                  <a:srgbClr val="FFFFFF"/>
                </a:highlight>
                <a:latin typeface="Consolas"/>
              </a:rPr>
              <a:t>return</a:t>
            </a:r>
            <a:r>
              <a:rPr lang="en-US" dirty="0">
                <a:solidFill>
                  <a:srgbClr val="000000"/>
                </a:solidFill>
                <a:highlight>
                  <a:srgbClr val="FFFFFF"/>
                </a:highlight>
                <a:latin typeface="Consolas"/>
              </a:rPr>
              <a:t> 0;</a:t>
            </a:r>
          </a:p>
          <a:p>
            <a:r>
              <a:rPr lang="en-US" dirty="0">
                <a:solidFill>
                  <a:srgbClr val="000000"/>
                </a:solidFill>
                <a:highlight>
                  <a:srgbClr val="FFFFFF"/>
                </a:highlight>
                <a:latin typeface="Consolas"/>
              </a:rPr>
              <a:t>}</a:t>
            </a:r>
            <a:endParaRPr lang="en-US" dirty="0"/>
          </a:p>
        </p:txBody>
      </p:sp>
    </p:spTree>
    <p:extLst>
      <p:ext uri="{BB962C8B-B14F-4D97-AF65-F5344CB8AC3E}">
        <p14:creationId xmlns:p14="http://schemas.microsoft.com/office/powerpoint/2010/main" val="1759731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Malloc</a:t>
            </a:r>
            <a:endParaRPr lang="en-US" dirty="0"/>
          </a:p>
        </p:txBody>
      </p:sp>
      <p:sp>
        <p:nvSpPr>
          <p:cNvPr id="3" name="Content Placeholder 2"/>
          <p:cNvSpPr>
            <a:spLocks noGrp="1"/>
          </p:cNvSpPr>
          <p:nvPr>
            <p:ph idx="1"/>
          </p:nvPr>
        </p:nvSpPr>
        <p:spPr/>
        <p:txBody>
          <a:bodyPr>
            <a:normAutofit fontScale="92500" lnSpcReduction="10000"/>
          </a:bodyPr>
          <a:lstStyle/>
          <a:p>
            <a:r>
              <a:rPr lang="en-US" dirty="0"/>
              <a:t>Allocate memory dynamically</a:t>
            </a:r>
          </a:p>
          <a:p>
            <a:endParaRPr lang="en-US" dirty="0"/>
          </a:p>
          <a:p>
            <a:endParaRPr lang="en-US" dirty="0"/>
          </a:p>
          <a:p>
            <a:endParaRPr lang="en-US" dirty="0"/>
          </a:p>
          <a:p>
            <a:endParaRPr lang="en-US" dirty="0"/>
          </a:p>
          <a:p>
            <a:endParaRPr lang="en-US" dirty="0"/>
          </a:p>
          <a:p>
            <a:endParaRPr lang="en-US" dirty="0"/>
          </a:p>
          <a:p>
            <a:r>
              <a:rPr lang="en-US" dirty="0"/>
              <a:t>Question: how to allocate memory “statically”? why need to allocate memory dynamically?</a:t>
            </a:r>
          </a:p>
        </p:txBody>
      </p:sp>
      <p:sp>
        <p:nvSpPr>
          <p:cNvPr id="4" name="Footer Placeholder 3"/>
          <p:cNvSpPr>
            <a:spLocks noGrp="1"/>
          </p:cNvSpPr>
          <p:nvPr>
            <p:ph type="ftr" sz="quarter" idx="11"/>
          </p:nvPr>
        </p:nvSpPr>
        <p:spPr/>
        <p:txBody>
          <a:bodyPr/>
          <a:lstStyle/>
          <a:p>
            <a:r>
              <a:rPr lang="en-US" altLang="zh-CN"/>
              <a:t>CSCI2520 Tutorial 1</a:t>
            </a:r>
            <a:endParaRPr lang="zh-CN" altLang="en-US"/>
          </a:p>
        </p:txBody>
      </p:sp>
      <p:sp>
        <p:nvSpPr>
          <p:cNvPr id="10" name="TextBox 9"/>
          <p:cNvSpPr txBox="1"/>
          <p:nvPr/>
        </p:nvSpPr>
        <p:spPr>
          <a:xfrm>
            <a:off x="1415063" y="2204864"/>
            <a:ext cx="4743606"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k = 1000;</a:t>
            </a:r>
          </a:p>
          <a:p>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*d;</a:t>
            </a:r>
          </a:p>
          <a:p>
            <a:r>
              <a:rPr lang="en-US" dirty="0">
                <a:solidFill>
                  <a:srgbClr val="000000"/>
                </a:solidFill>
                <a:highlight>
                  <a:srgbClr val="FFFFFF"/>
                </a:highlight>
                <a:latin typeface="Consolas"/>
              </a:rPr>
              <a:t>d = (</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malloc</a:t>
            </a: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sizeof</a:t>
            </a:r>
            <a:r>
              <a:rPr lang="en-US" dirty="0">
                <a:solidFill>
                  <a:srgbClr val="000000"/>
                </a:solidFill>
                <a:highlight>
                  <a:srgbClr val="FFFFFF"/>
                </a:highlight>
                <a:latin typeface="Consolas"/>
              </a:rPr>
              <a:t>(</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)*k);</a:t>
            </a:r>
            <a:endParaRPr lang="en-US" dirty="0"/>
          </a:p>
        </p:txBody>
      </p:sp>
      <p:sp>
        <p:nvSpPr>
          <p:cNvPr id="11" name="TextBox 10"/>
          <p:cNvSpPr txBox="1"/>
          <p:nvPr/>
        </p:nvSpPr>
        <p:spPr>
          <a:xfrm>
            <a:off x="1415063" y="3400147"/>
            <a:ext cx="4743606" cy="92333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k = 1000;</a:t>
            </a:r>
          </a:p>
          <a:p>
            <a:r>
              <a:rPr lang="en-US" dirty="0">
                <a:solidFill>
                  <a:srgbClr val="0000FF"/>
                </a:solidFill>
                <a:highlight>
                  <a:srgbClr val="FFFFFF"/>
                </a:highlight>
                <a:latin typeface="Consolas"/>
              </a:rPr>
              <a:t>char</a:t>
            </a:r>
            <a:r>
              <a:rPr lang="en-US" dirty="0">
                <a:solidFill>
                  <a:srgbClr val="000000"/>
                </a:solidFill>
                <a:highlight>
                  <a:srgbClr val="FFFFFF"/>
                </a:highlight>
                <a:latin typeface="Consolas"/>
              </a:rPr>
              <a:t> *c;</a:t>
            </a:r>
          </a:p>
          <a:p>
            <a:r>
              <a:rPr lang="en-US" dirty="0">
                <a:solidFill>
                  <a:srgbClr val="000000"/>
                </a:solidFill>
                <a:highlight>
                  <a:srgbClr val="FFFFFF"/>
                </a:highlight>
                <a:latin typeface="Consolas"/>
              </a:rPr>
              <a:t>c = (</a:t>
            </a:r>
            <a:r>
              <a:rPr lang="en-US" dirty="0">
                <a:solidFill>
                  <a:srgbClr val="0000FF"/>
                </a:solidFill>
                <a:highlight>
                  <a:srgbClr val="FFFFFF"/>
                </a:highlight>
                <a:latin typeface="Consolas"/>
              </a:rPr>
              <a:t>char</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malloc</a:t>
            </a: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sizeof</a:t>
            </a:r>
            <a:r>
              <a:rPr lang="en-US" dirty="0">
                <a:solidFill>
                  <a:srgbClr val="000000"/>
                </a:solidFill>
                <a:highlight>
                  <a:srgbClr val="FFFFFF"/>
                </a:highlight>
                <a:latin typeface="Consolas"/>
              </a:rPr>
              <a:t>(</a:t>
            </a:r>
            <a:r>
              <a:rPr lang="en-US" dirty="0">
                <a:solidFill>
                  <a:srgbClr val="0000FF"/>
                </a:solidFill>
                <a:highlight>
                  <a:srgbClr val="FFFFFF"/>
                </a:highlight>
                <a:latin typeface="Consolas"/>
              </a:rPr>
              <a:t>char</a:t>
            </a:r>
            <a:r>
              <a:rPr lang="en-US" dirty="0">
                <a:solidFill>
                  <a:srgbClr val="000000"/>
                </a:solidFill>
                <a:highlight>
                  <a:srgbClr val="FFFFFF"/>
                </a:highlight>
                <a:latin typeface="Consolas"/>
              </a:rPr>
              <a:t>)*k);</a:t>
            </a:r>
          </a:p>
        </p:txBody>
      </p:sp>
    </p:spTree>
    <p:extLst>
      <p:ext uri="{BB962C8B-B14F-4D97-AF65-F5344CB8AC3E}">
        <p14:creationId xmlns:p14="http://schemas.microsoft.com/office/powerpoint/2010/main" val="4770621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ea typeface="SimSun" pitchFamily="2" charset="-122"/>
              </a:rPr>
              <a:t>Typedef</a:t>
            </a:r>
            <a:endParaRPr lang="en-US" dirty="0"/>
          </a:p>
        </p:txBody>
      </p:sp>
      <p:sp>
        <p:nvSpPr>
          <p:cNvPr id="3" name="Content Placeholder 2"/>
          <p:cNvSpPr>
            <a:spLocks noGrp="1"/>
          </p:cNvSpPr>
          <p:nvPr>
            <p:ph idx="1"/>
          </p:nvPr>
        </p:nvSpPr>
        <p:spPr/>
        <p:txBody>
          <a:bodyPr>
            <a:normAutofit lnSpcReduction="10000"/>
          </a:bodyPr>
          <a:lstStyle/>
          <a:p>
            <a:r>
              <a:rPr lang="en-US" dirty="0"/>
              <a:t>Type aliases</a:t>
            </a:r>
          </a:p>
          <a:p>
            <a:endParaRPr lang="en-US" dirty="0"/>
          </a:p>
          <a:p>
            <a:endParaRPr lang="en-US" dirty="0"/>
          </a:p>
          <a:p>
            <a:endParaRPr lang="en-US" dirty="0"/>
          </a:p>
          <a:p>
            <a:endParaRPr lang="en-US" dirty="0"/>
          </a:p>
          <a:p>
            <a:endParaRPr lang="en-US" dirty="0"/>
          </a:p>
          <a:p>
            <a:endParaRPr lang="en-US" dirty="0"/>
          </a:p>
          <a:p>
            <a:r>
              <a:rPr lang="en-US" dirty="0"/>
              <a:t>Question: why type aliases?</a:t>
            </a:r>
          </a:p>
        </p:txBody>
      </p:sp>
      <p:sp>
        <p:nvSpPr>
          <p:cNvPr id="4" name="Footer Placeholder 3"/>
          <p:cNvSpPr>
            <a:spLocks noGrp="1"/>
          </p:cNvSpPr>
          <p:nvPr>
            <p:ph type="ftr" sz="quarter" idx="11"/>
          </p:nvPr>
        </p:nvSpPr>
        <p:spPr/>
        <p:txBody>
          <a:bodyPr/>
          <a:lstStyle/>
          <a:p>
            <a:r>
              <a:rPr lang="en-US" altLang="zh-CN"/>
              <a:t>CSCI2520 Tutorial 1</a:t>
            </a:r>
            <a:endParaRPr lang="zh-CN" altLang="en-US"/>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1975" y="2999903"/>
            <a:ext cx="3498850"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4149080"/>
            <a:ext cx="3600450"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p:cNvSpPr txBox="1"/>
          <p:nvPr/>
        </p:nvSpPr>
        <p:spPr>
          <a:xfrm>
            <a:off x="5940152" y="3304753"/>
            <a:ext cx="2514600" cy="461962"/>
          </a:xfrm>
          <a:prstGeom prst="rect">
            <a:avLst/>
          </a:prstGeom>
          <a:noFill/>
          <a:ln>
            <a:noFill/>
          </a:ln>
        </p:spPr>
        <p:txBody>
          <a:bodyPr>
            <a:spAutoFit/>
          </a:bodyPr>
          <a:lstStyle/>
          <a:p>
            <a:pPr>
              <a:defRPr/>
            </a:pPr>
            <a:r>
              <a:rPr lang="en-US" sz="2400" b="1" dirty="0">
                <a:solidFill>
                  <a:srgbClr val="FF0000"/>
                </a:solidFill>
              </a:rPr>
              <a:t>field as char[50]</a:t>
            </a:r>
          </a:p>
        </p:txBody>
      </p:sp>
      <p:cxnSp>
        <p:nvCxnSpPr>
          <p:cNvPr id="10" name="Straight Arrow Connector 9"/>
          <p:cNvCxnSpPr/>
          <p:nvPr/>
        </p:nvCxnSpPr>
        <p:spPr bwMode="auto">
          <a:xfrm flipV="1">
            <a:off x="5029200" y="3533303"/>
            <a:ext cx="914400" cy="292100"/>
          </a:xfrm>
          <a:prstGeom prst="straightConnector1">
            <a:avLst/>
          </a:prstGeom>
          <a:solidFill>
            <a:schemeClr val="accent1"/>
          </a:solidFill>
          <a:ln w="25400" cap="flat" cmpd="sng" algn="ctr">
            <a:solidFill>
              <a:srgbClr val="FF0000"/>
            </a:solidFill>
            <a:prstDash val="solid"/>
            <a:round/>
            <a:headEnd type="none" w="med" len="med"/>
            <a:tailEnd type="arrow"/>
          </a:ln>
          <a:effectLst/>
        </p:spPr>
      </p:cxnSp>
      <p:sp>
        <p:nvSpPr>
          <p:cNvPr id="12" name="TextBox 11"/>
          <p:cNvSpPr txBox="1"/>
          <p:nvPr/>
        </p:nvSpPr>
        <p:spPr>
          <a:xfrm>
            <a:off x="1700602" y="2276872"/>
            <a:ext cx="4743606"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solidFill>
                  <a:srgbClr val="0000FF"/>
                </a:solidFill>
                <a:highlight>
                  <a:srgbClr val="FFFFFF"/>
                </a:highlight>
                <a:latin typeface="Consolas"/>
              </a:rPr>
              <a:t>typedef</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existing_type</a:t>
            </a: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new_type_name</a:t>
            </a:r>
            <a:r>
              <a:rPr lang="en-US" dirty="0">
                <a:solidFill>
                  <a:srgbClr val="000000"/>
                </a:solidFill>
                <a:highlight>
                  <a:srgbClr val="FFFFFF"/>
                </a:highlight>
                <a:latin typeface="Consolas"/>
              </a:rPr>
              <a:t>;</a:t>
            </a:r>
            <a:endParaRPr lang="en-US" dirty="0"/>
          </a:p>
        </p:txBody>
      </p:sp>
    </p:spTree>
    <p:extLst>
      <p:ext uri="{BB962C8B-B14F-4D97-AF65-F5344CB8AC3E}">
        <p14:creationId xmlns:p14="http://schemas.microsoft.com/office/powerpoint/2010/main" val="9138412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Typedef</a:t>
            </a:r>
            <a:endParaRPr lang="en-US" dirty="0"/>
          </a:p>
        </p:txBody>
      </p:sp>
      <p:sp>
        <p:nvSpPr>
          <p:cNvPr id="3" name="Content Placeholder 2"/>
          <p:cNvSpPr>
            <a:spLocks noGrp="1"/>
          </p:cNvSpPr>
          <p:nvPr>
            <p:ph idx="1"/>
          </p:nvPr>
        </p:nvSpPr>
        <p:spPr/>
        <p:txBody>
          <a:bodyPr/>
          <a:lstStyle/>
          <a:p>
            <a:r>
              <a:rPr lang="en-US" dirty="0"/>
              <a:t>Why type aliases?</a:t>
            </a:r>
          </a:p>
          <a:p>
            <a:pPr lvl="1"/>
            <a:r>
              <a:rPr lang="en-US" dirty="0"/>
              <a:t>reduce the length of long or confusing type names</a:t>
            </a:r>
          </a:p>
        </p:txBody>
      </p:sp>
      <p:sp>
        <p:nvSpPr>
          <p:cNvPr id="4" name="Footer Placeholder 3"/>
          <p:cNvSpPr>
            <a:spLocks noGrp="1"/>
          </p:cNvSpPr>
          <p:nvPr>
            <p:ph type="ftr" sz="quarter" idx="11"/>
          </p:nvPr>
        </p:nvSpPr>
        <p:spPr/>
        <p:txBody>
          <a:bodyPr/>
          <a:lstStyle/>
          <a:p>
            <a:r>
              <a:rPr lang="en-US" altLang="zh-CN"/>
              <a:t>CSCI2520 Tutorial 1</a:t>
            </a:r>
            <a:endParaRPr lang="zh-CN" altLang="en-US"/>
          </a:p>
        </p:txBody>
      </p:sp>
      <p:pic>
        <p:nvPicPr>
          <p:cNvPr id="6" name="图片 5" descr="图形用户界面, 文本, 应用程序&#10;&#10;AI 生成的内容可能不正确。">
            <a:extLst>
              <a:ext uri="{FF2B5EF4-FFF2-40B4-BE49-F238E27FC236}">
                <a16:creationId xmlns:a16="http://schemas.microsoft.com/office/drawing/2014/main" id="{A8BFCA60-7F45-BDD2-7F72-812E8819D986}"/>
              </a:ext>
            </a:extLst>
          </p:cNvPr>
          <p:cNvPicPr>
            <a:picLocks noChangeAspect="1"/>
          </p:cNvPicPr>
          <p:nvPr/>
        </p:nvPicPr>
        <p:blipFill>
          <a:blip r:embed="rId3"/>
          <a:stretch>
            <a:fillRect/>
          </a:stretch>
        </p:blipFill>
        <p:spPr>
          <a:xfrm>
            <a:off x="1359025" y="2924944"/>
            <a:ext cx="6425950" cy="2493067"/>
          </a:xfrm>
          <a:prstGeom prst="rect">
            <a:avLst/>
          </a:prstGeom>
        </p:spPr>
      </p:pic>
    </p:spTree>
    <p:extLst>
      <p:ext uri="{BB962C8B-B14F-4D97-AF65-F5344CB8AC3E}">
        <p14:creationId xmlns:p14="http://schemas.microsoft.com/office/powerpoint/2010/main" val="23707900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0AB61-3CAB-2FB5-B5E1-ABE1A20F6C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DB7EE2-769A-C97E-2683-26675D1D773A}"/>
              </a:ext>
            </a:extLst>
          </p:cNvPr>
          <p:cNvSpPr>
            <a:spLocks noGrp="1"/>
          </p:cNvSpPr>
          <p:nvPr>
            <p:ph type="title"/>
          </p:nvPr>
        </p:nvSpPr>
        <p:spPr/>
        <p:txBody>
          <a:bodyPr/>
          <a:lstStyle/>
          <a:p>
            <a:r>
              <a:rPr lang="en-US" dirty="0" err="1"/>
              <a:t>Typedef</a:t>
            </a:r>
            <a:endParaRPr lang="en-US" dirty="0"/>
          </a:p>
        </p:txBody>
      </p:sp>
      <p:sp>
        <p:nvSpPr>
          <p:cNvPr id="3" name="Content Placeholder 2">
            <a:extLst>
              <a:ext uri="{FF2B5EF4-FFF2-40B4-BE49-F238E27FC236}">
                <a16:creationId xmlns:a16="http://schemas.microsoft.com/office/drawing/2014/main" id="{3167F0E7-9733-DD98-08D7-07B7030701BD}"/>
              </a:ext>
            </a:extLst>
          </p:cNvPr>
          <p:cNvSpPr>
            <a:spLocks noGrp="1"/>
          </p:cNvSpPr>
          <p:nvPr>
            <p:ph idx="1"/>
          </p:nvPr>
        </p:nvSpPr>
        <p:spPr>
          <a:xfrm>
            <a:off x="457200" y="1268760"/>
            <a:ext cx="8229600" cy="2769171"/>
          </a:xfrm>
        </p:spPr>
        <p:txBody>
          <a:bodyPr/>
          <a:lstStyle/>
          <a:p>
            <a:r>
              <a:rPr lang="en-US" dirty="0"/>
              <a:t>Why type aliases?</a:t>
            </a:r>
          </a:p>
          <a:p>
            <a:pPr lvl="1"/>
            <a:r>
              <a:rPr lang="en-US" altLang="zh-CN" dirty="0"/>
              <a:t>abstract programs from the underlying types they use</a:t>
            </a:r>
          </a:p>
        </p:txBody>
      </p:sp>
      <p:sp>
        <p:nvSpPr>
          <p:cNvPr id="4" name="Footer Placeholder 3">
            <a:extLst>
              <a:ext uri="{FF2B5EF4-FFF2-40B4-BE49-F238E27FC236}">
                <a16:creationId xmlns:a16="http://schemas.microsoft.com/office/drawing/2014/main" id="{3A96335A-0BAF-0B3A-26B1-8BFC879E37CB}"/>
              </a:ext>
            </a:extLst>
          </p:cNvPr>
          <p:cNvSpPr>
            <a:spLocks noGrp="1"/>
          </p:cNvSpPr>
          <p:nvPr>
            <p:ph type="ftr" sz="quarter" idx="11"/>
          </p:nvPr>
        </p:nvSpPr>
        <p:spPr/>
        <p:txBody>
          <a:bodyPr/>
          <a:lstStyle/>
          <a:p>
            <a:r>
              <a:rPr lang="en-US" altLang="zh-CN"/>
              <a:t>CSCI2520 Tutorial 1</a:t>
            </a:r>
            <a:endParaRPr lang="zh-CN" altLang="en-US"/>
          </a:p>
        </p:txBody>
      </p:sp>
      <p:pic>
        <p:nvPicPr>
          <p:cNvPr id="7" name="图片 6" descr="图形用户界面, 文本, 应用程序, 电子邮件&#10;&#10;AI 生成的内容可能不正确。">
            <a:extLst>
              <a:ext uri="{FF2B5EF4-FFF2-40B4-BE49-F238E27FC236}">
                <a16:creationId xmlns:a16="http://schemas.microsoft.com/office/drawing/2014/main" id="{54FD8785-F4EF-9927-32D4-59CA3C366234}"/>
              </a:ext>
            </a:extLst>
          </p:cNvPr>
          <p:cNvPicPr>
            <a:picLocks noChangeAspect="1"/>
          </p:cNvPicPr>
          <p:nvPr/>
        </p:nvPicPr>
        <p:blipFill>
          <a:blip r:embed="rId3"/>
          <a:stretch>
            <a:fillRect/>
          </a:stretch>
        </p:blipFill>
        <p:spPr>
          <a:xfrm>
            <a:off x="971600" y="2683929"/>
            <a:ext cx="7200800" cy="3652638"/>
          </a:xfrm>
          <a:prstGeom prst="rect">
            <a:avLst/>
          </a:prstGeom>
        </p:spPr>
      </p:pic>
    </p:spTree>
    <p:extLst>
      <p:ext uri="{BB962C8B-B14F-4D97-AF65-F5344CB8AC3E}">
        <p14:creationId xmlns:p14="http://schemas.microsoft.com/office/powerpoint/2010/main" val="25063852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Struct</a:t>
            </a:r>
            <a:endParaRPr lang="en-US" dirty="0"/>
          </a:p>
        </p:txBody>
      </p:sp>
      <p:sp>
        <p:nvSpPr>
          <p:cNvPr id="3" name="Content Placeholder 2"/>
          <p:cNvSpPr>
            <a:spLocks noGrp="1"/>
          </p:cNvSpPr>
          <p:nvPr>
            <p:ph idx="1"/>
          </p:nvPr>
        </p:nvSpPr>
        <p:spPr/>
        <p:txBody>
          <a:bodyPr>
            <a:normAutofit/>
          </a:bodyPr>
          <a:lstStyle/>
          <a:p>
            <a:r>
              <a:rPr lang="en-US" altLang="zh-CN" sz="2800" dirty="0">
                <a:ea typeface="SimSun" pitchFamily="2" charset="-122"/>
              </a:rPr>
              <a:t>Data structure: </a:t>
            </a:r>
            <a:r>
              <a:rPr lang="en-US" sz="2800" dirty="0"/>
              <a:t>a group of data elements (members) grouped together under one name.</a:t>
            </a:r>
          </a:p>
          <a:p>
            <a:endParaRPr lang="en-US" sz="2800" dirty="0"/>
          </a:p>
          <a:p>
            <a:endParaRPr lang="en-US" sz="2800" dirty="0"/>
          </a:p>
          <a:p>
            <a:endParaRPr lang="en-US" sz="2800" dirty="0"/>
          </a:p>
          <a:p>
            <a:r>
              <a:rPr lang="en-US" sz="2800" dirty="0"/>
              <a:t>Access the object’s members: </a:t>
            </a:r>
          </a:p>
          <a:p>
            <a:endParaRPr lang="en-US" sz="2800" dirty="0"/>
          </a:p>
        </p:txBody>
      </p:sp>
      <p:sp>
        <p:nvSpPr>
          <p:cNvPr id="4" name="Footer Placeholder 3"/>
          <p:cNvSpPr>
            <a:spLocks noGrp="1"/>
          </p:cNvSpPr>
          <p:nvPr>
            <p:ph type="ftr" sz="quarter" idx="11"/>
          </p:nvPr>
        </p:nvSpPr>
        <p:spPr/>
        <p:txBody>
          <a:bodyPr/>
          <a:lstStyle/>
          <a:p>
            <a:r>
              <a:rPr lang="en-US" altLang="zh-CN"/>
              <a:t>CSCI2520 Tutorial 1</a:t>
            </a:r>
            <a:endParaRPr lang="zh-CN" altLang="en-US"/>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4731" y="2470943"/>
            <a:ext cx="2924175" cy="16113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1075" y="2420888"/>
            <a:ext cx="3167063"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888" y="4653136"/>
            <a:ext cx="1949450" cy="1511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27163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83568" y="1484784"/>
            <a:ext cx="7358105" cy="4801314"/>
          </a:xfrm>
          <a:prstGeom prst="rect">
            <a:avLst/>
          </a:prstGeom>
          <a:ln>
            <a:noFill/>
          </a:ln>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solidFill>
                  <a:srgbClr val="0000FF"/>
                </a:solidFill>
                <a:highlight>
                  <a:srgbClr val="FFFFFF"/>
                </a:highlight>
                <a:latin typeface="Consolas"/>
              </a:rPr>
              <a:t>typedef</a:t>
            </a: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struct</a:t>
            </a: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Student_Data</a:t>
            </a: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Sdata</a:t>
            </a:r>
            <a:r>
              <a:rPr lang="en-US" dirty="0">
                <a:solidFill>
                  <a:srgbClr val="000000"/>
                </a:solidFill>
                <a:highlight>
                  <a:srgbClr val="FFFFFF"/>
                </a:highlight>
                <a:latin typeface="Consolas"/>
              </a:rPr>
              <a:t>;</a:t>
            </a:r>
          </a:p>
          <a:p>
            <a:r>
              <a:rPr lang="en-US" dirty="0" err="1">
                <a:solidFill>
                  <a:srgbClr val="0000FF"/>
                </a:solidFill>
                <a:highlight>
                  <a:srgbClr val="FFFFFF"/>
                </a:highlight>
                <a:latin typeface="Consolas"/>
              </a:rPr>
              <a:t>struct</a:t>
            </a: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Student_Data</a:t>
            </a:r>
            <a:endParaRPr lang="en-US" dirty="0">
              <a:solidFill>
                <a:srgbClr val="000000"/>
              </a:solidFill>
              <a:highlight>
                <a:srgbClr val="FFFFFF"/>
              </a:highlight>
              <a:latin typeface="Consolas"/>
            </a:endParaRPr>
          </a:p>
          <a:p>
            <a:r>
              <a:rPr lang="en-US" dirty="0">
                <a:solidFill>
                  <a:srgbClr val="000000"/>
                </a:solidFill>
                <a:highlight>
                  <a:srgbClr val="FFFFFF"/>
                </a:highlight>
                <a:latin typeface="Consolas"/>
              </a:rPr>
              <a:t>{</a:t>
            </a:r>
          </a:p>
          <a:p>
            <a:pPr lvl="1"/>
            <a:r>
              <a:rPr lang="en-US" dirty="0">
                <a:solidFill>
                  <a:srgbClr val="0000FF"/>
                </a:solidFill>
                <a:highlight>
                  <a:srgbClr val="FFFFFF"/>
                </a:highlight>
                <a:latin typeface="Consolas"/>
              </a:rPr>
              <a:t>char</a:t>
            </a:r>
            <a:r>
              <a:rPr lang="en-US" dirty="0">
                <a:solidFill>
                  <a:srgbClr val="000000"/>
                </a:solidFill>
                <a:highlight>
                  <a:srgbClr val="FFFFFF"/>
                </a:highlight>
                <a:latin typeface="Consolas"/>
              </a:rPr>
              <a:t> name[50];</a:t>
            </a:r>
          </a:p>
          <a:p>
            <a:pPr lvl="1"/>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age;</a:t>
            </a:r>
          </a:p>
          <a:p>
            <a:pPr lvl="1"/>
            <a:r>
              <a:rPr lang="en-US" dirty="0">
                <a:solidFill>
                  <a:srgbClr val="0000FF"/>
                </a:solidFill>
                <a:highlight>
                  <a:srgbClr val="FFFFFF"/>
                </a:highlight>
                <a:latin typeface="Consolas"/>
              </a:rPr>
              <a:t>char</a:t>
            </a:r>
            <a:r>
              <a:rPr lang="en-US" dirty="0">
                <a:solidFill>
                  <a:srgbClr val="000000"/>
                </a:solidFill>
                <a:highlight>
                  <a:srgbClr val="FFFFFF"/>
                </a:highlight>
                <a:latin typeface="Consolas"/>
              </a:rPr>
              <a:t> address[50];</a:t>
            </a:r>
          </a:p>
          <a:p>
            <a:r>
              <a:rPr lang="en-US" dirty="0">
                <a:solidFill>
                  <a:srgbClr val="000000"/>
                </a:solidFill>
                <a:highlight>
                  <a:srgbClr val="FFFFFF"/>
                </a:highlight>
                <a:latin typeface="Consolas"/>
              </a:rPr>
              <a:t>};</a:t>
            </a:r>
          </a:p>
          <a:p>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main()</a:t>
            </a:r>
          </a:p>
          <a:p>
            <a:r>
              <a:rPr lang="en-US" dirty="0">
                <a:solidFill>
                  <a:srgbClr val="000000"/>
                </a:solidFill>
                <a:highlight>
                  <a:srgbClr val="FFFFFF"/>
                </a:highlight>
                <a:latin typeface="Consolas"/>
              </a:rPr>
              <a:t>{</a:t>
            </a:r>
          </a:p>
          <a:p>
            <a:pPr lvl="1"/>
            <a:r>
              <a:rPr lang="en-US" dirty="0" err="1">
                <a:solidFill>
                  <a:srgbClr val="2B91AF"/>
                </a:solidFill>
                <a:highlight>
                  <a:srgbClr val="FFFFFF"/>
                </a:highlight>
                <a:latin typeface="Consolas"/>
              </a:rPr>
              <a:t>Sdata</a:t>
            </a:r>
            <a:r>
              <a:rPr lang="en-US" dirty="0">
                <a:solidFill>
                  <a:srgbClr val="000000"/>
                </a:solidFill>
                <a:highlight>
                  <a:srgbClr val="FFFFFF"/>
                </a:highlight>
                <a:latin typeface="Consolas"/>
              </a:rPr>
              <a:t> *p;</a:t>
            </a:r>
          </a:p>
          <a:p>
            <a:pPr lvl="1"/>
            <a:r>
              <a:rPr lang="en-US" dirty="0">
                <a:solidFill>
                  <a:srgbClr val="000000"/>
                </a:solidFill>
                <a:highlight>
                  <a:srgbClr val="FFFFFF"/>
                </a:highlight>
                <a:latin typeface="Consolas"/>
              </a:rPr>
              <a:t>p = (</a:t>
            </a:r>
            <a:r>
              <a:rPr lang="en-US" dirty="0" err="1">
                <a:solidFill>
                  <a:srgbClr val="2B91AF"/>
                </a:solidFill>
                <a:highlight>
                  <a:srgbClr val="FFFFFF"/>
                </a:highlight>
                <a:latin typeface="Consolas"/>
              </a:rPr>
              <a:t>Sdata</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malloc</a:t>
            </a:r>
            <a:r>
              <a:rPr lang="en-US" dirty="0">
                <a:solidFill>
                  <a:srgbClr val="000000"/>
                </a:solidFill>
                <a:highlight>
                  <a:srgbClr val="FFFFFF"/>
                </a:highlight>
                <a:latin typeface="Consolas"/>
              </a:rPr>
              <a:t>(</a:t>
            </a:r>
            <a:r>
              <a:rPr lang="en-US" dirty="0" err="1">
                <a:solidFill>
                  <a:srgbClr val="0000FF"/>
                </a:solidFill>
                <a:highlight>
                  <a:srgbClr val="FFFFFF"/>
                </a:highlight>
                <a:latin typeface="Consolas"/>
              </a:rPr>
              <a:t>sizeof</a:t>
            </a:r>
            <a:r>
              <a:rPr lang="en-US" dirty="0">
                <a:solidFill>
                  <a:srgbClr val="000000"/>
                </a:solidFill>
                <a:highlight>
                  <a:srgbClr val="FFFFFF"/>
                </a:highlight>
                <a:latin typeface="Consolas"/>
              </a:rPr>
              <a:t>(</a:t>
            </a:r>
            <a:r>
              <a:rPr lang="en-US" dirty="0" err="1">
                <a:solidFill>
                  <a:srgbClr val="2B91AF"/>
                </a:solidFill>
                <a:highlight>
                  <a:srgbClr val="FFFFFF"/>
                </a:highlight>
                <a:latin typeface="Consolas"/>
              </a:rPr>
              <a:t>Sdata</a:t>
            </a:r>
            <a:r>
              <a:rPr lang="en-US" dirty="0">
                <a:solidFill>
                  <a:srgbClr val="000000"/>
                </a:solidFill>
                <a:highlight>
                  <a:srgbClr val="FFFFFF"/>
                </a:highlight>
                <a:latin typeface="Consolas"/>
              </a:rPr>
              <a:t>));</a:t>
            </a:r>
          </a:p>
          <a:p>
            <a:pPr lvl="1"/>
            <a:r>
              <a:rPr lang="en-US" dirty="0">
                <a:solidFill>
                  <a:srgbClr val="000000"/>
                </a:solidFill>
                <a:highlight>
                  <a:srgbClr val="FFFFFF"/>
                </a:highlight>
                <a:latin typeface="Consolas"/>
              </a:rPr>
              <a:t>FILE *</a:t>
            </a:r>
            <a:r>
              <a:rPr lang="en-US" dirty="0" err="1">
                <a:solidFill>
                  <a:srgbClr val="000000"/>
                </a:solidFill>
                <a:highlight>
                  <a:srgbClr val="FFFFFF"/>
                </a:highlight>
                <a:latin typeface="Consolas"/>
              </a:rPr>
              <a:t>fp</a:t>
            </a:r>
            <a:r>
              <a:rPr lang="en-US" dirty="0">
                <a:solidFill>
                  <a:srgbClr val="000000"/>
                </a:solidFill>
                <a:highlight>
                  <a:srgbClr val="FFFFFF"/>
                </a:highlight>
                <a:latin typeface="Consolas"/>
              </a:rPr>
              <a:t> = </a:t>
            </a:r>
            <a:r>
              <a:rPr lang="en-US" dirty="0" err="1">
                <a:solidFill>
                  <a:srgbClr val="000000"/>
                </a:solidFill>
                <a:highlight>
                  <a:srgbClr val="FFFFFF"/>
                </a:highlight>
                <a:latin typeface="Consolas"/>
              </a:rPr>
              <a:t>fopen</a:t>
            </a:r>
            <a:r>
              <a:rPr lang="en-US" dirty="0">
                <a:solidFill>
                  <a:srgbClr val="000000"/>
                </a:solidFill>
                <a:highlight>
                  <a:srgbClr val="FFFFFF"/>
                </a:highlight>
                <a:latin typeface="Consolas"/>
              </a:rPr>
              <a:t>(“example.txt”, ”r”);</a:t>
            </a:r>
          </a:p>
          <a:p>
            <a:pPr lvl="1"/>
            <a:r>
              <a:rPr lang="en-US" dirty="0" err="1">
                <a:solidFill>
                  <a:srgbClr val="000000"/>
                </a:solidFill>
                <a:highlight>
                  <a:srgbClr val="FFFFFF"/>
                </a:highlight>
                <a:latin typeface="Consolas"/>
              </a:rPr>
              <a:t>fscanf</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fp</a:t>
            </a:r>
            <a:r>
              <a:rPr lang="en-US" dirty="0">
                <a:solidFill>
                  <a:srgbClr val="000000"/>
                </a:solidFill>
                <a:highlight>
                  <a:srgbClr val="FFFFFF"/>
                </a:highlight>
                <a:latin typeface="Consolas"/>
              </a:rPr>
              <a:t>, ”%s %d %s”, p-&gt;name, &amp;p-&gt;age, p-&gt;address);</a:t>
            </a:r>
          </a:p>
          <a:p>
            <a:pPr lvl="1"/>
            <a:r>
              <a:rPr lang="en-US" dirty="0">
                <a:solidFill>
                  <a:srgbClr val="000000"/>
                </a:solidFill>
                <a:highlight>
                  <a:srgbClr val="FFFFFF"/>
                </a:highlight>
                <a:latin typeface="Consolas"/>
              </a:rPr>
              <a:t>free(p);</a:t>
            </a:r>
          </a:p>
          <a:p>
            <a:pPr lvl="1"/>
            <a:r>
              <a:rPr lang="en-US" dirty="0" err="1">
                <a:solidFill>
                  <a:srgbClr val="000000"/>
                </a:solidFill>
                <a:highlight>
                  <a:srgbClr val="FFFFFF"/>
                </a:highlight>
                <a:latin typeface="Consolas"/>
              </a:rPr>
              <a:t>fclose</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fp</a:t>
            </a:r>
            <a:r>
              <a:rPr lang="en-US" dirty="0">
                <a:solidFill>
                  <a:srgbClr val="000000"/>
                </a:solidFill>
                <a:highlight>
                  <a:srgbClr val="FFFFFF"/>
                </a:highlight>
                <a:latin typeface="Consolas"/>
              </a:rPr>
              <a:t>);</a:t>
            </a:r>
          </a:p>
          <a:p>
            <a:pPr lvl="1"/>
            <a:r>
              <a:rPr lang="en-US" dirty="0">
                <a:solidFill>
                  <a:srgbClr val="0000FF"/>
                </a:solidFill>
                <a:highlight>
                  <a:srgbClr val="FFFFFF"/>
                </a:highlight>
                <a:latin typeface="Consolas"/>
              </a:rPr>
              <a:t>return</a:t>
            </a:r>
            <a:r>
              <a:rPr lang="en-US" dirty="0">
                <a:solidFill>
                  <a:srgbClr val="000000"/>
                </a:solidFill>
                <a:highlight>
                  <a:srgbClr val="FFFFFF"/>
                </a:highlight>
                <a:latin typeface="Consolas"/>
              </a:rPr>
              <a:t> 0;</a:t>
            </a:r>
          </a:p>
          <a:p>
            <a:r>
              <a:rPr lang="en-US" dirty="0">
                <a:solidFill>
                  <a:srgbClr val="000000"/>
                </a:solidFill>
                <a:highlight>
                  <a:srgbClr val="FFFFFF"/>
                </a:highlight>
                <a:latin typeface="Consolas"/>
              </a:rPr>
              <a:t>}</a:t>
            </a:r>
            <a:endParaRPr lang="en-US" dirty="0"/>
          </a:p>
        </p:txBody>
      </p:sp>
      <p:sp>
        <p:nvSpPr>
          <p:cNvPr id="2" name="Title 1"/>
          <p:cNvSpPr>
            <a:spLocks noGrp="1"/>
          </p:cNvSpPr>
          <p:nvPr>
            <p:ph type="title"/>
          </p:nvPr>
        </p:nvSpPr>
        <p:spPr/>
        <p:txBody>
          <a:bodyPr/>
          <a:lstStyle/>
          <a:p>
            <a:r>
              <a:rPr lang="en-US" dirty="0"/>
              <a:t>Exercise 3</a:t>
            </a:r>
          </a:p>
        </p:txBody>
      </p:sp>
      <p:sp>
        <p:nvSpPr>
          <p:cNvPr id="4" name="Footer Placeholder 3"/>
          <p:cNvSpPr>
            <a:spLocks noGrp="1"/>
          </p:cNvSpPr>
          <p:nvPr>
            <p:ph type="ftr" sz="quarter" idx="11"/>
          </p:nvPr>
        </p:nvSpPr>
        <p:spPr/>
        <p:txBody>
          <a:bodyPr/>
          <a:lstStyle/>
          <a:p>
            <a:r>
              <a:rPr lang="en-US" altLang="zh-CN"/>
              <a:t>CSCI2520 Tutorial 1</a:t>
            </a:r>
            <a:endParaRPr lang="zh-CN" altLang="en-US"/>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1905000"/>
            <a:ext cx="2789238" cy="158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505150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4.1</a:t>
            </a:r>
          </a:p>
        </p:txBody>
      </p:sp>
      <p:sp>
        <p:nvSpPr>
          <p:cNvPr id="3" name="Content Placeholder 2"/>
          <p:cNvSpPr>
            <a:spLocks noGrp="1"/>
          </p:cNvSpPr>
          <p:nvPr>
            <p:ph idx="1"/>
          </p:nvPr>
        </p:nvSpPr>
        <p:spPr/>
        <p:txBody>
          <a:bodyPr/>
          <a:lstStyle/>
          <a:p>
            <a:r>
              <a:rPr lang="en-US" dirty="0"/>
              <a:t>What is the output?</a:t>
            </a:r>
          </a:p>
        </p:txBody>
      </p:sp>
      <p:sp>
        <p:nvSpPr>
          <p:cNvPr id="4" name="Footer Placeholder 3"/>
          <p:cNvSpPr>
            <a:spLocks noGrp="1"/>
          </p:cNvSpPr>
          <p:nvPr>
            <p:ph type="ftr" sz="quarter" idx="11"/>
          </p:nvPr>
        </p:nvSpPr>
        <p:spPr/>
        <p:txBody>
          <a:bodyPr/>
          <a:lstStyle/>
          <a:p>
            <a:r>
              <a:rPr lang="en-US" altLang="zh-CN"/>
              <a:t>CSCI2520 Tutorial 1</a:t>
            </a:r>
            <a:endParaRPr lang="zh-CN" altLang="en-US"/>
          </a:p>
        </p:txBody>
      </p:sp>
      <p:sp>
        <p:nvSpPr>
          <p:cNvPr id="5" name="TextBox 4"/>
          <p:cNvSpPr txBox="1"/>
          <p:nvPr/>
        </p:nvSpPr>
        <p:spPr>
          <a:xfrm>
            <a:off x="1115616" y="2276872"/>
            <a:ext cx="7128792" cy="3970318"/>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exchange(</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a:t>
            </a:r>
            <a:r>
              <a:rPr lang="en-US" dirty="0">
                <a:solidFill>
                  <a:srgbClr val="808080"/>
                </a:solidFill>
                <a:highlight>
                  <a:srgbClr val="FFFFFF"/>
                </a:highlight>
                <a:latin typeface="Consolas"/>
              </a:rPr>
              <a:t>a</a:t>
            </a: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a:t>
            </a:r>
            <a:r>
              <a:rPr lang="en-US" dirty="0">
                <a:solidFill>
                  <a:srgbClr val="808080"/>
                </a:solidFill>
                <a:highlight>
                  <a:srgbClr val="FFFFFF"/>
                </a:highlight>
                <a:latin typeface="Consolas"/>
              </a:rPr>
              <a:t>b</a:t>
            </a:r>
            <a:r>
              <a:rPr lang="en-US" dirty="0">
                <a:solidFill>
                  <a:srgbClr val="000000"/>
                </a:solidFill>
                <a:highlight>
                  <a:srgbClr val="FFFFFF"/>
                </a:highlight>
                <a:latin typeface="Consolas"/>
              </a:rPr>
              <a:t>)</a:t>
            </a:r>
          </a:p>
          <a:p>
            <a:r>
              <a:rPr lang="en-US" dirty="0">
                <a:solidFill>
                  <a:srgbClr val="000000"/>
                </a:solidFill>
                <a:highlight>
                  <a:srgbClr val="FFFFFF"/>
                </a:highlight>
                <a:latin typeface="Consolas"/>
              </a:rPr>
              <a:t>{</a:t>
            </a:r>
          </a:p>
          <a:p>
            <a:pPr lvl="1"/>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temp = </a:t>
            </a:r>
            <a:r>
              <a:rPr lang="en-US" dirty="0">
                <a:solidFill>
                  <a:srgbClr val="808080"/>
                </a:solidFill>
                <a:highlight>
                  <a:srgbClr val="FFFFFF"/>
                </a:highlight>
                <a:latin typeface="Consolas"/>
              </a:rPr>
              <a:t>a</a:t>
            </a:r>
            <a:r>
              <a:rPr lang="en-US" dirty="0">
                <a:solidFill>
                  <a:srgbClr val="000000"/>
                </a:solidFill>
                <a:highlight>
                  <a:srgbClr val="FFFFFF"/>
                </a:highlight>
                <a:latin typeface="Consolas"/>
              </a:rPr>
              <a:t>;</a:t>
            </a:r>
          </a:p>
          <a:p>
            <a:pPr lvl="1"/>
            <a:r>
              <a:rPr lang="en-US" dirty="0">
                <a:solidFill>
                  <a:srgbClr val="808080"/>
                </a:solidFill>
                <a:highlight>
                  <a:srgbClr val="FFFFFF"/>
                </a:highlight>
                <a:latin typeface="Consolas"/>
              </a:rPr>
              <a:t>a</a:t>
            </a:r>
            <a:r>
              <a:rPr lang="en-US" dirty="0">
                <a:solidFill>
                  <a:srgbClr val="000000"/>
                </a:solidFill>
                <a:highlight>
                  <a:srgbClr val="FFFFFF"/>
                </a:highlight>
                <a:latin typeface="Consolas"/>
              </a:rPr>
              <a:t> = </a:t>
            </a:r>
            <a:r>
              <a:rPr lang="en-US" dirty="0">
                <a:solidFill>
                  <a:srgbClr val="808080"/>
                </a:solidFill>
                <a:highlight>
                  <a:srgbClr val="FFFFFF"/>
                </a:highlight>
                <a:latin typeface="Consolas"/>
              </a:rPr>
              <a:t>b</a:t>
            </a:r>
            <a:r>
              <a:rPr lang="en-US" dirty="0">
                <a:solidFill>
                  <a:srgbClr val="000000"/>
                </a:solidFill>
                <a:highlight>
                  <a:srgbClr val="FFFFFF"/>
                </a:highlight>
                <a:latin typeface="Consolas"/>
              </a:rPr>
              <a:t>;</a:t>
            </a:r>
          </a:p>
          <a:p>
            <a:pPr lvl="1"/>
            <a:r>
              <a:rPr lang="en-US" dirty="0">
                <a:solidFill>
                  <a:srgbClr val="808080"/>
                </a:solidFill>
                <a:highlight>
                  <a:srgbClr val="FFFFFF"/>
                </a:highlight>
                <a:latin typeface="Consolas"/>
              </a:rPr>
              <a:t>b</a:t>
            </a:r>
            <a:r>
              <a:rPr lang="en-US" dirty="0">
                <a:solidFill>
                  <a:srgbClr val="000000"/>
                </a:solidFill>
                <a:highlight>
                  <a:srgbClr val="FFFFFF"/>
                </a:highlight>
                <a:latin typeface="Consolas"/>
              </a:rPr>
              <a:t> = temp;</a:t>
            </a:r>
          </a:p>
          <a:p>
            <a:r>
              <a:rPr lang="en-US" dirty="0">
                <a:solidFill>
                  <a:srgbClr val="000000"/>
                </a:solidFill>
                <a:highlight>
                  <a:srgbClr val="FFFFFF"/>
                </a:highlight>
                <a:latin typeface="Consolas"/>
              </a:rPr>
              <a:t>}</a:t>
            </a:r>
          </a:p>
          <a:p>
            <a:endParaRPr lang="en-US" dirty="0">
              <a:solidFill>
                <a:srgbClr val="000000"/>
              </a:solidFill>
              <a:highlight>
                <a:srgbClr val="FFFFFF"/>
              </a:highlight>
              <a:latin typeface="Consolas"/>
            </a:endParaRPr>
          </a:p>
          <a:p>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main()</a:t>
            </a:r>
          </a:p>
          <a:p>
            <a:r>
              <a:rPr lang="en-US" dirty="0">
                <a:solidFill>
                  <a:srgbClr val="000000"/>
                </a:solidFill>
                <a:highlight>
                  <a:srgbClr val="FFFFFF"/>
                </a:highlight>
                <a:latin typeface="Consolas"/>
              </a:rPr>
              <a:t>{</a:t>
            </a:r>
          </a:p>
          <a:p>
            <a:pPr lvl="1"/>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a = 3, b = 7;</a:t>
            </a:r>
          </a:p>
          <a:p>
            <a:pPr lvl="1"/>
            <a:r>
              <a:rPr lang="en-US" dirty="0" err="1">
                <a:solidFill>
                  <a:srgbClr val="000000"/>
                </a:solidFill>
                <a:highlight>
                  <a:srgbClr val="FFFFFF"/>
                </a:highlight>
                <a:latin typeface="Consolas"/>
              </a:rPr>
              <a:t>printf</a:t>
            </a:r>
            <a:r>
              <a:rPr lang="en-US" dirty="0">
                <a:solidFill>
                  <a:srgbClr val="000000"/>
                </a:solidFill>
                <a:highlight>
                  <a:srgbClr val="FFFFFF"/>
                </a:highlight>
                <a:latin typeface="Consolas"/>
              </a:rPr>
              <a:t>(</a:t>
            </a:r>
            <a:r>
              <a:rPr lang="en-US" dirty="0">
                <a:solidFill>
                  <a:srgbClr val="A31515"/>
                </a:solidFill>
                <a:highlight>
                  <a:srgbClr val="FFFFFF"/>
                </a:highlight>
                <a:latin typeface="Consolas"/>
              </a:rPr>
              <a:t>"Before exchanging: a=%d, b=%d\n"</a:t>
            </a:r>
            <a:r>
              <a:rPr lang="en-US" dirty="0">
                <a:solidFill>
                  <a:srgbClr val="000000"/>
                </a:solidFill>
                <a:highlight>
                  <a:srgbClr val="FFFFFF"/>
                </a:highlight>
                <a:latin typeface="Consolas"/>
              </a:rPr>
              <a:t>, a, b);</a:t>
            </a:r>
          </a:p>
          <a:p>
            <a:pPr lvl="1"/>
            <a:r>
              <a:rPr lang="en-US" dirty="0">
                <a:solidFill>
                  <a:srgbClr val="000000"/>
                </a:solidFill>
                <a:highlight>
                  <a:srgbClr val="FFFFFF"/>
                </a:highlight>
                <a:latin typeface="Consolas"/>
              </a:rPr>
              <a:t>exchange(a, b);</a:t>
            </a:r>
          </a:p>
          <a:p>
            <a:pPr lvl="1"/>
            <a:r>
              <a:rPr lang="en-US" dirty="0" err="1">
                <a:solidFill>
                  <a:srgbClr val="000000"/>
                </a:solidFill>
                <a:highlight>
                  <a:srgbClr val="FFFFFF"/>
                </a:highlight>
                <a:latin typeface="Consolas"/>
              </a:rPr>
              <a:t>printf</a:t>
            </a:r>
            <a:r>
              <a:rPr lang="en-US" dirty="0">
                <a:solidFill>
                  <a:srgbClr val="000000"/>
                </a:solidFill>
                <a:highlight>
                  <a:srgbClr val="FFFFFF"/>
                </a:highlight>
                <a:latin typeface="Consolas"/>
              </a:rPr>
              <a:t>(</a:t>
            </a:r>
            <a:r>
              <a:rPr lang="en-US" dirty="0">
                <a:solidFill>
                  <a:srgbClr val="A31515"/>
                </a:solidFill>
                <a:highlight>
                  <a:srgbClr val="FFFFFF"/>
                </a:highlight>
                <a:latin typeface="Consolas"/>
              </a:rPr>
              <a:t>"After exchanging: a=%d, b=%d\n"</a:t>
            </a:r>
            <a:r>
              <a:rPr lang="en-US" dirty="0">
                <a:solidFill>
                  <a:srgbClr val="000000"/>
                </a:solidFill>
                <a:highlight>
                  <a:srgbClr val="FFFFFF"/>
                </a:highlight>
                <a:latin typeface="Consolas"/>
              </a:rPr>
              <a:t>, a, b);</a:t>
            </a:r>
          </a:p>
          <a:p>
            <a:r>
              <a:rPr lang="en-US" dirty="0">
                <a:solidFill>
                  <a:srgbClr val="000000"/>
                </a:solidFill>
                <a:highlight>
                  <a:srgbClr val="FFFFFF"/>
                </a:highlight>
                <a:latin typeface="Consolas"/>
              </a:rPr>
              <a:t>}</a:t>
            </a:r>
            <a:endParaRPr lang="en-US" dirty="0"/>
          </a:p>
        </p:txBody>
      </p:sp>
    </p:spTree>
    <p:extLst>
      <p:ext uri="{BB962C8B-B14F-4D97-AF65-F5344CB8AC3E}">
        <p14:creationId xmlns:p14="http://schemas.microsoft.com/office/powerpoint/2010/main" val="37027285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4.2</a:t>
            </a:r>
          </a:p>
        </p:txBody>
      </p:sp>
      <p:sp>
        <p:nvSpPr>
          <p:cNvPr id="3" name="Content Placeholder 2"/>
          <p:cNvSpPr>
            <a:spLocks noGrp="1"/>
          </p:cNvSpPr>
          <p:nvPr>
            <p:ph idx="1"/>
          </p:nvPr>
        </p:nvSpPr>
        <p:spPr/>
        <p:txBody>
          <a:bodyPr/>
          <a:lstStyle/>
          <a:p>
            <a:r>
              <a:rPr lang="en-US" dirty="0"/>
              <a:t>What is the output?</a:t>
            </a:r>
          </a:p>
        </p:txBody>
      </p:sp>
      <p:sp>
        <p:nvSpPr>
          <p:cNvPr id="4" name="Footer Placeholder 3"/>
          <p:cNvSpPr>
            <a:spLocks noGrp="1"/>
          </p:cNvSpPr>
          <p:nvPr>
            <p:ph type="ftr" sz="quarter" idx="11"/>
          </p:nvPr>
        </p:nvSpPr>
        <p:spPr/>
        <p:txBody>
          <a:bodyPr/>
          <a:lstStyle/>
          <a:p>
            <a:r>
              <a:rPr lang="en-US" altLang="zh-CN"/>
              <a:t>CSCI2520 Tutorial 1</a:t>
            </a:r>
            <a:endParaRPr lang="zh-CN" altLang="en-US"/>
          </a:p>
        </p:txBody>
      </p:sp>
      <p:sp>
        <p:nvSpPr>
          <p:cNvPr id="5" name="TextBox 4"/>
          <p:cNvSpPr txBox="1"/>
          <p:nvPr/>
        </p:nvSpPr>
        <p:spPr>
          <a:xfrm>
            <a:off x="1115616" y="2276872"/>
            <a:ext cx="7128792" cy="3970318"/>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exchange(</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a:t>
            </a:r>
            <a:r>
              <a:rPr lang="en-US" dirty="0">
                <a:solidFill>
                  <a:srgbClr val="808080"/>
                </a:solidFill>
                <a:highlight>
                  <a:srgbClr val="FFFFFF"/>
                </a:highlight>
                <a:latin typeface="Consolas"/>
              </a:rPr>
              <a:t>a</a:t>
            </a: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a:t>
            </a:r>
            <a:r>
              <a:rPr lang="en-US" dirty="0">
                <a:solidFill>
                  <a:srgbClr val="808080"/>
                </a:solidFill>
                <a:highlight>
                  <a:srgbClr val="FFFFFF"/>
                </a:highlight>
                <a:latin typeface="Consolas"/>
              </a:rPr>
              <a:t>b</a:t>
            </a:r>
            <a:r>
              <a:rPr lang="en-US" dirty="0">
                <a:solidFill>
                  <a:srgbClr val="000000"/>
                </a:solidFill>
                <a:highlight>
                  <a:srgbClr val="FFFFFF"/>
                </a:highlight>
                <a:latin typeface="Consolas"/>
              </a:rPr>
              <a:t>)</a:t>
            </a:r>
          </a:p>
          <a:p>
            <a:r>
              <a:rPr lang="en-US" dirty="0">
                <a:solidFill>
                  <a:srgbClr val="000000"/>
                </a:solidFill>
                <a:highlight>
                  <a:srgbClr val="FFFFFF"/>
                </a:highlight>
                <a:latin typeface="Consolas"/>
              </a:rPr>
              <a:t>{</a:t>
            </a:r>
          </a:p>
          <a:p>
            <a:pPr lvl="1"/>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temp = *</a:t>
            </a:r>
            <a:r>
              <a:rPr lang="en-US" dirty="0">
                <a:solidFill>
                  <a:srgbClr val="808080"/>
                </a:solidFill>
                <a:highlight>
                  <a:srgbClr val="FFFFFF"/>
                </a:highlight>
                <a:latin typeface="Consolas"/>
              </a:rPr>
              <a:t>a</a:t>
            </a:r>
            <a:r>
              <a:rPr lang="en-US" dirty="0">
                <a:solidFill>
                  <a:srgbClr val="000000"/>
                </a:solidFill>
                <a:highlight>
                  <a:srgbClr val="FFFFFF"/>
                </a:highlight>
                <a:latin typeface="Consolas"/>
              </a:rPr>
              <a:t>;</a:t>
            </a:r>
          </a:p>
          <a:p>
            <a:pPr lvl="1"/>
            <a:r>
              <a:rPr lang="en-US" dirty="0">
                <a:solidFill>
                  <a:srgbClr val="000000"/>
                </a:solidFill>
                <a:highlight>
                  <a:srgbClr val="FFFFFF"/>
                </a:highlight>
                <a:latin typeface="Consolas"/>
              </a:rPr>
              <a:t>*</a:t>
            </a:r>
            <a:r>
              <a:rPr lang="en-US" dirty="0">
                <a:solidFill>
                  <a:srgbClr val="808080"/>
                </a:solidFill>
                <a:highlight>
                  <a:srgbClr val="FFFFFF"/>
                </a:highlight>
                <a:latin typeface="Consolas"/>
              </a:rPr>
              <a:t>a</a:t>
            </a:r>
            <a:r>
              <a:rPr lang="en-US" dirty="0">
                <a:solidFill>
                  <a:srgbClr val="000000"/>
                </a:solidFill>
                <a:highlight>
                  <a:srgbClr val="FFFFFF"/>
                </a:highlight>
                <a:latin typeface="Consolas"/>
              </a:rPr>
              <a:t> = *</a:t>
            </a:r>
            <a:r>
              <a:rPr lang="en-US" dirty="0">
                <a:solidFill>
                  <a:srgbClr val="808080"/>
                </a:solidFill>
                <a:highlight>
                  <a:srgbClr val="FFFFFF"/>
                </a:highlight>
                <a:latin typeface="Consolas"/>
              </a:rPr>
              <a:t>b</a:t>
            </a:r>
            <a:r>
              <a:rPr lang="en-US" dirty="0">
                <a:solidFill>
                  <a:srgbClr val="000000"/>
                </a:solidFill>
                <a:highlight>
                  <a:srgbClr val="FFFFFF"/>
                </a:highlight>
                <a:latin typeface="Consolas"/>
              </a:rPr>
              <a:t>;</a:t>
            </a:r>
          </a:p>
          <a:p>
            <a:pPr lvl="1"/>
            <a:r>
              <a:rPr lang="en-US" dirty="0">
                <a:solidFill>
                  <a:srgbClr val="000000"/>
                </a:solidFill>
                <a:highlight>
                  <a:srgbClr val="FFFFFF"/>
                </a:highlight>
                <a:latin typeface="Consolas"/>
              </a:rPr>
              <a:t>*</a:t>
            </a:r>
            <a:r>
              <a:rPr lang="en-US" dirty="0">
                <a:solidFill>
                  <a:srgbClr val="808080"/>
                </a:solidFill>
                <a:highlight>
                  <a:srgbClr val="FFFFFF"/>
                </a:highlight>
                <a:latin typeface="Consolas"/>
              </a:rPr>
              <a:t>b</a:t>
            </a:r>
            <a:r>
              <a:rPr lang="en-US" dirty="0">
                <a:solidFill>
                  <a:srgbClr val="000000"/>
                </a:solidFill>
                <a:highlight>
                  <a:srgbClr val="FFFFFF"/>
                </a:highlight>
                <a:latin typeface="Consolas"/>
              </a:rPr>
              <a:t> = temp;</a:t>
            </a:r>
          </a:p>
          <a:p>
            <a:r>
              <a:rPr lang="en-US" dirty="0">
                <a:solidFill>
                  <a:srgbClr val="000000"/>
                </a:solidFill>
                <a:highlight>
                  <a:srgbClr val="FFFFFF"/>
                </a:highlight>
                <a:latin typeface="Consolas"/>
              </a:rPr>
              <a:t>}</a:t>
            </a:r>
          </a:p>
          <a:p>
            <a:endParaRPr lang="en-US" dirty="0">
              <a:solidFill>
                <a:srgbClr val="000000"/>
              </a:solidFill>
              <a:highlight>
                <a:srgbClr val="FFFFFF"/>
              </a:highlight>
              <a:latin typeface="Consolas"/>
            </a:endParaRPr>
          </a:p>
          <a:p>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main()</a:t>
            </a:r>
          </a:p>
          <a:p>
            <a:r>
              <a:rPr lang="en-US" dirty="0">
                <a:solidFill>
                  <a:srgbClr val="000000"/>
                </a:solidFill>
                <a:highlight>
                  <a:srgbClr val="FFFFFF"/>
                </a:highlight>
                <a:latin typeface="Consolas"/>
              </a:rPr>
              <a:t>{</a:t>
            </a:r>
          </a:p>
          <a:p>
            <a:pPr lvl="1"/>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a = 3, b = 7;</a:t>
            </a:r>
          </a:p>
          <a:p>
            <a:pPr lvl="1"/>
            <a:r>
              <a:rPr lang="en-US" dirty="0" err="1">
                <a:solidFill>
                  <a:srgbClr val="000000"/>
                </a:solidFill>
                <a:highlight>
                  <a:srgbClr val="FFFFFF"/>
                </a:highlight>
                <a:latin typeface="Consolas"/>
              </a:rPr>
              <a:t>printf</a:t>
            </a:r>
            <a:r>
              <a:rPr lang="en-US" dirty="0">
                <a:solidFill>
                  <a:srgbClr val="000000"/>
                </a:solidFill>
                <a:highlight>
                  <a:srgbClr val="FFFFFF"/>
                </a:highlight>
                <a:latin typeface="Consolas"/>
              </a:rPr>
              <a:t>(</a:t>
            </a:r>
            <a:r>
              <a:rPr lang="en-US" dirty="0">
                <a:solidFill>
                  <a:srgbClr val="A31515"/>
                </a:solidFill>
                <a:highlight>
                  <a:srgbClr val="FFFFFF"/>
                </a:highlight>
                <a:latin typeface="Consolas"/>
              </a:rPr>
              <a:t>"Before exchanging: a=%d, b=%d\n"</a:t>
            </a:r>
            <a:r>
              <a:rPr lang="en-US" dirty="0">
                <a:solidFill>
                  <a:srgbClr val="000000"/>
                </a:solidFill>
                <a:highlight>
                  <a:srgbClr val="FFFFFF"/>
                </a:highlight>
                <a:latin typeface="Consolas"/>
              </a:rPr>
              <a:t>, a, b);</a:t>
            </a:r>
          </a:p>
          <a:p>
            <a:pPr lvl="1"/>
            <a:r>
              <a:rPr lang="en-US" dirty="0">
                <a:solidFill>
                  <a:srgbClr val="000000"/>
                </a:solidFill>
                <a:highlight>
                  <a:srgbClr val="FFFFFF"/>
                </a:highlight>
                <a:latin typeface="Consolas"/>
              </a:rPr>
              <a:t>exchange(&amp;a, &amp;b);</a:t>
            </a:r>
          </a:p>
          <a:p>
            <a:pPr lvl="1"/>
            <a:r>
              <a:rPr lang="en-US" dirty="0" err="1">
                <a:solidFill>
                  <a:srgbClr val="000000"/>
                </a:solidFill>
                <a:highlight>
                  <a:srgbClr val="FFFFFF"/>
                </a:highlight>
                <a:latin typeface="Consolas"/>
              </a:rPr>
              <a:t>printf</a:t>
            </a:r>
            <a:r>
              <a:rPr lang="en-US" dirty="0">
                <a:solidFill>
                  <a:srgbClr val="000000"/>
                </a:solidFill>
                <a:highlight>
                  <a:srgbClr val="FFFFFF"/>
                </a:highlight>
                <a:latin typeface="Consolas"/>
              </a:rPr>
              <a:t>(</a:t>
            </a:r>
            <a:r>
              <a:rPr lang="en-US" dirty="0">
                <a:solidFill>
                  <a:srgbClr val="A31515"/>
                </a:solidFill>
                <a:highlight>
                  <a:srgbClr val="FFFFFF"/>
                </a:highlight>
                <a:latin typeface="Consolas"/>
              </a:rPr>
              <a:t>"After exchanging: a=%d, b=%d\n"</a:t>
            </a:r>
            <a:r>
              <a:rPr lang="en-US" dirty="0">
                <a:solidFill>
                  <a:srgbClr val="000000"/>
                </a:solidFill>
                <a:highlight>
                  <a:srgbClr val="FFFFFF"/>
                </a:highlight>
                <a:latin typeface="Consolas"/>
              </a:rPr>
              <a:t>, a, b);</a:t>
            </a:r>
          </a:p>
          <a:p>
            <a:r>
              <a:rPr lang="en-US" dirty="0">
                <a:solidFill>
                  <a:srgbClr val="000000"/>
                </a:solidFill>
                <a:highlight>
                  <a:srgbClr val="FFFFFF"/>
                </a:highlight>
                <a:latin typeface="Consolas"/>
              </a:rPr>
              <a:t>}</a:t>
            </a:r>
            <a:endParaRPr lang="en-US" dirty="0"/>
          </a:p>
        </p:txBody>
      </p:sp>
    </p:spTree>
    <p:extLst>
      <p:ext uri="{BB962C8B-B14F-4D97-AF65-F5344CB8AC3E}">
        <p14:creationId xmlns:p14="http://schemas.microsoft.com/office/powerpoint/2010/main" val="26812943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4.3</a:t>
            </a:r>
          </a:p>
        </p:txBody>
      </p:sp>
      <p:sp>
        <p:nvSpPr>
          <p:cNvPr id="3" name="Content Placeholder 2"/>
          <p:cNvSpPr>
            <a:spLocks noGrp="1"/>
          </p:cNvSpPr>
          <p:nvPr>
            <p:ph idx="1"/>
          </p:nvPr>
        </p:nvSpPr>
        <p:spPr/>
        <p:txBody>
          <a:bodyPr/>
          <a:lstStyle/>
          <a:p>
            <a:r>
              <a:rPr lang="en-US" dirty="0"/>
              <a:t>What is the output?</a:t>
            </a:r>
          </a:p>
        </p:txBody>
      </p:sp>
      <p:sp>
        <p:nvSpPr>
          <p:cNvPr id="4" name="Footer Placeholder 3"/>
          <p:cNvSpPr>
            <a:spLocks noGrp="1"/>
          </p:cNvSpPr>
          <p:nvPr>
            <p:ph type="ftr" sz="quarter" idx="11"/>
          </p:nvPr>
        </p:nvSpPr>
        <p:spPr/>
        <p:txBody>
          <a:bodyPr/>
          <a:lstStyle/>
          <a:p>
            <a:r>
              <a:rPr lang="en-US" altLang="zh-CN"/>
              <a:t>CSCI2520 Tutorial 1</a:t>
            </a:r>
            <a:endParaRPr lang="zh-CN" altLang="en-US"/>
          </a:p>
        </p:txBody>
      </p:sp>
      <p:sp>
        <p:nvSpPr>
          <p:cNvPr id="5" name="TextBox 4"/>
          <p:cNvSpPr txBox="1"/>
          <p:nvPr/>
        </p:nvSpPr>
        <p:spPr>
          <a:xfrm>
            <a:off x="1115616" y="2276872"/>
            <a:ext cx="7128792" cy="3970318"/>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exchange(</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*a, </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*b)</a:t>
            </a:r>
          </a:p>
          <a:p>
            <a:r>
              <a:rPr lang="en-US" dirty="0">
                <a:solidFill>
                  <a:srgbClr val="000000"/>
                </a:solidFill>
                <a:highlight>
                  <a:srgbClr val="FFFFFF"/>
                </a:highlight>
                <a:latin typeface="Consolas"/>
              </a:rPr>
              <a:t>{</a:t>
            </a:r>
          </a:p>
          <a:p>
            <a:pPr lvl="1"/>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temp = a;</a:t>
            </a:r>
          </a:p>
          <a:p>
            <a:pPr lvl="1"/>
            <a:r>
              <a:rPr lang="en-US" dirty="0">
                <a:solidFill>
                  <a:srgbClr val="000000"/>
                </a:solidFill>
                <a:highlight>
                  <a:srgbClr val="FFFFFF"/>
                </a:highlight>
                <a:latin typeface="Consolas"/>
              </a:rPr>
              <a:t>a = b;</a:t>
            </a:r>
          </a:p>
          <a:p>
            <a:pPr lvl="1"/>
            <a:r>
              <a:rPr lang="en-US" dirty="0">
                <a:solidFill>
                  <a:srgbClr val="000000"/>
                </a:solidFill>
                <a:highlight>
                  <a:srgbClr val="FFFFFF"/>
                </a:highlight>
                <a:latin typeface="Consolas"/>
              </a:rPr>
              <a:t>b = temp;</a:t>
            </a:r>
          </a:p>
          <a:p>
            <a:r>
              <a:rPr lang="en-US" dirty="0">
                <a:solidFill>
                  <a:srgbClr val="000000"/>
                </a:solidFill>
                <a:highlight>
                  <a:srgbClr val="FFFFFF"/>
                </a:highlight>
                <a:latin typeface="Consolas"/>
              </a:rPr>
              <a:t>}</a:t>
            </a:r>
          </a:p>
          <a:p>
            <a:endParaRPr lang="en-US" dirty="0">
              <a:solidFill>
                <a:srgbClr val="000000"/>
              </a:solidFill>
              <a:highlight>
                <a:srgbClr val="FFFFFF"/>
              </a:highlight>
              <a:latin typeface="Consolas"/>
            </a:endParaRPr>
          </a:p>
          <a:p>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main()</a:t>
            </a:r>
          </a:p>
          <a:p>
            <a:r>
              <a:rPr lang="en-US" dirty="0">
                <a:solidFill>
                  <a:srgbClr val="000000"/>
                </a:solidFill>
                <a:highlight>
                  <a:srgbClr val="FFFFFF"/>
                </a:highlight>
                <a:latin typeface="Consolas"/>
              </a:rPr>
              <a:t>{</a:t>
            </a:r>
          </a:p>
          <a:p>
            <a:pPr lvl="1"/>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a = 3, b = 7;</a:t>
            </a:r>
          </a:p>
          <a:p>
            <a:pPr lvl="1"/>
            <a:r>
              <a:rPr lang="en-US" dirty="0" err="1">
                <a:solidFill>
                  <a:srgbClr val="000000"/>
                </a:solidFill>
                <a:highlight>
                  <a:srgbClr val="FFFFFF"/>
                </a:highlight>
                <a:latin typeface="Consolas"/>
              </a:rPr>
              <a:t>printf</a:t>
            </a:r>
            <a:r>
              <a:rPr lang="en-US" dirty="0">
                <a:solidFill>
                  <a:srgbClr val="000000"/>
                </a:solidFill>
                <a:highlight>
                  <a:srgbClr val="FFFFFF"/>
                </a:highlight>
                <a:latin typeface="Consolas"/>
              </a:rPr>
              <a:t>(</a:t>
            </a:r>
            <a:r>
              <a:rPr lang="en-US" dirty="0">
                <a:solidFill>
                  <a:srgbClr val="A31515"/>
                </a:solidFill>
                <a:highlight>
                  <a:srgbClr val="FFFFFF"/>
                </a:highlight>
                <a:latin typeface="Consolas"/>
              </a:rPr>
              <a:t>"Before exchanging: a=%d, b=%d\n"</a:t>
            </a:r>
            <a:r>
              <a:rPr lang="en-US" dirty="0">
                <a:solidFill>
                  <a:srgbClr val="000000"/>
                </a:solidFill>
                <a:highlight>
                  <a:srgbClr val="FFFFFF"/>
                </a:highlight>
                <a:latin typeface="Consolas"/>
              </a:rPr>
              <a:t>, a, b);</a:t>
            </a:r>
          </a:p>
          <a:p>
            <a:pPr lvl="1"/>
            <a:r>
              <a:rPr lang="en-US" dirty="0">
                <a:solidFill>
                  <a:srgbClr val="000000"/>
                </a:solidFill>
                <a:highlight>
                  <a:srgbClr val="FFFFFF"/>
                </a:highlight>
                <a:latin typeface="Consolas"/>
              </a:rPr>
              <a:t>exchange(&amp;a, &amp;b);</a:t>
            </a:r>
          </a:p>
          <a:p>
            <a:pPr lvl="1"/>
            <a:r>
              <a:rPr lang="en-US" dirty="0" err="1">
                <a:solidFill>
                  <a:srgbClr val="000000"/>
                </a:solidFill>
                <a:highlight>
                  <a:srgbClr val="FFFFFF"/>
                </a:highlight>
                <a:latin typeface="Consolas"/>
              </a:rPr>
              <a:t>printf</a:t>
            </a:r>
            <a:r>
              <a:rPr lang="en-US" dirty="0">
                <a:solidFill>
                  <a:srgbClr val="000000"/>
                </a:solidFill>
                <a:highlight>
                  <a:srgbClr val="FFFFFF"/>
                </a:highlight>
                <a:latin typeface="Consolas"/>
              </a:rPr>
              <a:t>(</a:t>
            </a:r>
            <a:r>
              <a:rPr lang="en-US" dirty="0">
                <a:solidFill>
                  <a:srgbClr val="A31515"/>
                </a:solidFill>
                <a:highlight>
                  <a:srgbClr val="FFFFFF"/>
                </a:highlight>
                <a:latin typeface="Consolas"/>
              </a:rPr>
              <a:t>"After exchanging: a=%d, b=%d\n"</a:t>
            </a:r>
            <a:r>
              <a:rPr lang="en-US" dirty="0">
                <a:solidFill>
                  <a:srgbClr val="000000"/>
                </a:solidFill>
                <a:highlight>
                  <a:srgbClr val="FFFFFF"/>
                </a:highlight>
                <a:latin typeface="Consolas"/>
              </a:rPr>
              <a:t>, a, b);</a:t>
            </a:r>
          </a:p>
          <a:p>
            <a:r>
              <a:rPr lang="en-US" dirty="0">
                <a:solidFill>
                  <a:srgbClr val="000000"/>
                </a:solidFill>
                <a:highlight>
                  <a:srgbClr val="FFFFFF"/>
                </a:highlight>
                <a:latin typeface="Consolas"/>
              </a:rPr>
              <a:t>}</a:t>
            </a:r>
            <a:endParaRPr lang="en-US" dirty="0"/>
          </a:p>
        </p:txBody>
      </p:sp>
    </p:spTree>
    <p:extLst>
      <p:ext uri="{BB962C8B-B14F-4D97-AF65-F5344CB8AC3E}">
        <p14:creationId xmlns:p14="http://schemas.microsoft.com/office/powerpoint/2010/main" val="4669782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4.4</a:t>
            </a:r>
          </a:p>
        </p:txBody>
      </p:sp>
      <p:sp>
        <p:nvSpPr>
          <p:cNvPr id="3" name="Content Placeholder 2"/>
          <p:cNvSpPr>
            <a:spLocks noGrp="1"/>
          </p:cNvSpPr>
          <p:nvPr>
            <p:ph idx="1"/>
          </p:nvPr>
        </p:nvSpPr>
        <p:spPr/>
        <p:txBody>
          <a:bodyPr/>
          <a:lstStyle/>
          <a:p>
            <a:r>
              <a:rPr lang="en-US" dirty="0"/>
              <a:t>What is the output?</a:t>
            </a:r>
          </a:p>
        </p:txBody>
      </p:sp>
      <p:sp>
        <p:nvSpPr>
          <p:cNvPr id="4" name="Footer Placeholder 3"/>
          <p:cNvSpPr>
            <a:spLocks noGrp="1"/>
          </p:cNvSpPr>
          <p:nvPr>
            <p:ph type="ftr" sz="quarter" idx="11"/>
          </p:nvPr>
        </p:nvSpPr>
        <p:spPr/>
        <p:txBody>
          <a:bodyPr/>
          <a:lstStyle/>
          <a:p>
            <a:r>
              <a:rPr lang="en-US" altLang="zh-CN"/>
              <a:t>CSCI2520 Tutorial 1</a:t>
            </a:r>
            <a:endParaRPr lang="zh-CN" altLang="en-US"/>
          </a:p>
        </p:txBody>
      </p:sp>
      <p:sp>
        <p:nvSpPr>
          <p:cNvPr id="5" name="TextBox 4"/>
          <p:cNvSpPr txBox="1"/>
          <p:nvPr/>
        </p:nvSpPr>
        <p:spPr>
          <a:xfrm>
            <a:off x="1115616" y="2276872"/>
            <a:ext cx="7128792" cy="3970318"/>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exchange(</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&amp; a, </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&amp; b)</a:t>
            </a:r>
          </a:p>
          <a:p>
            <a:r>
              <a:rPr lang="en-US" dirty="0">
                <a:solidFill>
                  <a:srgbClr val="000000"/>
                </a:solidFill>
                <a:highlight>
                  <a:srgbClr val="FFFFFF"/>
                </a:highlight>
                <a:latin typeface="Consolas"/>
              </a:rPr>
              <a:t>{</a:t>
            </a:r>
          </a:p>
          <a:p>
            <a:pPr lvl="1"/>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temp = a;</a:t>
            </a:r>
          </a:p>
          <a:p>
            <a:pPr lvl="1"/>
            <a:r>
              <a:rPr lang="en-US" dirty="0">
                <a:solidFill>
                  <a:srgbClr val="000000"/>
                </a:solidFill>
                <a:highlight>
                  <a:srgbClr val="FFFFFF"/>
                </a:highlight>
                <a:latin typeface="Consolas"/>
              </a:rPr>
              <a:t>a = b;</a:t>
            </a:r>
          </a:p>
          <a:p>
            <a:pPr lvl="1"/>
            <a:r>
              <a:rPr lang="en-US" dirty="0">
                <a:solidFill>
                  <a:srgbClr val="000000"/>
                </a:solidFill>
                <a:highlight>
                  <a:srgbClr val="FFFFFF"/>
                </a:highlight>
                <a:latin typeface="Consolas"/>
              </a:rPr>
              <a:t>b = temp;</a:t>
            </a:r>
          </a:p>
          <a:p>
            <a:r>
              <a:rPr lang="en-US" dirty="0">
                <a:solidFill>
                  <a:srgbClr val="000000"/>
                </a:solidFill>
                <a:highlight>
                  <a:srgbClr val="FFFFFF"/>
                </a:highlight>
                <a:latin typeface="Consolas"/>
              </a:rPr>
              <a:t>}</a:t>
            </a:r>
          </a:p>
          <a:p>
            <a:endParaRPr lang="en-US" dirty="0">
              <a:solidFill>
                <a:srgbClr val="000000"/>
              </a:solidFill>
              <a:highlight>
                <a:srgbClr val="FFFFFF"/>
              </a:highlight>
              <a:latin typeface="Consolas"/>
            </a:endParaRPr>
          </a:p>
          <a:p>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main()</a:t>
            </a:r>
          </a:p>
          <a:p>
            <a:r>
              <a:rPr lang="en-US" dirty="0">
                <a:solidFill>
                  <a:srgbClr val="000000"/>
                </a:solidFill>
                <a:highlight>
                  <a:srgbClr val="FFFFFF"/>
                </a:highlight>
                <a:latin typeface="Consolas"/>
              </a:rPr>
              <a:t>{</a:t>
            </a:r>
          </a:p>
          <a:p>
            <a:pPr lvl="1"/>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a = 3, b = 7;</a:t>
            </a:r>
          </a:p>
          <a:p>
            <a:pPr lvl="1"/>
            <a:r>
              <a:rPr lang="en-US" dirty="0" err="1">
                <a:solidFill>
                  <a:srgbClr val="000000"/>
                </a:solidFill>
                <a:highlight>
                  <a:srgbClr val="FFFFFF"/>
                </a:highlight>
                <a:latin typeface="Consolas"/>
              </a:rPr>
              <a:t>printf</a:t>
            </a:r>
            <a:r>
              <a:rPr lang="en-US" dirty="0">
                <a:solidFill>
                  <a:srgbClr val="000000"/>
                </a:solidFill>
                <a:highlight>
                  <a:srgbClr val="FFFFFF"/>
                </a:highlight>
                <a:latin typeface="Consolas"/>
              </a:rPr>
              <a:t>(</a:t>
            </a:r>
            <a:r>
              <a:rPr lang="en-US" dirty="0">
                <a:solidFill>
                  <a:srgbClr val="A31515"/>
                </a:solidFill>
                <a:highlight>
                  <a:srgbClr val="FFFFFF"/>
                </a:highlight>
                <a:latin typeface="Consolas"/>
              </a:rPr>
              <a:t>"Before exchanging: a=%d, b=%d\n"</a:t>
            </a:r>
            <a:r>
              <a:rPr lang="en-US" dirty="0">
                <a:solidFill>
                  <a:srgbClr val="000000"/>
                </a:solidFill>
                <a:highlight>
                  <a:srgbClr val="FFFFFF"/>
                </a:highlight>
                <a:latin typeface="Consolas"/>
              </a:rPr>
              <a:t>, a, b);</a:t>
            </a:r>
          </a:p>
          <a:p>
            <a:pPr lvl="1"/>
            <a:r>
              <a:rPr lang="en-US" dirty="0">
                <a:solidFill>
                  <a:srgbClr val="000000"/>
                </a:solidFill>
                <a:highlight>
                  <a:srgbClr val="FFFFFF"/>
                </a:highlight>
                <a:latin typeface="Consolas"/>
              </a:rPr>
              <a:t>exchange(a, b);</a:t>
            </a:r>
          </a:p>
          <a:p>
            <a:pPr lvl="1"/>
            <a:r>
              <a:rPr lang="en-US" dirty="0" err="1">
                <a:solidFill>
                  <a:srgbClr val="000000"/>
                </a:solidFill>
                <a:highlight>
                  <a:srgbClr val="FFFFFF"/>
                </a:highlight>
                <a:latin typeface="Consolas"/>
              </a:rPr>
              <a:t>printf</a:t>
            </a:r>
            <a:r>
              <a:rPr lang="en-US" dirty="0">
                <a:solidFill>
                  <a:srgbClr val="000000"/>
                </a:solidFill>
                <a:highlight>
                  <a:srgbClr val="FFFFFF"/>
                </a:highlight>
                <a:latin typeface="Consolas"/>
              </a:rPr>
              <a:t>(</a:t>
            </a:r>
            <a:r>
              <a:rPr lang="en-US" dirty="0">
                <a:solidFill>
                  <a:srgbClr val="A31515"/>
                </a:solidFill>
                <a:highlight>
                  <a:srgbClr val="FFFFFF"/>
                </a:highlight>
                <a:latin typeface="Consolas"/>
              </a:rPr>
              <a:t>"After exchanging: a=%d, b=%d\n"</a:t>
            </a:r>
            <a:r>
              <a:rPr lang="en-US" dirty="0">
                <a:solidFill>
                  <a:srgbClr val="000000"/>
                </a:solidFill>
                <a:highlight>
                  <a:srgbClr val="FFFFFF"/>
                </a:highlight>
                <a:latin typeface="Consolas"/>
              </a:rPr>
              <a:t>, a, b);</a:t>
            </a:r>
          </a:p>
          <a:p>
            <a:r>
              <a:rPr lang="en-US" dirty="0">
                <a:solidFill>
                  <a:srgbClr val="000000"/>
                </a:solidFill>
                <a:highlight>
                  <a:srgbClr val="FFFFFF"/>
                </a:highlight>
                <a:latin typeface="Consolas"/>
              </a:rPr>
              <a:t>}</a:t>
            </a:r>
            <a:endParaRPr lang="en-US" dirty="0"/>
          </a:p>
        </p:txBody>
      </p:sp>
    </p:spTree>
    <p:extLst>
      <p:ext uri="{BB962C8B-B14F-4D97-AF65-F5344CB8AC3E}">
        <p14:creationId xmlns:p14="http://schemas.microsoft.com/office/powerpoint/2010/main" val="4669782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r>
              <a:rPr lang="en-US" dirty="0"/>
              <a:t>Pointer</a:t>
            </a:r>
          </a:p>
          <a:p>
            <a:r>
              <a:rPr lang="en-US" dirty="0" err="1"/>
              <a:t>Malloc</a:t>
            </a:r>
            <a:endParaRPr lang="en-US" dirty="0"/>
          </a:p>
          <a:p>
            <a:r>
              <a:rPr lang="en-US" dirty="0" err="1"/>
              <a:t>Typedef</a:t>
            </a:r>
            <a:endParaRPr lang="en-US" dirty="0"/>
          </a:p>
          <a:p>
            <a:r>
              <a:rPr lang="en-US" dirty="0" err="1"/>
              <a:t>Struct</a:t>
            </a:r>
            <a:endParaRPr lang="en-US" dirty="0"/>
          </a:p>
          <a:p>
            <a:endParaRPr lang="en-US" dirty="0"/>
          </a:p>
          <a:p>
            <a:pPr marL="0" indent="0">
              <a:buNone/>
            </a:pPr>
            <a:r>
              <a:rPr lang="en-US" dirty="0"/>
              <a:t>Reference: </a:t>
            </a:r>
            <a:r>
              <a:rPr lang="en-US" dirty="0">
                <a:hlinkClick r:id="rId2"/>
              </a:rPr>
              <a:t>http://www.cplusplus.com/</a:t>
            </a:r>
            <a:endParaRPr lang="en-US" dirty="0"/>
          </a:p>
          <a:p>
            <a:pPr marL="0" indent="0">
              <a:buNone/>
            </a:pPr>
            <a:endParaRPr lang="en-US" dirty="0"/>
          </a:p>
          <a:p>
            <a:pPr marL="0" indent="0">
              <a:buNone/>
            </a:pPr>
            <a:endParaRPr lang="en-US" dirty="0"/>
          </a:p>
        </p:txBody>
      </p:sp>
      <p:sp>
        <p:nvSpPr>
          <p:cNvPr id="4" name="Footer Placeholder 3"/>
          <p:cNvSpPr>
            <a:spLocks noGrp="1"/>
          </p:cNvSpPr>
          <p:nvPr>
            <p:ph type="ftr" sz="quarter" idx="11"/>
          </p:nvPr>
        </p:nvSpPr>
        <p:spPr/>
        <p:txBody>
          <a:bodyPr/>
          <a:lstStyle/>
          <a:p>
            <a:r>
              <a:rPr lang="en-US" altLang="zh-CN"/>
              <a:t>CSCI2520 Tutorial 1</a:t>
            </a:r>
            <a:endParaRPr lang="zh-CN" altLang="en-US"/>
          </a:p>
        </p:txBody>
      </p:sp>
    </p:spTree>
    <p:extLst>
      <p:ext uri="{BB962C8B-B14F-4D97-AF65-F5344CB8AC3E}">
        <p14:creationId xmlns:p14="http://schemas.microsoft.com/office/powerpoint/2010/main" val="10462227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867CB-320E-3E0C-09A6-99A0037002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404A-6F56-AFA6-72B5-9A69209F2746}"/>
              </a:ext>
            </a:extLst>
          </p:cNvPr>
          <p:cNvSpPr>
            <a:spLocks noGrp="1"/>
          </p:cNvSpPr>
          <p:nvPr>
            <p:ph type="title"/>
          </p:nvPr>
        </p:nvSpPr>
        <p:spPr>
          <a:xfrm>
            <a:off x="107504" y="404664"/>
            <a:ext cx="8795320" cy="1143000"/>
          </a:xfrm>
        </p:spPr>
        <p:txBody>
          <a:bodyPr>
            <a:normAutofit fontScale="90000"/>
          </a:bodyPr>
          <a:lstStyle/>
          <a:p>
            <a:r>
              <a:rPr lang="en-US" altLang="zh-CN" b="1" dirty="0"/>
              <a:t>Help Us Shape Your Learning Experience!</a:t>
            </a:r>
            <a:endParaRPr lang="en-US" dirty="0"/>
          </a:p>
        </p:txBody>
      </p:sp>
      <p:sp>
        <p:nvSpPr>
          <p:cNvPr id="4" name="Footer Placeholder 3">
            <a:extLst>
              <a:ext uri="{FF2B5EF4-FFF2-40B4-BE49-F238E27FC236}">
                <a16:creationId xmlns:a16="http://schemas.microsoft.com/office/drawing/2014/main" id="{4791AB5D-A21F-5638-A442-6ED726FA86E4}"/>
              </a:ext>
            </a:extLst>
          </p:cNvPr>
          <p:cNvSpPr>
            <a:spLocks noGrp="1"/>
          </p:cNvSpPr>
          <p:nvPr>
            <p:ph type="ftr" sz="quarter" idx="11"/>
          </p:nvPr>
        </p:nvSpPr>
        <p:spPr/>
        <p:txBody>
          <a:bodyPr/>
          <a:lstStyle/>
          <a:p>
            <a:r>
              <a:rPr lang="en-US" altLang="zh-CN" dirty="0"/>
              <a:t>CSCI2520 Tutorial 1</a:t>
            </a:r>
            <a:endParaRPr lang="zh-CN" altLang="en-US" dirty="0"/>
          </a:p>
        </p:txBody>
      </p:sp>
      <p:pic>
        <p:nvPicPr>
          <p:cNvPr id="9" name="图片 8">
            <a:extLst>
              <a:ext uri="{FF2B5EF4-FFF2-40B4-BE49-F238E27FC236}">
                <a16:creationId xmlns:a16="http://schemas.microsoft.com/office/drawing/2014/main" id="{A8B29E88-F925-9C06-2ED1-905910AA696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47900" y="1700808"/>
            <a:ext cx="2648199" cy="2648199"/>
          </a:xfrm>
          <a:prstGeom prst="rect">
            <a:avLst/>
          </a:prstGeom>
        </p:spPr>
      </p:pic>
      <p:sp>
        <p:nvSpPr>
          <p:cNvPr id="11" name="文本框 10">
            <a:extLst>
              <a:ext uri="{FF2B5EF4-FFF2-40B4-BE49-F238E27FC236}">
                <a16:creationId xmlns:a16="http://schemas.microsoft.com/office/drawing/2014/main" id="{80A8B376-3E49-5493-C465-1281170849D4}"/>
              </a:ext>
            </a:extLst>
          </p:cNvPr>
          <p:cNvSpPr txBox="1"/>
          <p:nvPr/>
        </p:nvSpPr>
        <p:spPr>
          <a:xfrm>
            <a:off x="2258226" y="4500062"/>
            <a:ext cx="4627546" cy="923330"/>
          </a:xfrm>
          <a:prstGeom prst="rect">
            <a:avLst/>
          </a:prstGeom>
          <a:noFill/>
        </p:spPr>
        <p:txBody>
          <a:bodyPr wrap="square">
            <a:spAutoFit/>
          </a:bodyPr>
          <a:lstStyle/>
          <a:p>
            <a:r>
              <a:rPr lang="en-US" altLang="zh-CN" dirty="0">
                <a:latin typeface="+mj-lt"/>
                <a:hlinkClick r:id="rId3"/>
              </a:rPr>
              <a:t>https://docs.google.com/forms/d/e/1FAIpQLSeQae3jZ9up030JrhCl7LyjZAr3PGCvO0NQo0zzIhaL0jOeOg/viewform?usp=header</a:t>
            </a:r>
            <a:endParaRPr lang="zh-CN" altLang="en-US" dirty="0">
              <a:latin typeface="+mj-lt"/>
            </a:endParaRPr>
          </a:p>
        </p:txBody>
      </p:sp>
    </p:spTree>
    <p:extLst>
      <p:ext uri="{BB962C8B-B14F-4D97-AF65-F5344CB8AC3E}">
        <p14:creationId xmlns:p14="http://schemas.microsoft.com/office/powerpoint/2010/main" val="150867752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2231</TotalTime>
  <Words>1421</Words>
  <Application>Microsoft Office PowerPoint</Application>
  <PresentationFormat>全屏显示(4:3)</PresentationFormat>
  <Paragraphs>273</Paragraphs>
  <Slides>25</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25</vt:i4>
      </vt:variant>
    </vt:vector>
  </HeadingPairs>
  <TitlesOfParts>
    <vt:vector size="30" baseType="lpstr">
      <vt:lpstr>SimSun</vt:lpstr>
      <vt:lpstr>Arial</vt:lpstr>
      <vt:lpstr>Calibri</vt:lpstr>
      <vt:lpstr>Consolas</vt:lpstr>
      <vt:lpstr>Office 主题</vt:lpstr>
      <vt:lpstr>CSCI2520 Tutorial 1: C Programming Review</vt:lpstr>
      <vt:lpstr>About me</vt:lpstr>
      <vt:lpstr>Notes</vt:lpstr>
      <vt:lpstr>PowerPoint 演示文稿</vt:lpstr>
      <vt:lpstr>Useful Links</vt:lpstr>
      <vt:lpstr>Outline</vt:lpstr>
      <vt:lpstr>Pointer</vt:lpstr>
      <vt:lpstr>Pointer</vt:lpstr>
      <vt:lpstr>Pointer</vt:lpstr>
      <vt:lpstr>Exercise 1</vt:lpstr>
      <vt:lpstr>Exercise 1 Solution</vt:lpstr>
      <vt:lpstr>Pointer &amp; Array</vt:lpstr>
      <vt:lpstr>Exercise 2</vt:lpstr>
      <vt:lpstr>Malloc</vt:lpstr>
      <vt:lpstr>Typedef</vt:lpstr>
      <vt:lpstr>Typedef</vt:lpstr>
      <vt:lpstr>Typedef</vt:lpstr>
      <vt:lpstr>Struct</vt:lpstr>
      <vt:lpstr>Exercise 3</vt:lpstr>
      <vt:lpstr>Exercise 4.1</vt:lpstr>
      <vt:lpstr>Exercise 4.2</vt:lpstr>
      <vt:lpstr>Exercise 4.3</vt:lpstr>
      <vt:lpstr>Exercise 4.4</vt:lpstr>
      <vt:lpstr>Summary</vt:lpstr>
      <vt:lpstr>Help Us Shape Your Learning Experience!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CSCI2520 Tutorial 1 (Week 2): C Programming Review</dc:title>
  <dc:creator>gjchen</dc:creator>
  <cp:lastModifiedBy>Zhenyu Pan (SDS, 120090196)</cp:lastModifiedBy>
  <cp:revision>30</cp:revision>
  <dcterms:created xsi:type="dcterms:W3CDTF">2016-01-18T13:38:47Z</dcterms:created>
  <dcterms:modified xsi:type="dcterms:W3CDTF">2026-01-13T03:43:14Z</dcterms:modified>
</cp:coreProperties>
</file>