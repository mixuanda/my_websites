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78" r:id="rId4"/>
    <p:sldId id="306" r:id="rId5"/>
    <p:sldId id="281" r:id="rId6"/>
    <p:sldId id="308" r:id="rId7"/>
    <p:sldId id="309" r:id="rId8"/>
    <p:sldId id="316" r:id="rId9"/>
    <p:sldId id="317" r:id="rId10"/>
    <p:sldId id="279" r:id="rId11"/>
    <p:sldId id="307" r:id="rId12"/>
    <p:sldId id="310" r:id="rId13"/>
    <p:sldId id="311" r:id="rId14"/>
    <p:sldId id="312" r:id="rId15"/>
    <p:sldId id="313" r:id="rId16"/>
    <p:sldId id="314" r:id="rId17"/>
    <p:sldId id="315" r:id="rId18"/>
    <p:sldId id="280" r:id="rId19"/>
    <p:sldId id="282" r:id="rId20"/>
    <p:sldId id="318" r:id="rId21"/>
    <p:sldId id="277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025911-F2B2-CF4F-A4FE-BD57B2B73CCF}" v="1" dt="2025-02-27T08:31:47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945" autoAdjust="0"/>
  </p:normalViewPr>
  <p:slideViewPr>
    <p:cSldViewPr>
      <p:cViewPr varScale="1">
        <p:scale>
          <a:sx n="141" d="100"/>
          <a:sy n="141" d="100"/>
        </p:scale>
        <p:origin x="2172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Hui" userId="2acf357a-d887-4e08-95d2-f44b1823070d" providerId="ADAL" clId="{D8025911-F2B2-CF4F-A4FE-BD57B2B73CCF}"/>
    <pc:docChg chg="modSld">
      <pc:chgData name="LI, Hui" userId="2acf357a-d887-4e08-95d2-f44b1823070d" providerId="ADAL" clId="{D8025911-F2B2-CF4F-A4FE-BD57B2B73CCF}" dt="2025-02-27T08:31:46.555" v="18" actId="20577"/>
      <pc:docMkLst>
        <pc:docMk/>
      </pc:docMkLst>
      <pc:sldChg chg="modSp mod">
        <pc:chgData name="LI, Hui" userId="2acf357a-d887-4e08-95d2-f44b1823070d" providerId="ADAL" clId="{D8025911-F2B2-CF4F-A4FE-BD57B2B73CCF}" dt="2025-02-27T08:31:46.555" v="18" actId="20577"/>
        <pc:sldMkLst>
          <pc:docMk/>
          <pc:sldMk cId="1346080441" sldId="256"/>
        </pc:sldMkLst>
        <pc:spChg chg="mod">
          <ac:chgData name="LI, Hui" userId="2acf357a-d887-4e08-95d2-f44b1823070d" providerId="ADAL" clId="{D8025911-F2B2-CF4F-A4FE-BD57B2B73CCF}" dt="2025-02-27T08:31:46.555" v="18" actId="20577"/>
          <ac:spMkLst>
            <pc:docMk/>
            <pc:sldMk cId="1346080441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24543-D117-4FAE-B2D8-BA38168DA83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16CBC-8DC5-4156-9E82-CF8406BBC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11C3-1530-4712-B912-6782E1C9A391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9C285-9EF7-4936-8CDB-CA7B08EFEA1A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5A932-3701-4034-ABA6-F5F206A16119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CC78-5E2D-4499-8B77-D851B10B08A8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8DCE-F33D-4FC4-B5D5-979A1E2D7D6D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4158-ABD1-4938-95C3-85C985D79E08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85E3F-18CC-41D5-B25F-60FFF82F797C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9601-68A0-4910-B195-7B76C2651FE9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13A67-1837-4290-BE81-E6ADA236F9C4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C569D-8EE1-4502-92C0-4E36607B9A4E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CD8DD-8624-4636-8E1F-BF261D8144ED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CDDA1-7FDD-47B3-89D8-8539B1D3B142}" type="datetime1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CSCI2520 Tutorial 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ypan24@cse.cuhk.edu.h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CSCI2520 Tutorial 5:</a:t>
            </a:r>
            <a:br>
              <a:rPr lang="en-US" dirty="0"/>
            </a:br>
            <a:r>
              <a:rPr lang="en-US" dirty="0"/>
              <a:t>Complexity Analysis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61371AB-F45F-C0D2-3C26-205702B1C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Pan Zhenyu</a:t>
            </a:r>
          </a:p>
          <a:p>
            <a:r>
              <a:rPr lang="en-US" dirty="0">
                <a:hlinkClick r:id="rId2"/>
              </a:rPr>
              <a:t>zypan24@cse.cuhk.edu.hk</a:t>
            </a:r>
            <a:endParaRPr lang="en-US" dirty="0"/>
          </a:p>
          <a:p>
            <a:r>
              <a:rPr lang="en-US" dirty="0"/>
              <a:t>Slide Ack: modified based on the slides from Li Hui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0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Big-O Notation </a:t>
            </a:r>
          </a:p>
          <a:p>
            <a:r>
              <a:rPr lang="en-US" dirty="0"/>
              <a:t>Big-O Formal Definition</a:t>
            </a:r>
          </a:p>
          <a:p>
            <a:r>
              <a:rPr lang="en-US" dirty="0"/>
              <a:t>Big-O Simplification Rules with Examples</a:t>
            </a:r>
          </a:p>
          <a:p>
            <a:r>
              <a:rPr lang="en-US" dirty="0"/>
              <a:t>Quick Mid-term Review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583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Big-O Notation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The relationship between the problem size </a:t>
            </a:r>
            <a:r>
              <a:rPr lang="en-US" altLang="zh-TW" dirty="0">
                <a:solidFill>
                  <a:srgbClr val="0000FF"/>
                </a:solidFill>
                <a:latin typeface="cmmi10" pitchFamily="34" charset="0"/>
              </a:rPr>
              <a:t>N</a:t>
            </a:r>
            <a:r>
              <a:rPr lang="en-US" altLang="zh-TW" dirty="0"/>
              <a:t> and the performance of an algorithm as </a:t>
            </a:r>
            <a:r>
              <a:rPr lang="en-US" altLang="zh-TW" dirty="0">
                <a:solidFill>
                  <a:srgbClr val="0000FF"/>
                </a:solidFill>
                <a:latin typeface="cmmi10" pitchFamily="34" charset="0"/>
              </a:rPr>
              <a:t>N</a:t>
            </a:r>
            <a:r>
              <a:rPr lang="en-US" altLang="zh-TW" dirty="0"/>
              <a:t> becomes large is called the </a:t>
            </a:r>
            <a:r>
              <a:rPr lang="en-US" altLang="zh-TW" b="1" i="1" dirty="0">
                <a:solidFill>
                  <a:srgbClr val="FF0000"/>
                </a:solidFill>
              </a:rPr>
              <a:t>computational complexity</a:t>
            </a:r>
            <a:r>
              <a:rPr lang="en-US" altLang="zh-TW" dirty="0"/>
              <a:t> (or time complexity) of the algorithm.</a:t>
            </a:r>
          </a:p>
          <a:p>
            <a:r>
              <a:rPr lang="en-US" altLang="zh-TW" dirty="0"/>
              <a:t>The </a:t>
            </a:r>
            <a:r>
              <a:rPr lang="en-US" altLang="zh-TW" b="1" i="1" dirty="0">
                <a:solidFill>
                  <a:srgbClr val="FF0000"/>
                </a:solidFill>
              </a:rPr>
              <a:t>big-O notation</a:t>
            </a:r>
            <a:r>
              <a:rPr lang="en-US" altLang="zh-TW" dirty="0"/>
              <a:t> is used to provide a </a:t>
            </a:r>
            <a:r>
              <a:rPr lang="en-US" altLang="zh-TW" i="1" dirty="0">
                <a:solidFill>
                  <a:srgbClr val="0000FF"/>
                </a:solidFill>
              </a:rPr>
              <a:t>quantitative insight</a:t>
            </a:r>
            <a:r>
              <a:rPr lang="en-US" altLang="zh-TW" dirty="0"/>
              <a:t> as to how changes in the problem size </a:t>
            </a:r>
            <a:r>
              <a:rPr lang="en-US" altLang="zh-TW" dirty="0">
                <a:solidFill>
                  <a:srgbClr val="0000FF"/>
                </a:solidFill>
                <a:latin typeface="cmmi10" pitchFamily="34" charset="0"/>
              </a:rPr>
              <a:t>N</a:t>
            </a:r>
            <a:r>
              <a:rPr lang="en-US" altLang="zh-TW" dirty="0"/>
              <a:t> affect the algorithmic performance as </a:t>
            </a:r>
            <a:r>
              <a:rPr lang="en-US" altLang="zh-TW" dirty="0">
                <a:solidFill>
                  <a:srgbClr val="0000FF"/>
                </a:solidFill>
                <a:latin typeface="cmmi10" pitchFamily="34" charset="0"/>
              </a:rPr>
              <a:t>N</a:t>
            </a:r>
            <a:r>
              <a:rPr lang="en-US" altLang="zh-TW" dirty="0"/>
              <a:t> becomes </a:t>
            </a:r>
            <a:r>
              <a:rPr lang="en-US" altLang="zh-TW" i="1" dirty="0">
                <a:solidFill>
                  <a:srgbClr val="0000FF"/>
                </a:solidFill>
              </a:rPr>
              <a:t>large</a:t>
            </a:r>
            <a:r>
              <a:rPr lang="en-US" altLang="zh-TW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307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799A60-770D-ACA7-75A0-3DE9062F8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658130A-B87A-1553-911D-F112F3FB7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9" y="1268760"/>
            <a:ext cx="8979361" cy="390545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9E6C97A-55FE-37B2-69D2-8414F748C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Big-O Notation </a:t>
            </a:r>
          </a:p>
        </p:txBody>
      </p:sp>
    </p:spTree>
    <p:extLst>
      <p:ext uri="{BB962C8B-B14F-4D97-AF65-F5344CB8AC3E}">
        <p14:creationId xmlns:p14="http://schemas.microsoft.com/office/powerpoint/2010/main" val="2372680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Big-O Formal Definition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pic>
        <p:nvPicPr>
          <p:cNvPr id="8" name="图片 7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2A87018C-DE5F-46C8-580A-ECE1E78B6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8647"/>
            <a:ext cx="9144000" cy="2032000"/>
          </a:xfrm>
          <a:prstGeom prst="rect">
            <a:avLst/>
          </a:prstGeom>
        </p:spPr>
      </p:pic>
      <p:pic>
        <p:nvPicPr>
          <p:cNvPr id="10" name="图片 9" descr="文本, 信件&#10;&#10;AI 生成的内容可能不正确。">
            <a:extLst>
              <a:ext uri="{FF2B5EF4-FFF2-40B4-BE49-F238E27FC236}">
                <a16:creationId xmlns:a16="http://schemas.microsoft.com/office/drawing/2014/main" id="{9692F76D-B754-5061-BC68-9F3275596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6" y="3578964"/>
            <a:ext cx="4997707" cy="2597283"/>
          </a:xfrm>
          <a:prstGeom prst="rect">
            <a:avLst/>
          </a:prstGeom>
        </p:spPr>
      </p:pic>
      <p:pic>
        <p:nvPicPr>
          <p:cNvPr id="12" name="图片 11" descr="图示&#10;&#10;AI 生成的内容可能不正确。">
            <a:extLst>
              <a:ext uri="{FF2B5EF4-FFF2-40B4-BE49-F238E27FC236}">
                <a16:creationId xmlns:a16="http://schemas.microsoft.com/office/drawing/2014/main" id="{676CB733-FF79-A356-F13D-4D9668B2A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072" y="3669015"/>
            <a:ext cx="3560442" cy="259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80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15E08-3896-8AF9-B389-378827C4F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AA832B-221A-47C8-64F8-2E7DD962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370A180-E84A-E062-C970-B927643F7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Example of Big-O</a:t>
            </a:r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12FC0419-4D1F-A5C6-58D8-C9D21BA29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92" y="2492896"/>
            <a:ext cx="8103016" cy="211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4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368E4-D70B-578B-15CF-6C3859721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F900EE-9786-DD63-C961-976A7EDB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C4437A-12BE-08A8-8B52-6580D27D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Example of Big-O</a:t>
            </a:r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2A454A95-8005-285E-E8CC-B89BDF368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92" y="2492896"/>
            <a:ext cx="8103016" cy="211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504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4C6C1-DE49-9023-7B27-6AC2F7842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42E48-928E-799F-080C-7BB131D6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851FC1-8010-ED9B-241F-072CD30943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zh-CN" dirty="0"/>
                  <a:t>Prove or disprove: </a:t>
                </a:r>
                <a:r>
                  <a:rPr lang="zh-CN" altLang="en-US" dirty="0"/>
                  <a:t>𝑔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𝑛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= 2</a:t>
                </a:r>
                <a:r>
                  <a:rPr lang="zh-CN" altLang="en-US" dirty="0"/>
                  <a:t>𝑛 </a:t>
                </a:r>
                <a:r>
                  <a:rPr lang="en-US" altLang="zh-CN" dirty="0"/>
                  <a:t>= </a:t>
                </a:r>
                <a:r>
                  <a:rPr lang="zh-CN" altLang="en-US" dirty="0"/>
                  <a:t>𝑂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)</a:t>
                </a:r>
                <a:endParaRPr lang="en-US" altLang="zh-TW" kern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851FC1-8010-ED9B-241F-072CD30943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33F63-CBE4-820A-1C05-B82179C49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6936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96C7-140F-B9FC-19DD-3F480FED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C126-9576-5CB2-D953-D2C20576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Solution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25EC5-AFCF-E3AF-4FD6-4B9F267F8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A8CACDE2-C017-0AD9-BEEE-577C72278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09" y="2276872"/>
            <a:ext cx="8388781" cy="12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82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Big-O </a:t>
            </a:r>
            <a:r>
              <a:rPr lang="en-US" altLang="zh-TW" dirty="0"/>
              <a:t>Simplification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i="1" dirty="0">
                <a:solidFill>
                  <a:srgbClr val="FF0000"/>
                </a:solidFill>
              </a:rPr>
              <a:t>Eliminate any term whose contribution to the total becomes </a:t>
            </a:r>
            <a:r>
              <a:rPr lang="en-US" altLang="zh-TW" b="1" i="1" dirty="0">
                <a:solidFill>
                  <a:srgbClr val="0000FF"/>
                </a:solidFill>
              </a:rPr>
              <a:t>in</a:t>
            </a:r>
            <a:r>
              <a:rPr lang="en-US" altLang="zh-TW" i="1" dirty="0">
                <a:solidFill>
                  <a:srgbClr val="FF0000"/>
                </a:solidFill>
              </a:rPr>
              <a:t>significant as </a:t>
            </a:r>
            <a:r>
              <a:rPr lang="en-US" altLang="zh-TW" dirty="0">
                <a:solidFill>
                  <a:srgbClr val="0000FF"/>
                </a:solidFill>
                <a:latin typeface="cmmi10" pitchFamily="34" charset="0"/>
              </a:rPr>
              <a:t>N</a:t>
            </a:r>
            <a:r>
              <a:rPr lang="en-US" altLang="zh-TW" i="1" dirty="0">
                <a:solidFill>
                  <a:srgbClr val="FF0000"/>
                </a:solidFill>
              </a:rPr>
              <a:t> becomes large.</a:t>
            </a:r>
          </a:p>
          <a:p>
            <a:pPr lvl="1"/>
            <a:r>
              <a:rPr lang="en-US" altLang="zh-TW" dirty="0"/>
              <a:t>When a formula involves a summation of several terms, the </a:t>
            </a:r>
            <a:r>
              <a:rPr lang="en-US" altLang="zh-TW" i="1" dirty="0">
                <a:solidFill>
                  <a:srgbClr val="FF0000"/>
                </a:solidFill>
              </a:rPr>
              <a:t>fastest growing term</a:t>
            </a:r>
            <a:r>
              <a:rPr lang="en-US" altLang="zh-TW" dirty="0"/>
              <a:t> alone will </a:t>
            </a:r>
            <a:r>
              <a:rPr lang="en-US" altLang="zh-TW" i="1" dirty="0">
                <a:solidFill>
                  <a:srgbClr val="FF0000"/>
                </a:solidFill>
              </a:rPr>
              <a:t>control</a:t>
            </a:r>
            <a:r>
              <a:rPr lang="en-US" altLang="zh-TW" dirty="0"/>
              <a:t> the running time of the algorithm for large </a:t>
            </a:r>
            <a:r>
              <a:rPr lang="en-US" altLang="zh-TW" dirty="0">
                <a:solidFill>
                  <a:srgbClr val="0000FF"/>
                </a:solidFill>
                <a:latin typeface="cmmi10" pitchFamily="34" charset="0"/>
              </a:rPr>
              <a:t>N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Example: </a:t>
            </a:r>
            <a:r>
              <a:rPr lang="en-US" altLang="zh-TW" dirty="0">
                <a:latin typeface="cmmi10" pitchFamily="34" charset="0"/>
              </a:rPr>
              <a:t>N</a:t>
            </a:r>
            <a:r>
              <a:rPr lang="en-US" altLang="zh-TW" baseline="30000" dirty="0"/>
              <a:t>3</a:t>
            </a:r>
            <a:r>
              <a:rPr lang="en-US" altLang="zh-TW" dirty="0"/>
              <a:t> + 1000</a:t>
            </a:r>
            <a:r>
              <a:rPr lang="en-US" altLang="zh-TW" dirty="0">
                <a:latin typeface="cmmi10" pitchFamily="34" charset="0"/>
              </a:rPr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+ </a:t>
            </a:r>
            <a:r>
              <a:rPr lang="en-US" altLang="zh-TW" dirty="0">
                <a:latin typeface="cmmi10" pitchFamily="34" charset="0"/>
              </a:rPr>
              <a:t>N</a:t>
            </a:r>
            <a:r>
              <a:rPr lang="en-US" altLang="zh-TW" dirty="0"/>
              <a:t> = </a:t>
            </a:r>
            <a:r>
              <a:rPr lang="en-US" altLang="zh-TW" dirty="0">
                <a:latin typeface="cmmi10" pitchFamily="34" charset="0"/>
              </a:rPr>
              <a:t>O</a:t>
            </a:r>
            <a:r>
              <a:rPr lang="en-US" altLang="zh-TW" dirty="0"/>
              <a:t>(</a:t>
            </a:r>
            <a:r>
              <a:rPr lang="en-US" altLang="zh-TW" dirty="0">
                <a:latin typeface="cmmi10" pitchFamily="34" charset="0"/>
              </a:rPr>
              <a:t>N</a:t>
            </a:r>
            <a:r>
              <a:rPr lang="en-US" altLang="zh-TW" baseline="30000" dirty="0"/>
              <a:t>3</a:t>
            </a:r>
            <a:r>
              <a:rPr lang="en-US" altLang="zh-TW" dirty="0"/>
              <a:t>)</a:t>
            </a:r>
          </a:p>
          <a:p>
            <a:r>
              <a:rPr lang="en-US" altLang="zh-TW" i="1" dirty="0">
                <a:solidFill>
                  <a:srgbClr val="FF0000"/>
                </a:solidFill>
              </a:rPr>
              <a:t>Eliminate any </a:t>
            </a:r>
            <a:r>
              <a:rPr lang="en-US" altLang="zh-TW" b="1" i="1" dirty="0">
                <a:solidFill>
                  <a:srgbClr val="0000FF"/>
                </a:solidFill>
              </a:rPr>
              <a:t>constant factors</a:t>
            </a:r>
            <a:r>
              <a:rPr lang="en-US" altLang="zh-TW" i="1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altLang="zh-TW" dirty="0"/>
              <a:t>What we want to capture in computational complexity is how changes in </a:t>
            </a:r>
            <a:r>
              <a:rPr lang="en-US" altLang="zh-TW" dirty="0">
                <a:solidFill>
                  <a:srgbClr val="0000FF"/>
                </a:solidFill>
                <a:latin typeface="cmmi10" pitchFamily="34" charset="0"/>
              </a:rPr>
              <a:t>N</a:t>
            </a:r>
            <a:r>
              <a:rPr lang="en-US" altLang="zh-TW" dirty="0"/>
              <a:t> affect the algorithmic performance.</a:t>
            </a:r>
          </a:p>
          <a:p>
            <a:pPr lvl="1"/>
            <a:r>
              <a:rPr lang="en-US" altLang="zh-TW" dirty="0"/>
              <a:t>Example: 0.1</a:t>
            </a:r>
            <a:r>
              <a:rPr lang="en-US" altLang="zh-TW" dirty="0">
                <a:latin typeface="cmmi10" pitchFamily="34" charset="0"/>
              </a:rPr>
              <a:t>N</a:t>
            </a:r>
            <a:r>
              <a:rPr lang="en-US" altLang="zh-TW" baseline="30000" dirty="0"/>
              <a:t>3</a:t>
            </a:r>
            <a:r>
              <a:rPr lang="en-US" altLang="zh-TW" dirty="0"/>
              <a:t> = </a:t>
            </a:r>
            <a:r>
              <a:rPr lang="en-US" altLang="zh-TW" dirty="0">
                <a:latin typeface="cmmi10" pitchFamily="34" charset="0"/>
              </a:rPr>
              <a:t>O</a:t>
            </a:r>
            <a:r>
              <a:rPr lang="en-US" altLang="zh-TW" dirty="0"/>
              <a:t>(</a:t>
            </a:r>
            <a:r>
              <a:rPr lang="en-US" altLang="zh-TW" dirty="0">
                <a:latin typeface="cmmi10" pitchFamily="34" charset="0"/>
              </a:rPr>
              <a:t>N</a:t>
            </a:r>
            <a:r>
              <a:rPr lang="en-US" altLang="zh-TW" baseline="30000" dirty="0"/>
              <a:t>3</a:t>
            </a:r>
            <a:r>
              <a:rPr lang="en-US" altLang="zh-TW" dirty="0"/>
              <a:t>)</a:t>
            </a:r>
            <a:endParaRPr lang="en-US" altLang="zh-TW" i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2749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61045E-5A01-EF9E-3D59-5F5104E96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BC2C3A-AB6D-F8D0-3E39-71A37D5A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Big-O </a:t>
            </a:r>
            <a:r>
              <a:rPr lang="en-US" altLang="zh-TW" dirty="0"/>
              <a:t>Simplification Rules</a:t>
            </a:r>
            <a:endParaRPr lang="en-US" dirty="0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B44A2006-A71C-A502-9F07-4DB5B2443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84" y="1344270"/>
            <a:ext cx="6892830" cy="2074695"/>
          </a:xfrm>
          <a:prstGeom prst="rect">
            <a:avLst/>
          </a:prstGeom>
        </p:spPr>
      </p:pic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3BD19CB2-1653-D457-61ED-16267F865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938" y="3501008"/>
            <a:ext cx="3984121" cy="253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1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70B728-991B-41FC-2194-C69682EA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F6DF92-2891-0A8F-1C8F-F3C5F9E6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Polynomial rule: Examples</a:t>
            </a:r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B1B2BA6A-E057-A2BB-EDCE-8C0D5275E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37" y="1417638"/>
            <a:ext cx="8471326" cy="425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36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AD48-DF2F-8E2F-3F24-9ABCAE15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02C0E1-498B-A4EB-B10D-4A31819D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A00D13B-6605-0AE0-3245-F76B8D434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rule: The big multiplies the big</a:t>
            </a:r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AD2509AE-1C8C-8D58-F2B1-B42D711D8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6" y="1268760"/>
            <a:ext cx="9093667" cy="469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33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64F89-0A79-CC14-8652-B2C54CD2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405D3E-09B6-72EB-A84A-904D31CE0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E8F1D82-748D-EE27-15D0-ACEF5E8E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Max rule: The bigger of the two </a:t>
            </a:r>
            <a:r>
              <a:rPr lang="en-US" dirty="0" err="1"/>
              <a:t>bigs</a:t>
            </a:r>
            <a:endParaRPr lang="en-US" dirty="0"/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83ACEF3A-40AE-A965-086D-4DBB80EB2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144000" cy="493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56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3E91B-FD7A-D422-F473-9B088217E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277259-EFB9-7D22-08F9-09AEB8BD1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A885C1-5DA6-B9D1-7720-3DA96FE4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Log rules: log only beats constant</a:t>
            </a:r>
          </a:p>
        </p:txBody>
      </p:sp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06A15110-A2A4-8223-80FC-00C5366B0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4784"/>
            <a:ext cx="9144000" cy="459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74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12E02-7DD1-ECB8-7F24-B8BADDDD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B1ABFD-8CAB-2653-FD5D-C22D1979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E9A3DF-7119-4499-43F7-61640015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Exponential rules: Exponential beats powers</a:t>
            </a:r>
          </a:p>
        </p:txBody>
      </p: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0369C1E2-11E7-628B-D488-4892DD15D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40" y="1700808"/>
            <a:ext cx="7452320" cy="396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183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AE449-295E-CAC4-4AEE-27AAED259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3E002E-A2E8-E88D-5F8E-23979BCE3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835B1B8-8155-53EC-CA23-B703A9F1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Common Big-O functions/classes</a:t>
            </a:r>
          </a:p>
        </p:txBody>
      </p:sp>
      <p:pic>
        <p:nvPicPr>
          <p:cNvPr id="3" name="图片 2" descr="文本, 信件&#10;&#10;AI 生成的内容可能不正确。">
            <a:extLst>
              <a:ext uri="{FF2B5EF4-FFF2-40B4-BE49-F238E27FC236}">
                <a16:creationId xmlns:a16="http://schemas.microsoft.com/office/drawing/2014/main" id="{00AF966B-1CFB-A290-9033-8C1CEAF86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744" y="3863928"/>
            <a:ext cx="5758509" cy="2351206"/>
          </a:xfrm>
          <a:prstGeom prst="rect">
            <a:avLst/>
          </a:prstGeom>
        </p:spPr>
      </p:pic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59624EFC-888F-E2B6-644E-AC2427D7B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6" y="1210807"/>
            <a:ext cx="8884107" cy="257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19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Order the following functions by ascending</a:t>
            </a:r>
            <a:br>
              <a:rPr lang="en-US" dirty="0"/>
            </a:br>
            <a:r>
              <a:rPr lang="en-US" dirty="0"/>
              <a:t>order of growth rates.</a:t>
            </a:r>
            <a:endParaRPr lang="en-US" altLang="zh-TW" kern="0" dirty="0"/>
          </a:p>
          <a:p>
            <a:pPr lvl="1">
              <a:defRPr/>
            </a:pPr>
            <a:r>
              <a:rPr lang="en-US" altLang="zh-TW" kern="0" dirty="0"/>
              <a:t>2N</a:t>
            </a:r>
            <a:r>
              <a:rPr lang="en-US" altLang="zh-TW" kern="0" baseline="30000" dirty="0"/>
              <a:t>1/2</a:t>
            </a:r>
            <a:r>
              <a:rPr lang="en-US" altLang="zh-TW" kern="0" dirty="0"/>
              <a:t> + log N + 1</a:t>
            </a:r>
          </a:p>
          <a:p>
            <a:pPr lvl="1">
              <a:defRPr/>
            </a:pPr>
            <a:r>
              <a:rPr lang="en-US" altLang="zh-TW" kern="0" dirty="0"/>
              <a:t>N + 5log N + 100</a:t>
            </a:r>
          </a:p>
          <a:p>
            <a:pPr lvl="1">
              <a:defRPr/>
            </a:pPr>
            <a:r>
              <a:rPr lang="en-US" altLang="zh-TW" kern="0" dirty="0"/>
              <a:t>3N</a:t>
            </a:r>
            <a:r>
              <a:rPr lang="en-US" altLang="zh-TW" kern="0" baseline="30000" dirty="0"/>
              <a:t>3/2</a:t>
            </a:r>
            <a:r>
              <a:rPr lang="en-US" altLang="zh-TW" kern="0" dirty="0"/>
              <a:t> - 2N</a:t>
            </a:r>
            <a:r>
              <a:rPr lang="en-US" altLang="zh-TW" kern="0" baseline="30000" dirty="0"/>
              <a:t>1/2</a:t>
            </a:r>
            <a:endParaRPr lang="en-US" altLang="zh-TW" kern="0" dirty="0"/>
          </a:p>
          <a:p>
            <a:pPr lvl="1">
              <a:defRPr/>
            </a:pPr>
            <a:r>
              <a:rPr lang="en-US" altLang="zh-TW" kern="0" dirty="0"/>
              <a:t>2N</a:t>
            </a:r>
            <a:r>
              <a:rPr lang="en-US" altLang="zh-TW" kern="0" baseline="30000" dirty="0"/>
              <a:t>2</a:t>
            </a:r>
            <a:r>
              <a:rPr lang="en-US" altLang="zh-TW" kern="0" dirty="0"/>
              <a:t> + 9Nlog N + 1</a:t>
            </a:r>
          </a:p>
          <a:p>
            <a:pPr lvl="1">
              <a:defRPr/>
            </a:pPr>
            <a:r>
              <a:rPr lang="en-US" altLang="zh-TW" kern="0" dirty="0"/>
              <a:t>0.0001N</a:t>
            </a:r>
            <a:r>
              <a:rPr lang="en-US" altLang="zh-TW" kern="0" baseline="30000" dirty="0"/>
              <a:t>3</a:t>
            </a:r>
            <a:r>
              <a:rPr lang="en-US" altLang="zh-TW" kern="0" dirty="0"/>
              <a:t> + 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556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Order the following functions by ascending</a:t>
            </a:r>
            <a:br>
              <a:rPr lang="en-US" dirty="0"/>
            </a:br>
            <a:r>
              <a:rPr lang="en-US" dirty="0"/>
              <a:t>order of growth rates.</a:t>
            </a:r>
            <a:endParaRPr lang="en-US" altLang="zh-TW" kern="0" dirty="0"/>
          </a:p>
          <a:p>
            <a:pPr lvl="1">
              <a:defRPr/>
            </a:pPr>
            <a:r>
              <a:rPr lang="en-US" altLang="zh-TW" kern="0" dirty="0"/>
              <a:t>2N</a:t>
            </a:r>
            <a:r>
              <a:rPr lang="en-US" altLang="zh-TW" kern="0" baseline="30000" dirty="0"/>
              <a:t>1/2</a:t>
            </a:r>
            <a:r>
              <a:rPr lang="en-US" altLang="zh-TW" kern="0" dirty="0"/>
              <a:t> + log N + 1 = O(N</a:t>
            </a:r>
            <a:r>
              <a:rPr lang="en-US" altLang="zh-TW" kern="0" baseline="30000" dirty="0"/>
              <a:t>1/2</a:t>
            </a:r>
            <a:r>
              <a:rPr lang="en-US" altLang="zh-TW" kern="0" dirty="0"/>
              <a:t>) </a:t>
            </a:r>
          </a:p>
          <a:p>
            <a:pPr lvl="1">
              <a:defRPr/>
            </a:pPr>
            <a:r>
              <a:rPr lang="en-US" altLang="zh-TW" kern="0" dirty="0"/>
              <a:t>N + 5log N + 100 = O(N)</a:t>
            </a:r>
          </a:p>
          <a:p>
            <a:pPr lvl="1">
              <a:defRPr/>
            </a:pPr>
            <a:r>
              <a:rPr lang="en-US" altLang="zh-TW" kern="0" dirty="0"/>
              <a:t>3N</a:t>
            </a:r>
            <a:r>
              <a:rPr lang="en-US" altLang="zh-TW" kern="0" baseline="30000" dirty="0"/>
              <a:t>3/2</a:t>
            </a:r>
            <a:r>
              <a:rPr lang="en-US" altLang="zh-TW" kern="0" dirty="0"/>
              <a:t> - 2N</a:t>
            </a:r>
            <a:r>
              <a:rPr lang="en-US" altLang="zh-TW" kern="0" baseline="30000" dirty="0"/>
              <a:t>1/2</a:t>
            </a:r>
            <a:r>
              <a:rPr lang="en-US" altLang="zh-TW" kern="0" dirty="0"/>
              <a:t> = O(N</a:t>
            </a:r>
            <a:r>
              <a:rPr lang="en-US" altLang="zh-TW" kern="0" baseline="30000" dirty="0"/>
              <a:t>3/2</a:t>
            </a:r>
            <a:r>
              <a:rPr lang="en-US" altLang="zh-TW" kern="0" dirty="0"/>
              <a:t>) </a:t>
            </a:r>
          </a:p>
          <a:p>
            <a:pPr lvl="1">
              <a:defRPr/>
            </a:pPr>
            <a:r>
              <a:rPr lang="en-US" altLang="zh-TW" kern="0" dirty="0"/>
              <a:t>2N</a:t>
            </a:r>
            <a:r>
              <a:rPr lang="en-US" altLang="zh-TW" kern="0" baseline="30000" dirty="0"/>
              <a:t>2</a:t>
            </a:r>
            <a:r>
              <a:rPr lang="en-US" altLang="zh-TW" kern="0" dirty="0"/>
              <a:t> + 9Nlog N + 1 = O(N</a:t>
            </a:r>
            <a:r>
              <a:rPr lang="en-US" altLang="zh-TW" kern="0" baseline="30000" dirty="0"/>
              <a:t>2</a:t>
            </a:r>
            <a:r>
              <a:rPr lang="en-US" altLang="zh-TW" kern="0" dirty="0"/>
              <a:t>)</a:t>
            </a:r>
          </a:p>
          <a:p>
            <a:pPr lvl="1">
              <a:defRPr/>
            </a:pPr>
            <a:r>
              <a:rPr lang="en-US" altLang="zh-TW" kern="0" dirty="0"/>
              <a:t>0.0001N</a:t>
            </a:r>
            <a:r>
              <a:rPr lang="en-US" altLang="zh-TW" kern="0" baseline="30000" dirty="0"/>
              <a:t>3</a:t>
            </a:r>
            <a:r>
              <a:rPr lang="en-US" altLang="zh-TW" kern="0" dirty="0"/>
              <a:t> + N = O(N</a:t>
            </a:r>
            <a:r>
              <a:rPr lang="en-US" altLang="zh-TW" kern="0" baseline="30000" dirty="0"/>
              <a:t>3</a:t>
            </a:r>
            <a:r>
              <a:rPr lang="en-US" altLang="zh-TW" kern="0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8582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DCE39F-6F21-8D92-C4AC-F9D787416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A5990E-488F-1E81-34F3-6FEAF5C5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US" altLang="zh-CN" dirty="0"/>
              <a:t>Quik Midterm 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09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CSCI2520 Tutorial 5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1061A-692B-597B-8EE4-8FCA66D98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Big-O Notation </a:t>
            </a:r>
          </a:p>
          <a:p>
            <a:r>
              <a:rPr lang="en-US" dirty="0"/>
              <a:t>Big-O Formal Definition</a:t>
            </a:r>
          </a:p>
          <a:p>
            <a:r>
              <a:rPr lang="en-US" dirty="0"/>
              <a:t>Big-O Simplification Rules with Examples</a:t>
            </a:r>
          </a:p>
          <a:p>
            <a:r>
              <a:rPr lang="en-US" dirty="0"/>
              <a:t>Quick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046222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445</Words>
  <Application>Microsoft Office PowerPoint</Application>
  <PresentationFormat>全屏显示(4:3)</PresentationFormat>
  <Paragraphs>73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 Math</vt:lpstr>
      <vt:lpstr>cmmi10</vt:lpstr>
      <vt:lpstr>Office 主题</vt:lpstr>
      <vt:lpstr>CSCI2520 Tutorial 5: Complexity Analysis</vt:lpstr>
      <vt:lpstr>Outline</vt:lpstr>
      <vt:lpstr>Big-O Notation </vt:lpstr>
      <vt:lpstr>Big-O Notation </vt:lpstr>
      <vt:lpstr>Big-O Formal Definition</vt:lpstr>
      <vt:lpstr>Example of Big-O</vt:lpstr>
      <vt:lpstr>Example of Big-O</vt:lpstr>
      <vt:lpstr>Exercise 1</vt:lpstr>
      <vt:lpstr>Exercise 1 Solution</vt:lpstr>
      <vt:lpstr>Big-O Simplification Rules</vt:lpstr>
      <vt:lpstr>Big-O Simplification Rules</vt:lpstr>
      <vt:lpstr>Polynomial rule: Examples</vt:lpstr>
      <vt:lpstr>Product rule: The big multiplies the big</vt:lpstr>
      <vt:lpstr>Max rule: The bigger of the two bigs</vt:lpstr>
      <vt:lpstr>Log rules: log only beats constant</vt:lpstr>
      <vt:lpstr>Exponential rules: Exponential beats powers</vt:lpstr>
      <vt:lpstr>Common Big-O functions/classes</vt:lpstr>
      <vt:lpstr>Exercise 2</vt:lpstr>
      <vt:lpstr>Exercise 2 Solution</vt:lpstr>
      <vt:lpstr>Quik Midterm Review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CSCI2520 Tutorial 1 (Week 2): C Programming Review</dc:title>
  <dc:creator>gjchen</dc:creator>
  <cp:lastModifiedBy>PAN, Zhenyu</cp:lastModifiedBy>
  <cp:revision>92</cp:revision>
  <dcterms:created xsi:type="dcterms:W3CDTF">2016-01-18T13:38:47Z</dcterms:created>
  <dcterms:modified xsi:type="dcterms:W3CDTF">2026-02-09T17:52:24Z</dcterms:modified>
</cp:coreProperties>
</file>