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301" r:id="rId19"/>
    <p:sldId id="302" r:id="rId20"/>
    <p:sldId id="277" r:id="rId21"/>
    <p:sldId id="279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303" r:id="rId30"/>
    <p:sldId id="304" r:id="rId31"/>
    <p:sldId id="261" r:id="rId32"/>
    <p:sldId id="308" r:id="rId33"/>
    <p:sldId id="286" r:id="rId34"/>
    <p:sldId id="287" r:id="rId35"/>
    <p:sldId id="288" r:id="rId36"/>
    <p:sldId id="289" r:id="rId37"/>
    <p:sldId id="290" r:id="rId38"/>
    <p:sldId id="292" r:id="rId39"/>
    <p:sldId id="291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6" r:id="rId49"/>
    <p:sldId id="307" r:id="rId50"/>
    <p:sldId id="309" r:id="rId51"/>
    <p:sldId id="305" r:id="rId5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5271" autoAdjust="0"/>
  </p:normalViewPr>
  <p:slideViewPr>
    <p:cSldViewPr>
      <p:cViewPr varScale="1">
        <p:scale>
          <a:sx n="81" d="100"/>
          <a:sy n="81" d="100"/>
        </p:scale>
        <p:origin x="17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989EFB25-9452-1B4F-9E13-4226902DF808}"/>
    <pc:docChg chg="modSld sldOrd">
      <pc:chgData name="LI, Hui" userId="2acf357a-d887-4e08-95d2-f44b1823070d" providerId="ADAL" clId="{989EFB25-9452-1B4F-9E13-4226902DF808}" dt="2025-04-10T09:44:27.213" v="77" actId="20577"/>
      <pc:docMkLst>
        <pc:docMk/>
      </pc:docMkLst>
      <pc:sldChg chg="modSp mod">
        <pc:chgData name="LI, Hui" userId="2acf357a-d887-4e08-95d2-f44b1823070d" providerId="ADAL" clId="{989EFB25-9452-1B4F-9E13-4226902DF808}" dt="2025-04-10T08:22:27.957" v="9" actId="20577"/>
        <pc:sldMkLst>
          <pc:docMk/>
          <pc:sldMk cId="1346080441" sldId="256"/>
        </pc:sldMkLst>
        <pc:spChg chg="mod">
          <ac:chgData name="LI, Hui" userId="2acf357a-d887-4e08-95d2-f44b1823070d" providerId="ADAL" clId="{989EFB25-9452-1B4F-9E13-4226902DF808}" dt="2025-04-10T08:22:27.957" v="9" actId="20577"/>
          <ac:spMkLst>
            <pc:docMk/>
            <pc:sldMk cId="1346080441" sldId="256"/>
            <ac:spMk id="3" creationId="{00000000-0000-0000-0000-000000000000}"/>
          </ac:spMkLst>
        </pc:spChg>
      </pc:sldChg>
      <pc:sldChg chg="ord">
        <pc:chgData name="LI, Hui" userId="2acf357a-d887-4e08-95d2-f44b1823070d" providerId="ADAL" clId="{989EFB25-9452-1B4F-9E13-4226902DF808}" dt="2025-04-10T09:09:27.903" v="68" actId="20578"/>
        <pc:sldMkLst>
          <pc:docMk/>
          <pc:sldMk cId="2062896720" sldId="291"/>
        </pc:sldMkLst>
      </pc:sldChg>
      <pc:sldChg chg="addSp modSp mod">
        <pc:chgData name="LI, Hui" userId="2acf357a-d887-4e08-95d2-f44b1823070d" providerId="ADAL" clId="{989EFB25-9452-1B4F-9E13-4226902DF808}" dt="2025-04-10T08:37:52.258" v="67" actId="20577"/>
        <pc:sldMkLst>
          <pc:docMk/>
          <pc:sldMk cId="1290713463" sldId="302"/>
        </pc:sldMkLst>
        <pc:spChg chg="mod">
          <ac:chgData name="LI, Hui" userId="2acf357a-d887-4e08-95d2-f44b1823070d" providerId="ADAL" clId="{989EFB25-9452-1B4F-9E13-4226902DF808}" dt="2025-04-10T08:37:52.258" v="67" actId="20577"/>
          <ac:spMkLst>
            <pc:docMk/>
            <pc:sldMk cId="1290713463" sldId="302"/>
            <ac:spMk id="5" creationId="{00000000-0000-0000-0000-000000000000}"/>
          </ac:spMkLst>
        </pc:spChg>
        <pc:spChg chg="add mod">
          <ac:chgData name="LI, Hui" userId="2acf357a-d887-4e08-95d2-f44b1823070d" providerId="ADAL" clId="{989EFB25-9452-1B4F-9E13-4226902DF808}" dt="2025-04-10T08:37:42" v="62" actId="20577"/>
          <ac:spMkLst>
            <pc:docMk/>
            <pc:sldMk cId="1290713463" sldId="302"/>
            <ac:spMk id="6" creationId="{AD399F6B-4F08-1085-07DF-463159078486}"/>
          </ac:spMkLst>
        </pc:spChg>
      </pc:sldChg>
      <pc:sldChg chg="modSp mod">
        <pc:chgData name="LI, Hui" userId="2acf357a-d887-4e08-95d2-f44b1823070d" providerId="ADAL" clId="{989EFB25-9452-1B4F-9E13-4226902DF808}" dt="2025-04-10T09:44:27.213" v="77" actId="20577"/>
        <pc:sldMkLst>
          <pc:docMk/>
          <pc:sldMk cId="30280549" sldId="304"/>
        </pc:sldMkLst>
        <pc:spChg chg="mod">
          <ac:chgData name="LI, Hui" userId="2acf357a-d887-4e08-95d2-f44b1823070d" providerId="ADAL" clId="{989EFB25-9452-1B4F-9E13-4226902DF808}" dt="2025-04-10T09:44:27.213" v="77" actId="20577"/>
          <ac:spMkLst>
            <pc:docMk/>
            <pc:sldMk cId="30280549" sldId="30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3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9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BCA1-A0D4-41CD-B0D5-23BC0F24045B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FA19-8EE0-4252-8FB8-EF1D2A9C0F54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8F3B-E29D-4290-A339-760C5F2B209A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C539-BC91-4BD8-BF6E-10E44EB808E0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C9DA-29B7-4A2B-9D10-77F9A71FABEC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5D1A-CE69-4CA1-87D3-E4C629A284BE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47D0-6CE2-40B1-B57E-1294D3C7E4A9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1351-6951-417C-9232-83E3D4177435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D6C2-6C07-4D57-802C-F0DC2C867572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5642-9B7B-4E1C-9E03-B97246551881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155-219A-41B2-83D7-A6F85B3FD5F7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D5801-37B2-41CC-8D13-C24B112D7DA8}" type="datetime1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ypan24@cse.cuhk.edu.h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9: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CD64284-B8E2-5817-D200-063AEFBB408B}"/>
              </a:ext>
            </a:extLst>
          </p:cNvPr>
          <p:cNvSpPr>
            <a:spLocks noGrp="1"/>
          </p:cNvSpPr>
          <p:nvPr/>
        </p:nvSpPr>
        <p:spPr>
          <a:xfrm>
            <a:off x="1371600" y="4221088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Pan Zhenyu</a:t>
            </a:r>
          </a:p>
          <a:p>
            <a:r>
              <a:rPr lang="en-US" altLang="zh-CN" dirty="0">
                <a:hlinkClick r:id="rId2"/>
              </a:rPr>
              <a:t>zypan24@cse.cuhk.edu.hk</a:t>
            </a:r>
            <a:endParaRPr lang="en-US" altLang="zh-CN" dirty="0"/>
          </a:p>
          <a:p>
            <a:r>
              <a:rPr lang="en-US" altLang="zh-CN" dirty="0"/>
              <a:t>Slide Ack: modified based on the slides from Li Hui</a:t>
            </a:r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Graph Traversal</a:t>
            </a:r>
          </a:p>
          <a:p>
            <a:pPr lvl="1"/>
            <a:r>
              <a:rPr lang="en-US" altLang="zh-CN" dirty="0"/>
              <a:t>DFS</a:t>
            </a:r>
          </a:p>
          <a:p>
            <a:pPr lvl="1"/>
            <a:r>
              <a:rPr lang="en-US" altLang="zh-CN" dirty="0"/>
              <a:t>BFS</a:t>
            </a:r>
          </a:p>
          <a:p>
            <a:r>
              <a:rPr lang="en-US" altLang="zh-CN" dirty="0"/>
              <a:t>Minimum Spanning Tree</a:t>
            </a:r>
          </a:p>
          <a:p>
            <a:pPr lvl="1"/>
            <a:r>
              <a:rPr lang="en-US" altLang="zh-CN" dirty="0"/>
              <a:t>Prim’s</a:t>
            </a:r>
          </a:p>
          <a:p>
            <a:pPr lvl="1"/>
            <a:r>
              <a:rPr lang="en-US" altLang="zh-CN" dirty="0"/>
              <a:t>Kruskal</a:t>
            </a:r>
          </a:p>
          <a:p>
            <a:r>
              <a:rPr lang="en-US" altLang="zh-CN" dirty="0"/>
              <a:t>Shortest Path</a:t>
            </a:r>
          </a:p>
          <a:p>
            <a:pPr lvl="1"/>
            <a:r>
              <a:rPr lang="en-US" dirty="0"/>
              <a:t>Dijkstra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DFS is an algorithm for traversing or searching tree or graph data structures.</a:t>
            </a:r>
          </a:p>
          <a:p>
            <a:r>
              <a:rPr lang="en-US" altLang="zh-CN" dirty="0"/>
              <a:t>1. Select a root node</a:t>
            </a:r>
          </a:p>
          <a:p>
            <a:r>
              <a:rPr lang="en-US" altLang="zh-CN" dirty="0"/>
              <a:t>2. Explores as far as possible along each branch before backtracking</a:t>
            </a:r>
          </a:p>
          <a:p>
            <a:r>
              <a:rPr lang="en-US" altLang="zh-CN" dirty="0"/>
              <a:t>Usually use a stack to keep track of node path</a:t>
            </a:r>
          </a:p>
          <a:p>
            <a:r>
              <a:rPr lang="en-US" altLang="zh-CN" dirty="0"/>
              <a:t>Use a bool array to tag visited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083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Start at node A</a:t>
            </a:r>
          </a:p>
          <a:p>
            <a:r>
              <a:rPr lang="en-US" altLang="zh-CN" dirty="0"/>
              <a:t>Current stack [A]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60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B</a:t>
            </a:r>
          </a:p>
          <a:p>
            <a:r>
              <a:rPr lang="en-US" altLang="zh-CN" dirty="0"/>
              <a:t>Current stack [A, B]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00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C</a:t>
            </a:r>
          </a:p>
          <a:p>
            <a:r>
              <a:rPr lang="en-US" altLang="zh-CN" dirty="0"/>
              <a:t>Current stack [A, B, C]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12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F</a:t>
            </a:r>
          </a:p>
          <a:p>
            <a:r>
              <a:rPr lang="en-US" altLang="zh-CN" dirty="0"/>
              <a:t>Current stack [A, B, C, F]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34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F</a:t>
            </a:r>
          </a:p>
          <a:p>
            <a:r>
              <a:rPr lang="en-US" altLang="zh-CN" dirty="0"/>
              <a:t>Current stack [A, B, C, 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]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F don’t have children! 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39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C</a:t>
            </a:r>
          </a:p>
          <a:p>
            <a:r>
              <a:rPr lang="en-US" altLang="zh-CN" dirty="0"/>
              <a:t>Current stack [A, B, C]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93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D</a:t>
            </a:r>
          </a:p>
          <a:p>
            <a:r>
              <a:rPr lang="en-US" altLang="zh-CN" dirty="0"/>
              <a:t>Current stack [A, B, C, D]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Find other children of 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82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E</a:t>
            </a:r>
          </a:p>
          <a:p>
            <a:r>
              <a:rPr lang="en-US" altLang="zh-CN" dirty="0"/>
              <a:t>Current stack [A, B, C, D, E]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51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E</a:t>
            </a:r>
          </a:p>
          <a:p>
            <a:r>
              <a:rPr lang="en-US" altLang="zh-CN" dirty="0"/>
              <a:t>Current stack [A, B, C, D, 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18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D</a:t>
            </a:r>
          </a:p>
          <a:p>
            <a:r>
              <a:rPr lang="en-US" altLang="zh-CN" dirty="0"/>
              <a:t>Current stack [A, B, C, 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E0D3B86-FAC6-4BC9-9340-CD0F25E0B395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81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C</a:t>
            </a:r>
          </a:p>
          <a:p>
            <a:r>
              <a:rPr lang="en-US" altLang="zh-CN" dirty="0"/>
              <a:t>Current stack [A, B,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A48CC8D-6C5E-469A-A75F-BF1899B792FB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020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B</a:t>
            </a:r>
          </a:p>
          <a:p>
            <a:r>
              <a:rPr lang="en-US" altLang="zh-CN" dirty="0"/>
              <a:t>Current stack [A,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BE55544-E160-489B-9808-14D85D113AAC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619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A</a:t>
            </a:r>
          </a:p>
          <a:p>
            <a:r>
              <a:rPr lang="en-US" altLang="zh-CN" dirty="0"/>
              <a:t>Current stack [A]</a:t>
            </a:r>
          </a:p>
          <a:p>
            <a:r>
              <a:rPr lang="en-US" altLang="zh-CN" dirty="0"/>
              <a:t>Backtracking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4CD6BC8-56D0-4F3D-8AD8-5D66126AC81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58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Stack is empty, DFS done!</a:t>
            </a:r>
            <a:endParaRPr lang="en-US" altLang="zh-CN" dirty="0"/>
          </a:p>
          <a:p>
            <a:r>
              <a:rPr lang="en-US" altLang="zh-CN" dirty="0"/>
              <a:t>Current stack []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51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following function</a:t>
            </a:r>
          </a:p>
          <a:p>
            <a:endParaRPr lang="en-US" dirty="0"/>
          </a:p>
          <a:p>
            <a:r>
              <a:rPr lang="en-US" dirty="0"/>
              <a:t>The definition of </a:t>
            </a:r>
            <a:r>
              <a:rPr lang="en-US" dirty="0" err="1"/>
              <a:t>nodeCDT</a:t>
            </a:r>
            <a:r>
              <a:rPr lang="en-US" dirty="0"/>
              <a:t> is as follows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63688" y="2276872"/>
            <a:ext cx="4980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DepthFirstSearch(nodes: </a:t>
            </a:r>
            <a:r>
              <a:rPr lang="de-DE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736709" y="3573016"/>
            <a:ext cx="35702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struct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nodeCDT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id: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neighbors: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# neighbors’ Node ID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77103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31640" y="4196904"/>
            <a:ext cx="7355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altLang="zh-CN" dirty="0">
              <a:solidFill>
                <a:srgbClr val="2B91AF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DepthFirstSearch(nodes: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0 to 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nodes.size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– 1):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visited[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false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i = i + 1</a:t>
            </a:r>
            <a:endParaRPr lang="de-DE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visit(0)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399F6B-4F08-1085-07DF-463159078486}"/>
              </a:ext>
            </a:extLst>
          </p:cNvPr>
          <p:cNvSpPr txBox="1"/>
          <p:nvPr/>
        </p:nvSpPr>
        <p:spPr>
          <a:xfrm>
            <a:off x="899592" y="1618353"/>
            <a:ext cx="69127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visited: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# list of Boolean</a:t>
            </a:r>
          </a:p>
          <a:p>
            <a:pPr lvl="1"/>
            <a:endParaRPr lang="de-DE" altLang="zh-CN" i="1" dirty="0">
              <a:solidFill>
                <a:srgbClr val="2B91AF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Func 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visit(curr: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visited[curr] =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true</a:t>
            </a:r>
            <a:endParaRPr lang="de-DE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	n: </a:t>
            </a:r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nodeADT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nodes[curr];</a:t>
            </a: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e-DE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# do something</a:t>
            </a: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neighbor_id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n.neighbors)</a:t>
            </a: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(!visited[neighbor_id]):</a:t>
            </a:r>
          </a:p>
          <a:p>
            <a:pPr lvl="1"/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   visit(neighbor_id)</a:t>
            </a:r>
          </a:p>
        </p:txBody>
      </p:sp>
    </p:spTree>
    <p:extLst>
      <p:ext uri="{BB962C8B-B14F-4D97-AF65-F5344CB8AC3E}">
        <p14:creationId xmlns:p14="http://schemas.microsoft.com/office/powerpoint/2010/main" val="1290713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BFS is an algorithm for traversing or searching tree or graph data structures.</a:t>
            </a:r>
          </a:p>
          <a:p>
            <a:r>
              <a:rPr lang="en-US" altLang="zh-CN" dirty="0"/>
              <a:t>1. Select a root node</a:t>
            </a:r>
          </a:p>
          <a:p>
            <a:r>
              <a:rPr lang="en-US" altLang="zh-CN" dirty="0"/>
              <a:t>2. Explores all nodes at the present depth prior to moving on at the next depth level</a:t>
            </a:r>
          </a:p>
          <a:p>
            <a:r>
              <a:rPr lang="en-US" altLang="zh-CN" dirty="0"/>
              <a:t>Usually use a queue to keep track of children</a:t>
            </a:r>
          </a:p>
          <a:p>
            <a:r>
              <a:rPr lang="en-US" altLang="zh-CN" dirty="0"/>
              <a:t>Use a bool array to tag visited</a:t>
            </a:r>
          </a:p>
          <a:p>
            <a:endParaRPr lang="en-US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459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Start at node A</a:t>
            </a:r>
          </a:p>
          <a:p>
            <a:r>
              <a:rPr lang="en-US" altLang="zh-CN" dirty="0"/>
              <a:t>Current queue [A]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785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A</a:t>
            </a:r>
          </a:p>
          <a:p>
            <a:r>
              <a:rPr lang="en-US" altLang="zh-CN" dirty="0"/>
              <a:t>Current queue [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, B, D]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767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B</a:t>
            </a:r>
          </a:p>
          <a:p>
            <a:r>
              <a:rPr lang="en-US" altLang="zh-CN" dirty="0"/>
              <a:t>Current queue [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, D, C]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472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D</a:t>
            </a:r>
          </a:p>
          <a:p>
            <a:r>
              <a:rPr lang="en-US" altLang="zh-CN" dirty="0"/>
              <a:t>Current queue [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, C, E]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04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C</a:t>
            </a:r>
          </a:p>
          <a:p>
            <a:r>
              <a:rPr lang="en-US" altLang="zh-CN" dirty="0"/>
              <a:t>Current queue [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, E, F]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84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</a:p>
          <a:p>
            <a:r>
              <a:rPr lang="en-US" altLang="zh-CN" dirty="0"/>
              <a:t>Current queue [E, F]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280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Current node </a:t>
            </a:r>
            <a:r>
              <a:rPr lang="en-US" altLang="zh-CN" dirty="0">
                <a:solidFill>
                  <a:srgbClr val="FF0000"/>
                </a:solidFill>
              </a:rPr>
              <a:t>F</a:t>
            </a:r>
          </a:p>
          <a:p>
            <a:r>
              <a:rPr lang="en-US" altLang="zh-CN" dirty="0"/>
              <a:t>Current queue [F]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226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Breadth</a:t>
            </a:r>
            <a:r>
              <a:rPr lang="en-US" dirty="0"/>
              <a:t> 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Queue is empty, BFS done!</a:t>
            </a:r>
          </a:p>
          <a:p>
            <a:r>
              <a:rPr lang="en-US" altLang="zh-CN" dirty="0"/>
              <a:t>Current queue []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6586AA-DA9D-47F5-A2E7-44709BB949F5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7DEAE1-F027-4AD5-A356-BECC2B6F528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D09A80-8412-45FF-95AE-6AF860124DD7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7C673C-12FE-4F30-9E6D-DC7314EDD3B2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7D9ED7-A39E-4147-A9E1-773BEDC127C2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9481D-D2A7-47D4-80D6-28951EFC1BFB}"/>
              </a:ext>
            </a:extLst>
          </p:cNvPr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1DB004-29D7-4FB4-B7A2-4B7AE5096546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3D395-029C-4750-9654-319782EB967E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548FF1-30E6-4176-B0B1-EF480CC8776F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E840B6-35DD-4C3A-898B-23D397936DDB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3DC90-244B-4D7A-A793-142151D4A693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FA5AD1-0B14-4C54-A811-FD3CF3A2343D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F62B38-B9D5-4311-92A3-2B4E392A8F3D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DC69D-069A-4EC3-8B62-7BE6251746AC}"/>
              </a:ext>
            </a:extLst>
          </p:cNvPr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009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63C704-15E3-70E7-AC1D-93D3C8306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Implement the following function</a:t>
            </a:r>
          </a:p>
          <a:p>
            <a:endParaRPr lang="en-US" dirty="0"/>
          </a:p>
          <a:p>
            <a:r>
              <a:rPr lang="en-US" dirty="0"/>
              <a:t>The definition of </a:t>
            </a:r>
            <a:r>
              <a:rPr lang="en-US" dirty="0" err="1"/>
              <a:t>nodeCDT</a:t>
            </a:r>
            <a:r>
              <a:rPr lang="en-US" dirty="0"/>
              <a:t> is as follows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EE38E32-FF61-00AA-48B6-F2F1ECC16FEF}"/>
              </a:ext>
            </a:extLst>
          </p:cNvPr>
          <p:cNvSpPr txBox="1"/>
          <p:nvPr/>
        </p:nvSpPr>
        <p:spPr>
          <a:xfrm>
            <a:off x="1763688" y="2276872"/>
            <a:ext cx="5262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de-DE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BreadthFirstSearch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(nodes: </a:t>
            </a:r>
            <a:r>
              <a:rPr lang="de-DE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sz="2000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A0624B27-5A5F-9155-58BC-49F8048D2FB6}"/>
              </a:ext>
            </a:extLst>
          </p:cNvPr>
          <p:cNvSpPr txBox="1"/>
          <p:nvPr/>
        </p:nvSpPr>
        <p:spPr>
          <a:xfrm>
            <a:off x="2736709" y="3573016"/>
            <a:ext cx="35702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struct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nodeCDT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id: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neighbors: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# neighbors’ Node ID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3715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31640" y="1619083"/>
            <a:ext cx="64807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Func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BreadthFirstSearch(nodes: </a:t>
            </a:r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list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r>
              <a:rPr lang="en-US" altLang="zh-CN" dirty="0">
                <a:highlight>
                  <a:srgbClr val="FFFFFF"/>
                </a:highlight>
              </a:rPr>
              <a:t>:</a:t>
            </a:r>
            <a:endParaRPr lang="de-DE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visited: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list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# list of Boolean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0 to (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nodes.size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– 1):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visited[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 =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false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+ 1</a:t>
            </a:r>
          </a:p>
          <a:p>
            <a:pPr lvl="1"/>
            <a:endParaRPr lang="de-DE" altLang="zh-CN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Queue&lt;nodeADT&gt; q</a:t>
            </a:r>
          </a:p>
          <a:p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q.enqueue(nodes[0])</a:t>
            </a:r>
          </a:p>
          <a:p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de-DE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while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(!q.isEmpty()):</a:t>
            </a:r>
          </a:p>
          <a:p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	 n: </a:t>
            </a:r>
            <a:r>
              <a:rPr lang="de-DE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nodeADT</a:t>
            </a:r>
            <a:r>
              <a:rPr lang="de-DE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q.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pop()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Consolas"/>
              </a:rPr>
              <a:t>// do something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for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neighbor_id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in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n.neighbors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(!visited[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neighbor_id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]):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        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q.enqueue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(nodes[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neighbor_id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])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	</a:t>
            </a:r>
            <a:r>
              <a:rPr lang="zh-CN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visited[n.id] =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true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280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Prim’s algorithm is a greedy algorithm that’s finds a MST for a weighted undirected graph.</a:t>
            </a:r>
          </a:p>
          <a:p>
            <a:r>
              <a:rPr lang="en-US" altLang="zh-CN" dirty="0"/>
              <a:t>Building this tree one vertex at a time</a:t>
            </a:r>
          </a:p>
          <a:p>
            <a:r>
              <a:rPr lang="en-US" altLang="zh-CN" dirty="0"/>
              <a:t>1. Start from an arbitrary vertex</a:t>
            </a:r>
          </a:p>
          <a:p>
            <a:r>
              <a:rPr lang="en-US" altLang="zh-CN" dirty="0"/>
              <a:t>2. Adding the cheapest possible connection from the tree to another vertex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716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0FF6-98BC-7869-F3A3-140CF860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C3BF5-8D98-3850-E954-167CD9FB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066DED6-FB2F-28F1-D465-D98BF5EF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7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33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Consider the following graph</a:t>
            </a:r>
          </a:p>
          <a:p>
            <a:r>
              <a:rPr lang="en-US" dirty="0"/>
              <a:t>Start at node A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A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7</a:t>
            </a:r>
            <a:endParaRPr lang="zh-CN" altLang="en-US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5</a:t>
            </a:r>
            <a:endParaRPr lang="zh-CN" alt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8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8310012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Start at node A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[(A-B, 1), (A-D, 5)]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1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188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Append B to MST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[(B-D, 2), (B-C, 3), (A-D, 5)]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363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Append D to MST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[(B-C, 3), (A-D, 5), (D-E, 6), (D-C, 7)]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64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Append C to MST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[(A-D, 5), (D-E, 6), (D-C, 7), (C-E, 8)]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5671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Append E to MST (ignore edge (A-D, 5))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[(A-D, 5), (D-E, 6), (D-C, 7), (C-E, 8)]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6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062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Ignore the rest edges. Find MST Done!</a:t>
            </a:r>
          </a:p>
          <a:p>
            <a:r>
              <a:rPr lang="en-US" dirty="0"/>
              <a:t>Edge priority queue</a:t>
            </a:r>
          </a:p>
          <a:p>
            <a:pPr marL="457200" lvl="1" indent="0">
              <a:buNone/>
            </a:pPr>
            <a:r>
              <a:rPr lang="en-US" dirty="0"/>
              <a:t>[]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6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9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Find an MST of an undirected weighted graph.</a:t>
            </a:r>
          </a:p>
          <a:p>
            <a:r>
              <a:rPr lang="en-US" altLang="zh-CN" dirty="0"/>
              <a:t>A greedy algorithm</a:t>
            </a:r>
          </a:p>
          <a:p>
            <a:r>
              <a:rPr lang="en-US" altLang="zh-CN" dirty="0"/>
              <a:t>1. Sort the edges.</a:t>
            </a:r>
          </a:p>
          <a:p>
            <a:r>
              <a:rPr lang="en-US" altLang="zh-CN" dirty="0"/>
              <a:t>2. In each step it adds the next lowest-weight edge that will not form a cycle to the minimum spanning forest.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6945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Sort the edges.</a:t>
            </a:r>
          </a:p>
          <a:p>
            <a:r>
              <a:rPr lang="en-US" dirty="0"/>
              <a:t>[(A-B), (B-D), (B-C), (A-D), (D-E), (C-D), (C-E)]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1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2289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Add edge (A-B)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(A-B)</a:t>
            </a:r>
            <a:r>
              <a:rPr lang="en-US" dirty="0"/>
              <a:t>, (B-D), (B-C), (A-D), (D-E), (C-D), (C-E)]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890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Add edge (B-D)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(A-B)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(B-D)</a:t>
            </a:r>
            <a:r>
              <a:rPr lang="en-US" dirty="0"/>
              <a:t>, (B-C), (A-D), (D-E), (C-D), (C-E)]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3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638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Add edge (B-C)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(A-B)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(B-D)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(B-C)</a:t>
            </a:r>
            <a:r>
              <a:rPr lang="en-US" dirty="0"/>
              <a:t>, (A-D), (D-E), (C-D), (C-E)]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6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102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Add edge (D-E)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(A-B)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(B-D)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(B-C)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(A-D)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(D-E)</a:t>
            </a:r>
            <a:r>
              <a:rPr lang="en-US" dirty="0"/>
              <a:t>, (C-D), (C-E)]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6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5948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Kruskal’s Algorithm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All Node find, MST Done!</a:t>
            </a:r>
          </a:p>
          <a:p>
            <a:r>
              <a:rPr lang="en-US" dirty="0"/>
              <a:t>[</a:t>
            </a:r>
            <a:r>
              <a:rPr lang="en-US" dirty="0">
                <a:solidFill>
                  <a:srgbClr val="FF0000"/>
                </a:solidFill>
              </a:rPr>
              <a:t>(A-B)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(B-D)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(B-C)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(A-D)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(D-E)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(C-D)</a:t>
            </a:r>
            <a:r>
              <a:rPr lang="en-US" dirty="0"/>
              <a:t>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(C-E)</a:t>
            </a:r>
            <a:r>
              <a:rPr lang="en-US" dirty="0"/>
              <a:t>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79364-9D7A-46B8-AE30-F3E6C8E151FC}"/>
              </a:ext>
            </a:extLst>
          </p:cNvPr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7E7D9-10A9-4F77-B0CD-C4650D89B94E}"/>
              </a:ext>
            </a:extLst>
          </p:cNvPr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ED6CFB-223A-4649-984C-0E6A7B32EBD6}"/>
              </a:ext>
            </a:extLst>
          </p:cNvPr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8E4308-B0E7-4C23-B480-237BF5861E31}"/>
              </a:ext>
            </a:extLst>
          </p:cNvPr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856BD2-A3C6-4CFA-924E-AFC4A15C0F19}"/>
              </a:ext>
            </a:extLst>
          </p:cNvPr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29E8D-3DE6-46F0-B76E-8739C1343F39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1D1E-CE19-4AE3-B100-5C1BDBACF3E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06B084-66B2-470A-930E-6E07B247BC9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1BF6F-1E49-48C3-AF38-7D4AD80308DC}"/>
              </a:ext>
            </a:extLst>
          </p:cNvPr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6EAE5-CC22-4909-865C-780768E68A2B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F7991A-BE8F-4C48-BC65-72D9BDC37319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BD554C-1070-4893-A907-F28C80EE9EA7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F5B8ED-AC4D-44BF-B5DF-57B418CC5FEF}"/>
              </a:ext>
            </a:extLst>
          </p:cNvPr>
          <p:cNvSpPr/>
          <p:nvPr/>
        </p:nvSpPr>
        <p:spPr>
          <a:xfrm>
            <a:off x="3316369" y="4180733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6D2FF5-9A62-49D2-B083-102BE534E999}"/>
              </a:ext>
            </a:extLst>
          </p:cNvPr>
          <p:cNvSpPr/>
          <p:nvPr/>
        </p:nvSpPr>
        <p:spPr>
          <a:xfrm>
            <a:off x="4450334" y="386318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3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23C48-2BDA-41B7-8346-96868B280CC3}"/>
              </a:ext>
            </a:extLst>
          </p:cNvPr>
          <p:cNvSpPr/>
          <p:nvPr/>
        </p:nvSpPr>
        <p:spPr>
          <a:xfrm>
            <a:off x="4382593" y="452299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7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C28D24-4EC9-46D2-9283-7EE12BEE21B6}"/>
              </a:ext>
            </a:extLst>
          </p:cNvPr>
          <p:cNvSpPr/>
          <p:nvPr/>
        </p:nvSpPr>
        <p:spPr>
          <a:xfrm>
            <a:off x="3419487" y="483315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5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81D5D-70CC-4FBD-A579-F5C19FDF708C}"/>
              </a:ext>
            </a:extLst>
          </p:cNvPr>
          <p:cNvSpPr/>
          <p:nvPr/>
        </p:nvSpPr>
        <p:spPr>
          <a:xfrm>
            <a:off x="3928783" y="4594549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55567-964C-4A46-8D05-AE7CEAE60883}"/>
              </a:ext>
            </a:extLst>
          </p:cNvPr>
          <p:cNvSpPr/>
          <p:nvPr/>
        </p:nvSpPr>
        <p:spPr>
          <a:xfrm>
            <a:off x="4417539" y="517206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</a:rPr>
              <a:t>6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84D1F-2CD5-40A3-B509-323458ED540F}"/>
              </a:ext>
            </a:extLst>
          </p:cNvPr>
          <p:cNvSpPr/>
          <p:nvPr/>
        </p:nvSpPr>
        <p:spPr>
          <a:xfrm>
            <a:off x="5226294" y="464849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8</a:t>
            </a:r>
            <a:endParaRPr lang="zh-CN" alt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415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Dijkstra (Shortest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Finding the shortest paths between nodes in a weighted graph.</a:t>
            </a:r>
          </a:p>
          <a:p>
            <a:r>
              <a:rPr lang="en-US" altLang="zh-TW" dirty="0"/>
              <a:t>While not all vertices are visited</a:t>
            </a:r>
          </a:p>
          <a:p>
            <a:pPr lvl="1"/>
            <a:r>
              <a:rPr lang="en-US" altLang="zh-TW" dirty="0"/>
              <a:t>Pick the unvisited vertex </a:t>
            </a:r>
            <a:r>
              <a:rPr lang="en-US" altLang="zh-TW" i="1" dirty="0">
                <a:solidFill>
                  <a:srgbClr val="0000FF"/>
                </a:solidFill>
              </a:rPr>
              <a:t>v</a:t>
            </a:r>
            <a:r>
              <a:rPr lang="en-US" altLang="zh-TW" dirty="0"/>
              <a:t> whose current best cost is minimum.</a:t>
            </a:r>
          </a:p>
          <a:p>
            <a:pPr lvl="1"/>
            <a:r>
              <a:rPr lang="en-US" altLang="zh-TW" dirty="0"/>
              <a:t>For any other vertex </a:t>
            </a:r>
            <a:r>
              <a:rPr lang="en-US" altLang="zh-TW" i="1" dirty="0">
                <a:solidFill>
                  <a:srgbClr val="0000FF"/>
                </a:solidFill>
              </a:rPr>
              <a:t>u</a:t>
            </a:r>
            <a:r>
              <a:rPr lang="en-US" altLang="zh-TW" dirty="0"/>
              <a:t> that can be reached cheaper via </a:t>
            </a:r>
            <a:r>
              <a:rPr lang="en-US" altLang="zh-TW" i="1" dirty="0">
                <a:solidFill>
                  <a:srgbClr val="0000FF"/>
                </a:solidFill>
              </a:rPr>
              <a:t>v</a:t>
            </a:r>
            <a:endParaRPr lang="en-US" altLang="zh-TW" dirty="0"/>
          </a:p>
          <a:p>
            <a:pPr lvl="2"/>
            <a:r>
              <a:rPr lang="en-US" altLang="zh-TW" dirty="0"/>
              <a:t>Update the current best cost and path of </a:t>
            </a:r>
            <a:r>
              <a:rPr lang="en-US" altLang="zh-TW" i="1" dirty="0">
                <a:solidFill>
                  <a:srgbClr val="0000FF"/>
                </a:solidFill>
              </a:rPr>
              <a:t>u</a:t>
            </a:r>
            <a:r>
              <a:rPr lang="en-US" altLang="zh-TW" dirty="0"/>
              <a:t>.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93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n*m matrix and each node has a weight. You are required to find a path starting from top-left point M[1][1] to the bottom-right point M[n][m] meanwhile minimize path weight. Some node cannot be visit.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C80AF4-8034-E161-9590-45B2F8E978F1}"/>
              </a:ext>
            </a:extLst>
          </p:cNvPr>
          <p:cNvGrpSpPr/>
          <p:nvPr/>
        </p:nvGrpSpPr>
        <p:grpSpPr>
          <a:xfrm>
            <a:off x="2699792" y="4653136"/>
            <a:ext cx="1728048" cy="1336746"/>
            <a:chOff x="2699792" y="4653136"/>
            <a:chExt cx="1728048" cy="133674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BC815F-DD35-AED2-53A4-EE4781AE4117}"/>
                </a:ext>
              </a:extLst>
            </p:cNvPr>
            <p:cNvSpPr/>
            <p:nvPr/>
          </p:nvSpPr>
          <p:spPr>
            <a:xfrm>
              <a:off x="2699792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6B7943-6873-99F2-EFB5-78783DE776AD}"/>
                </a:ext>
              </a:extLst>
            </p:cNvPr>
            <p:cNvSpPr/>
            <p:nvPr/>
          </p:nvSpPr>
          <p:spPr>
            <a:xfrm>
              <a:off x="3131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977FBF4-4632-A6C9-973D-ACDBE25AAE17}"/>
                </a:ext>
              </a:extLst>
            </p:cNvPr>
            <p:cNvSpPr/>
            <p:nvPr/>
          </p:nvSpPr>
          <p:spPr>
            <a:xfrm>
              <a:off x="3563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0B8AAF5-2BCC-7BD5-3D39-F857948AAC1A}"/>
                </a:ext>
              </a:extLst>
            </p:cNvPr>
            <p:cNvSpPr/>
            <p:nvPr/>
          </p:nvSpPr>
          <p:spPr>
            <a:xfrm>
              <a:off x="2699792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E4DC09-09BE-8234-29EE-D27B2ECB5CF8}"/>
                </a:ext>
              </a:extLst>
            </p:cNvPr>
            <p:cNvSpPr/>
            <p:nvPr/>
          </p:nvSpPr>
          <p:spPr>
            <a:xfrm>
              <a:off x="3131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BF74BAF-20E2-B261-5CE4-5617903EAB22}"/>
                </a:ext>
              </a:extLst>
            </p:cNvPr>
            <p:cNvSpPr/>
            <p:nvPr/>
          </p:nvSpPr>
          <p:spPr>
            <a:xfrm>
              <a:off x="3563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N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1DEFADF-6B18-42D9-4D9D-BF7A8EDAE07A}"/>
                </a:ext>
              </a:extLst>
            </p:cNvPr>
            <p:cNvSpPr/>
            <p:nvPr/>
          </p:nvSpPr>
          <p:spPr>
            <a:xfrm>
              <a:off x="2699792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9E8ACD-9329-0201-2736-D4D51C2E5FE0}"/>
                </a:ext>
              </a:extLst>
            </p:cNvPr>
            <p:cNvSpPr/>
            <p:nvPr/>
          </p:nvSpPr>
          <p:spPr>
            <a:xfrm>
              <a:off x="3131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9D7ED65-2410-513B-A675-60EF23742E38}"/>
                </a:ext>
              </a:extLst>
            </p:cNvPr>
            <p:cNvSpPr/>
            <p:nvPr/>
          </p:nvSpPr>
          <p:spPr>
            <a:xfrm>
              <a:off x="3563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4D941DD-CB24-313E-520E-6405C8762402}"/>
                </a:ext>
              </a:extLst>
            </p:cNvPr>
            <p:cNvSpPr/>
            <p:nvPr/>
          </p:nvSpPr>
          <p:spPr>
            <a:xfrm>
              <a:off x="3995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D9E438D-A199-037C-CF89-25112709C317}"/>
                </a:ext>
              </a:extLst>
            </p:cNvPr>
            <p:cNvSpPr/>
            <p:nvPr/>
          </p:nvSpPr>
          <p:spPr>
            <a:xfrm>
              <a:off x="3995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N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C4D19E0-08F4-40BD-63C0-2903AEF10B07}"/>
                </a:ext>
              </a:extLst>
            </p:cNvPr>
            <p:cNvSpPr/>
            <p:nvPr/>
          </p:nvSpPr>
          <p:spPr>
            <a:xfrm>
              <a:off x="3995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266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18" y="1613600"/>
            <a:ext cx="8430662" cy="4525963"/>
          </a:xfrm>
        </p:spPr>
        <p:txBody>
          <a:bodyPr/>
          <a:lstStyle/>
          <a:p>
            <a:r>
              <a:rPr lang="en-US" dirty="0"/>
              <a:t>We can construct a graph contains n*m nodes </a:t>
            </a:r>
          </a:p>
          <a:p>
            <a:r>
              <a:rPr lang="en-US" dirty="0"/>
              <a:t>Connect v[</a:t>
            </a:r>
            <a:r>
              <a:rPr lang="en-US" dirty="0" err="1"/>
              <a:t>i</a:t>
            </a:r>
            <a:r>
              <a:rPr lang="en-US" dirty="0"/>
              <a:t>][j] with v[</a:t>
            </a:r>
            <a:r>
              <a:rPr lang="en-US" dirty="0" err="1"/>
              <a:t>i</a:t>
            </a:r>
            <a:r>
              <a:rPr lang="en-US" dirty="0"/>
              <a:t>][j+1] and v[i+1][j]</a:t>
            </a:r>
          </a:p>
          <a:p>
            <a:r>
              <a:rPr lang="en-US" dirty="0"/>
              <a:t>Avoid the node in boundary and the node cannot be visited</a:t>
            </a:r>
          </a:p>
          <a:p>
            <a:r>
              <a:rPr lang="en-US" dirty="0"/>
              <a:t>Run Dijkstra from v[1][1], get the result v[n][m].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AC80AF4-8034-E161-9590-45B2F8E978F1}"/>
              </a:ext>
            </a:extLst>
          </p:cNvPr>
          <p:cNvGrpSpPr/>
          <p:nvPr/>
        </p:nvGrpSpPr>
        <p:grpSpPr>
          <a:xfrm>
            <a:off x="2699815" y="4812352"/>
            <a:ext cx="1728048" cy="1336746"/>
            <a:chOff x="2699792" y="4653136"/>
            <a:chExt cx="1728048" cy="133674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8BC815F-DD35-AED2-53A4-EE4781AE4117}"/>
                </a:ext>
              </a:extLst>
            </p:cNvPr>
            <p:cNvSpPr/>
            <p:nvPr/>
          </p:nvSpPr>
          <p:spPr>
            <a:xfrm>
              <a:off x="2699792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16B7943-6873-99F2-EFB5-78783DE776AD}"/>
                </a:ext>
              </a:extLst>
            </p:cNvPr>
            <p:cNvSpPr/>
            <p:nvPr/>
          </p:nvSpPr>
          <p:spPr>
            <a:xfrm>
              <a:off x="3131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977FBF4-4632-A6C9-973D-ACDBE25AAE17}"/>
                </a:ext>
              </a:extLst>
            </p:cNvPr>
            <p:cNvSpPr/>
            <p:nvPr/>
          </p:nvSpPr>
          <p:spPr>
            <a:xfrm>
              <a:off x="3563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5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0B8AAF5-2BCC-7BD5-3D39-F857948AAC1A}"/>
                </a:ext>
              </a:extLst>
            </p:cNvPr>
            <p:cNvSpPr/>
            <p:nvPr/>
          </p:nvSpPr>
          <p:spPr>
            <a:xfrm>
              <a:off x="2699792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4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E4DC09-09BE-8234-29EE-D27B2ECB5CF8}"/>
                </a:ext>
              </a:extLst>
            </p:cNvPr>
            <p:cNvSpPr/>
            <p:nvPr/>
          </p:nvSpPr>
          <p:spPr>
            <a:xfrm>
              <a:off x="3131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BF74BAF-20E2-B261-5CE4-5617903EAB22}"/>
                </a:ext>
              </a:extLst>
            </p:cNvPr>
            <p:cNvSpPr/>
            <p:nvPr/>
          </p:nvSpPr>
          <p:spPr>
            <a:xfrm>
              <a:off x="3563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N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1DEFADF-6B18-42D9-4D9D-BF7A8EDAE07A}"/>
                </a:ext>
              </a:extLst>
            </p:cNvPr>
            <p:cNvSpPr/>
            <p:nvPr/>
          </p:nvSpPr>
          <p:spPr>
            <a:xfrm>
              <a:off x="2699792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9E8ACD-9329-0201-2736-D4D51C2E5FE0}"/>
                </a:ext>
              </a:extLst>
            </p:cNvPr>
            <p:cNvSpPr/>
            <p:nvPr/>
          </p:nvSpPr>
          <p:spPr>
            <a:xfrm>
              <a:off x="3131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2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9D7ED65-2410-513B-A675-60EF23742E38}"/>
                </a:ext>
              </a:extLst>
            </p:cNvPr>
            <p:cNvSpPr/>
            <p:nvPr/>
          </p:nvSpPr>
          <p:spPr>
            <a:xfrm>
              <a:off x="3563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4D941DD-CB24-313E-520E-6405C8762402}"/>
                </a:ext>
              </a:extLst>
            </p:cNvPr>
            <p:cNvSpPr/>
            <p:nvPr/>
          </p:nvSpPr>
          <p:spPr>
            <a:xfrm>
              <a:off x="3995840" y="4653136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D9E438D-A199-037C-CF89-25112709C317}"/>
                </a:ext>
              </a:extLst>
            </p:cNvPr>
            <p:cNvSpPr/>
            <p:nvPr/>
          </p:nvSpPr>
          <p:spPr>
            <a:xfrm>
              <a:off x="3995840" y="5099347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N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C4D19E0-08F4-40BD-63C0-2903AEF10B07}"/>
                </a:ext>
              </a:extLst>
            </p:cNvPr>
            <p:cNvSpPr/>
            <p:nvPr/>
          </p:nvSpPr>
          <p:spPr>
            <a:xfrm>
              <a:off x="3995840" y="5557834"/>
              <a:ext cx="432000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1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F85E10-C80E-FE31-8126-158B0699E843}"/>
              </a:ext>
            </a:extLst>
          </p:cNvPr>
          <p:cNvSpPr/>
          <p:nvPr/>
        </p:nvSpPr>
        <p:spPr>
          <a:xfrm>
            <a:off x="2844046" y="4870665"/>
            <a:ext cx="1439587" cy="1119217"/>
          </a:xfrm>
          <a:custGeom>
            <a:avLst/>
            <a:gdLst>
              <a:gd name="connsiteX0" fmla="*/ 0 w 1439587"/>
              <a:gd name="connsiteY0" fmla="*/ 78427 h 1119217"/>
              <a:gd name="connsiteX1" fmla="*/ 655782 w 1439587"/>
              <a:gd name="connsiteY1" fmla="*/ 96900 h 1119217"/>
              <a:gd name="connsiteX2" fmla="*/ 498764 w 1439587"/>
              <a:gd name="connsiteY2" fmla="*/ 1039009 h 1119217"/>
              <a:gd name="connsiteX3" fmla="*/ 480291 w 1439587"/>
              <a:gd name="connsiteY3" fmla="*/ 1066718 h 1119217"/>
              <a:gd name="connsiteX4" fmla="*/ 1376218 w 1439587"/>
              <a:gd name="connsiteY4" fmla="*/ 1029772 h 1119217"/>
              <a:gd name="connsiteX5" fmla="*/ 1366982 w 1439587"/>
              <a:gd name="connsiteY5" fmla="*/ 1029772 h 1119217"/>
              <a:gd name="connsiteX6" fmla="*/ 1366982 w 1439587"/>
              <a:gd name="connsiteY6" fmla="*/ 1011300 h 1119217"/>
              <a:gd name="connsiteX7" fmla="*/ 1394691 w 1439587"/>
              <a:gd name="connsiteY7" fmla="*/ 1048245 h 111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9587" h="1119217">
                <a:moveTo>
                  <a:pt x="0" y="78427"/>
                </a:moveTo>
                <a:cubicBezTo>
                  <a:pt x="286327" y="7615"/>
                  <a:pt x="572655" y="-63197"/>
                  <a:pt x="655782" y="96900"/>
                </a:cubicBezTo>
                <a:cubicBezTo>
                  <a:pt x="738909" y="256997"/>
                  <a:pt x="528013" y="877373"/>
                  <a:pt x="498764" y="1039009"/>
                </a:cubicBezTo>
                <a:cubicBezTo>
                  <a:pt x="469515" y="1200645"/>
                  <a:pt x="334049" y="1068258"/>
                  <a:pt x="480291" y="1066718"/>
                </a:cubicBezTo>
                <a:cubicBezTo>
                  <a:pt x="626533" y="1065179"/>
                  <a:pt x="1228436" y="1035930"/>
                  <a:pt x="1376218" y="1029772"/>
                </a:cubicBezTo>
                <a:cubicBezTo>
                  <a:pt x="1524000" y="1023614"/>
                  <a:pt x="1366982" y="1029772"/>
                  <a:pt x="1366982" y="1029772"/>
                </a:cubicBezTo>
                <a:cubicBezTo>
                  <a:pt x="1365443" y="1026693"/>
                  <a:pt x="1362364" y="1008221"/>
                  <a:pt x="1366982" y="1011300"/>
                </a:cubicBezTo>
                <a:cubicBezTo>
                  <a:pt x="1371600" y="1014379"/>
                  <a:pt x="1383145" y="1031312"/>
                  <a:pt x="1394691" y="104824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72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272A4-562C-EBDE-6A8A-A7C3C29A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3462-2295-9EE2-C989-255314F9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ED2E0-4350-724C-35BB-4D0991FA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9640BB6-D2B9-180D-B1FE-D43515B5C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8" y="1340768"/>
            <a:ext cx="8028384" cy="473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932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Graph Traversal</a:t>
            </a:r>
          </a:p>
          <a:p>
            <a:pPr lvl="1"/>
            <a:r>
              <a:rPr lang="en-US" altLang="zh-CN" dirty="0"/>
              <a:t>DFS</a:t>
            </a:r>
          </a:p>
          <a:p>
            <a:pPr lvl="1"/>
            <a:r>
              <a:rPr lang="en-US" altLang="zh-CN" dirty="0"/>
              <a:t>BFS</a:t>
            </a:r>
          </a:p>
          <a:p>
            <a:r>
              <a:rPr lang="en-US" altLang="zh-CN" dirty="0"/>
              <a:t>Minimum Spanning Tree</a:t>
            </a:r>
          </a:p>
          <a:p>
            <a:pPr lvl="1"/>
            <a:r>
              <a:rPr lang="en-US" altLang="zh-CN" dirty="0"/>
              <a:t>Prim’s</a:t>
            </a:r>
          </a:p>
          <a:p>
            <a:pPr lvl="1"/>
            <a:r>
              <a:rPr lang="en-US" altLang="zh-CN" dirty="0"/>
              <a:t>Kruskal</a:t>
            </a:r>
          </a:p>
          <a:p>
            <a:r>
              <a:rPr lang="en-US" altLang="zh-CN" dirty="0"/>
              <a:t>Shortest Path</a:t>
            </a:r>
          </a:p>
          <a:p>
            <a:pPr lvl="1"/>
            <a:r>
              <a:rPr lang="en-US" dirty="0"/>
              <a:t>Dijkstra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223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3666</TotalTime>
  <Words>1924</Words>
  <Application>Microsoft Office PowerPoint</Application>
  <PresentationFormat>全屏显示(4:3)</PresentationFormat>
  <Paragraphs>592</Paragraphs>
  <Slides>51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5" baseType="lpstr">
      <vt:lpstr>Arial</vt:lpstr>
      <vt:lpstr>Calibri</vt:lpstr>
      <vt:lpstr>Consolas</vt:lpstr>
      <vt:lpstr>Office 主题</vt:lpstr>
      <vt:lpstr>CSCI2520 Tutorial 9: Graph</vt:lpstr>
      <vt:lpstr>Outline</vt:lpstr>
      <vt:lpstr>Depth First Search (DFS)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Depth First Search</vt:lpstr>
      <vt:lpstr>Exercise 1</vt:lpstr>
      <vt:lpstr>Exercise 1 Solution</vt:lpstr>
      <vt:lpstr>Breadth First Search (BFS)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Exercise 2</vt:lpstr>
      <vt:lpstr>Exercise 2 Solution</vt:lpstr>
      <vt:lpstr>Prim’s Algorithm (MST)</vt:lpstr>
      <vt:lpstr>PowerPoint 演示文稿</vt:lpstr>
      <vt:lpstr>Prim’s Algorithm (MST)</vt:lpstr>
      <vt:lpstr>Prim’s Algorithm (MST)</vt:lpstr>
      <vt:lpstr>Prim’s Algorithm (MST)</vt:lpstr>
      <vt:lpstr>Prim’s Algorithm (MST)</vt:lpstr>
      <vt:lpstr>Prim’s Algorithm (MST)</vt:lpstr>
      <vt:lpstr>Prim’s Algorithm (MST)</vt:lpstr>
      <vt:lpstr>Prim’s Algorithm (MST)</vt:lpstr>
      <vt:lpstr>Kruskal’s Algorithm (MST)</vt:lpstr>
      <vt:lpstr>Kruskal’s Algorithm (MST)</vt:lpstr>
      <vt:lpstr>Kruskal’s Algorithm (MST)</vt:lpstr>
      <vt:lpstr>Kruskal’s Algorithm (MST)</vt:lpstr>
      <vt:lpstr>Kruskal’s Algorithm (MST)</vt:lpstr>
      <vt:lpstr>Kruskal’s Algorithm (MST)</vt:lpstr>
      <vt:lpstr>Kruskal’s Algorithm (MST)</vt:lpstr>
      <vt:lpstr>Dijkstra (Shortest Path)</vt:lpstr>
      <vt:lpstr>Exercise 3</vt:lpstr>
      <vt:lpstr>Exercise 3 Solution</vt:lpstr>
      <vt:lpstr>Exercise 4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193</cp:revision>
  <dcterms:created xsi:type="dcterms:W3CDTF">2016-01-18T13:38:47Z</dcterms:created>
  <dcterms:modified xsi:type="dcterms:W3CDTF">2026-03-31T06:11:05Z</dcterms:modified>
</cp:coreProperties>
</file>